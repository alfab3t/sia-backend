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96" r:id="rId2"/>
    <p:sldId id="333" r:id="rId3"/>
    <p:sldId id="416" r:id="rId4"/>
    <p:sldId id="417" r:id="rId5"/>
    <p:sldId id="401" r:id="rId6"/>
    <p:sldId id="418" r:id="rId7"/>
    <p:sldId id="419" r:id="rId8"/>
    <p:sldId id="420" r:id="rId9"/>
    <p:sldId id="415" r:id="rId10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FC0"/>
    <a:srgbClr val="00AF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90" y="75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482725" y="271145"/>
            <a:ext cx="5580380" cy="518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006FC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95"/>
              </a:spcBef>
            </a:pP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006FC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95"/>
              </a:spcBef>
            </a:pP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006FC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95"/>
              </a:spcBef>
            </a:pPr>
            <a:endParaRPr spc="-2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006FC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95"/>
              </a:spcBef>
            </a:pPr>
            <a:endParaRPr spc="-2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95"/>
              </a:spcBef>
            </a:pPr>
            <a:endParaRPr spc="-2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261620"/>
          </a:xfrm>
          <a:custGeom>
            <a:avLst/>
            <a:gdLst/>
            <a:ahLst/>
            <a:cxnLst/>
            <a:rect l="l" t="t" r="r" b="b"/>
            <a:pathLst>
              <a:path w="9144000" h="261620">
                <a:moveTo>
                  <a:pt x="9144000" y="0"/>
                </a:moveTo>
                <a:lnTo>
                  <a:pt x="0" y="0"/>
                </a:lnTo>
                <a:lnTo>
                  <a:pt x="0" y="261620"/>
                </a:lnTo>
                <a:lnTo>
                  <a:pt x="9144000" y="261620"/>
                </a:lnTo>
                <a:lnTo>
                  <a:pt x="9144000" y="0"/>
                </a:lnTo>
                <a:close/>
              </a:path>
            </a:pathLst>
          </a:custGeom>
          <a:solidFill>
            <a:srgbClr val="548E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405889" y="262890"/>
            <a:ext cx="0" cy="504190"/>
          </a:xfrm>
          <a:custGeom>
            <a:avLst/>
            <a:gdLst/>
            <a:ahLst/>
            <a:cxnLst/>
            <a:rect l="l" t="t" r="r" b="b"/>
            <a:pathLst>
              <a:path h="504190">
                <a:moveTo>
                  <a:pt x="0" y="0"/>
                </a:moveTo>
                <a:lnTo>
                  <a:pt x="0" y="504062"/>
                </a:lnTo>
              </a:path>
            </a:pathLst>
          </a:custGeom>
          <a:ln w="38100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80339" y="403859"/>
            <a:ext cx="251460" cy="2159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38480" y="403859"/>
            <a:ext cx="254000" cy="21590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99160" y="403859"/>
            <a:ext cx="254000" cy="215900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0" y="6454139"/>
            <a:ext cx="9144000" cy="403860"/>
          </a:xfrm>
          <a:custGeom>
            <a:avLst/>
            <a:gdLst/>
            <a:ahLst/>
            <a:cxnLst/>
            <a:rect l="l" t="t" r="r" b="b"/>
            <a:pathLst>
              <a:path w="9144000" h="403859">
                <a:moveTo>
                  <a:pt x="9144000" y="0"/>
                </a:moveTo>
                <a:lnTo>
                  <a:pt x="0" y="0"/>
                </a:lnTo>
                <a:lnTo>
                  <a:pt x="0" y="403860"/>
                </a:lnTo>
                <a:lnTo>
                  <a:pt x="9144000" y="40386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82725" y="271145"/>
            <a:ext cx="7401559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006FC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2079" y="1073403"/>
            <a:ext cx="8682355" cy="22212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059051" y="6518733"/>
            <a:ext cx="46024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95"/>
              </a:spcBef>
            </a:pP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jp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9039F-B285-BE2B-5FE4-DAE56C559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16A76400-2C98-BD78-1263-7E4A567EB9D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43800" y="5138420"/>
            <a:ext cx="251459" cy="215900"/>
          </a:xfrm>
          <a:prstGeom prst="rect">
            <a:avLst/>
          </a:prstGeom>
        </p:spPr>
      </p:pic>
      <p:pic>
        <p:nvPicPr>
          <p:cNvPr id="3" name="object 3">
            <a:extLst>
              <a:ext uri="{FF2B5EF4-FFF2-40B4-BE49-F238E27FC236}">
                <a16:creationId xmlns:a16="http://schemas.microsoft.com/office/drawing/2014/main" id="{7F572564-176A-3B1D-37A8-871F4D586DD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04480" y="5138420"/>
            <a:ext cx="251460" cy="215900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A28F0A77-1443-8BDE-90B4-223ECE15BFC0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62619" y="5138420"/>
            <a:ext cx="254000" cy="2159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DC44496-F62F-BBB2-7DC7-8962123388D2}"/>
              </a:ext>
            </a:extLst>
          </p:cNvPr>
          <p:cNvSpPr txBox="1"/>
          <p:nvPr/>
        </p:nvSpPr>
        <p:spPr>
          <a:xfrm>
            <a:off x="3369289" y="5638800"/>
            <a:ext cx="5527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Montserrat" pitchFamily="2" charset="0"/>
              </a:rPr>
              <a:t>Organized By : Pengajar </a:t>
            </a:r>
            <a:r>
              <a:rPr lang="en-US" b="1" dirty="0" err="1">
                <a:latin typeface="Montserrat" pitchFamily="2" charset="0"/>
              </a:rPr>
              <a:t>Jaringan</a:t>
            </a:r>
            <a:r>
              <a:rPr lang="en-US" b="1" dirty="0">
                <a:latin typeface="Montserrat" pitchFamily="2" charset="0"/>
              </a:rPr>
              <a:t> </a:t>
            </a:r>
            <a:r>
              <a:rPr lang="en-US" b="1" dirty="0" err="1">
                <a:latin typeface="Montserrat" pitchFamily="2" charset="0"/>
              </a:rPr>
              <a:t>Komputer</a:t>
            </a:r>
            <a:endParaRPr lang="en-ID" b="1" dirty="0">
              <a:latin typeface="Montserrat" pitchFamily="2" charset="0"/>
            </a:endParaRP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EAF48799-DA6D-FA77-5D65-2730C40157EF}"/>
              </a:ext>
            </a:extLst>
          </p:cNvPr>
          <p:cNvSpPr txBox="1"/>
          <p:nvPr/>
        </p:nvSpPr>
        <p:spPr>
          <a:xfrm>
            <a:off x="381000" y="1989330"/>
            <a:ext cx="8292946" cy="1496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4000" b="1" dirty="0">
                <a:solidFill>
                  <a:srgbClr val="006FC0"/>
                </a:solidFill>
                <a:latin typeface="Montserrat" panose="00000500000000000000" pitchFamily="2" charset="0"/>
                <a:ea typeface="Montserrat Bold"/>
                <a:cs typeface="Montserrat Bold"/>
                <a:sym typeface="Montserrat Bold"/>
              </a:rPr>
              <a:t>PRAKTIKUM MIKROTIK</a:t>
            </a:r>
          </a:p>
          <a:p>
            <a:pPr algn="r">
              <a:lnSpc>
                <a:spcPct val="150000"/>
              </a:lnSpc>
            </a:pPr>
            <a:r>
              <a:rPr lang="en-US" sz="2800" b="1" dirty="0">
                <a:solidFill>
                  <a:schemeClr val="tx1"/>
                </a:solidFill>
                <a:latin typeface="Montserrat" panose="00000500000000000000" pitchFamily="2" charset="0"/>
                <a:ea typeface="Montserrat Bold"/>
                <a:cs typeface="Courier New" panose="02070309020205020404" pitchFamily="49" charset="0"/>
                <a:sym typeface="Montserrat Bold"/>
              </a:rPr>
              <a:t>FIREWALL</a:t>
            </a:r>
            <a:endParaRPr lang="en-US" sz="4800" b="1" dirty="0">
              <a:solidFill>
                <a:schemeClr val="tx1"/>
              </a:solidFill>
              <a:latin typeface="Montserrat" panose="00000500000000000000" pitchFamily="2" charset="0"/>
              <a:ea typeface="Montserrat Bold"/>
              <a:cs typeface="Courier New" panose="02070309020205020404" pitchFamily="49" charset="0"/>
              <a:sym typeface="Montserrat Bold"/>
            </a:endParaRPr>
          </a:p>
        </p:txBody>
      </p:sp>
    </p:spTree>
    <p:extLst>
      <p:ext uri="{BB962C8B-B14F-4D97-AF65-F5344CB8AC3E}">
        <p14:creationId xmlns:p14="http://schemas.microsoft.com/office/powerpoint/2010/main" val="2781545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54861" y="273684"/>
            <a:ext cx="403161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b="1" dirty="0">
                <a:latin typeface="Montserrat" pitchFamily="2" charset="0"/>
              </a:rPr>
              <a:t>Firewall</a:t>
            </a:r>
            <a:endParaRPr b="1" dirty="0">
              <a:latin typeface="Montserrat" pitchFamily="2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6981D6C-5CD4-2798-F667-DF28099AD566}"/>
              </a:ext>
            </a:extLst>
          </p:cNvPr>
          <p:cNvSpPr/>
          <p:nvPr/>
        </p:nvSpPr>
        <p:spPr>
          <a:xfrm>
            <a:off x="228600" y="759310"/>
            <a:ext cx="8686800" cy="53494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250000"/>
              </a:lnSpc>
              <a:buFont typeface="Wingdings" pitchFamily="2" charset="2"/>
              <a:buChar char="v"/>
            </a:pPr>
            <a:r>
              <a:rPr lang="en-US" sz="2000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Pada Router terdapat </a:t>
            </a:r>
            <a:r>
              <a:rPr lang="en-US" sz="2000" dirty="0" err="1">
                <a:latin typeface="Montserrat" pitchFamily="2" charset="0"/>
                <a:ea typeface="Open Sans" pitchFamily="34" charset="0"/>
                <a:cs typeface="Open Sans" pitchFamily="34" charset="0"/>
              </a:rPr>
              <a:t>sebuah</a:t>
            </a:r>
            <a:r>
              <a:rPr lang="en-US" sz="2000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 </a:t>
            </a:r>
            <a:r>
              <a:rPr lang="en-US" sz="2000" dirty="0" err="1">
                <a:latin typeface="Montserrat" pitchFamily="2" charset="0"/>
                <a:ea typeface="Open Sans" pitchFamily="34" charset="0"/>
                <a:cs typeface="Open Sans" pitchFamily="34" charset="0"/>
              </a:rPr>
              <a:t>fitur</a:t>
            </a:r>
            <a:r>
              <a:rPr lang="en-US" sz="2000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 yang </a:t>
            </a:r>
            <a:r>
              <a:rPr lang="en-US" sz="2000" dirty="0" err="1">
                <a:latin typeface="Montserrat" pitchFamily="2" charset="0"/>
                <a:ea typeface="Open Sans" pitchFamily="34" charset="0"/>
                <a:cs typeface="Open Sans" pitchFamily="34" charset="0"/>
              </a:rPr>
              <a:t>disebut</a:t>
            </a:r>
            <a:r>
              <a:rPr lang="en-US" sz="2000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 dengan “Firewall”.</a:t>
            </a:r>
          </a:p>
          <a:p>
            <a:pPr marL="285750" indent="-285750" algn="just">
              <a:lnSpc>
                <a:spcPct val="250000"/>
              </a:lnSpc>
              <a:buFont typeface="Wingdings" pitchFamily="2" charset="2"/>
              <a:buChar char="v"/>
            </a:pPr>
            <a:r>
              <a:rPr lang="en-US" sz="2000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Fitur ini </a:t>
            </a:r>
            <a:r>
              <a:rPr lang="en-US" sz="2000" dirty="0" err="1">
                <a:latin typeface="Montserrat" pitchFamily="2" charset="0"/>
                <a:ea typeface="Open Sans" pitchFamily="34" charset="0"/>
                <a:cs typeface="Open Sans" pitchFamily="34" charset="0"/>
              </a:rPr>
              <a:t>biasanya</a:t>
            </a:r>
            <a:r>
              <a:rPr lang="en-US" sz="2000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 </a:t>
            </a:r>
            <a:r>
              <a:rPr lang="en-US" sz="2000" dirty="0" err="1">
                <a:latin typeface="Montserrat" pitchFamily="2" charset="0"/>
                <a:ea typeface="Open Sans" pitchFamily="34" charset="0"/>
                <a:cs typeface="Open Sans" pitchFamily="34" charset="0"/>
              </a:rPr>
              <a:t>banyak</a:t>
            </a:r>
            <a:r>
              <a:rPr lang="en-US" sz="2000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 </a:t>
            </a:r>
            <a:r>
              <a:rPr lang="en-US" sz="2000" dirty="0" err="1">
                <a:latin typeface="Montserrat" pitchFamily="2" charset="0"/>
                <a:ea typeface="Open Sans" pitchFamily="34" charset="0"/>
                <a:cs typeface="Open Sans" pitchFamily="34" charset="0"/>
              </a:rPr>
              <a:t>digunakan</a:t>
            </a:r>
            <a:r>
              <a:rPr lang="en-US" sz="2000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 untuk </a:t>
            </a:r>
            <a:r>
              <a:rPr lang="en-US" sz="2000" dirty="0" err="1">
                <a:latin typeface="Montserrat" pitchFamily="2" charset="0"/>
                <a:ea typeface="Open Sans" pitchFamily="34" charset="0"/>
                <a:cs typeface="Open Sans" pitchFamily="34" charset="0"/>
              </a:rPr>
              <a:t>melakukan</a:t>
            </a:r>
            <a:r>
              <a:rPr lang="en-US" sz="2000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 :</a:t>
            </a:r>
          </a:p>
          <a:p>
            <a:pPr marL="285750" lvl="4" indent="-285750" algn="just">
              <a:lnSpc>
                <a:spcPct val="250000"/>
              </a:lnSpc>
              <a:buFont typeface="Wingdings" pitchFamily="2" charset="2"/>
              <a:buChar char="v"/>
            </a:pPr>
            <a:r>
              <a:rPr lang="en-US" sz="2000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Filtering </a:t>
            </a:r>
            <a:r>
              <a:rPr lang="en-US" sz="2000" dirty="0" err="1">
                <a:latin typeface="Montserrat" pitchFamily="2" charset="0"/>
                <a:ea typeface="Open Sans" pitchFamily="34" charset="0"/>
                <a:cs typeface="Open Sans" pitchFamily="34" charset="0"/>
              </a:rPr>
              <a:t>akses</a:t>
            </a:r>
            <a:r>
              <a:rPr lang="en-US" sz="2000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 (Filter Rule),</a:t>
            </a:r>
          </a:p>
          <a:p>
            <a:pPr marL="285750" lvl="4" indent="-285750" algn="just">
              <a:lnSpc>
                <a:spcPct val="250000"/>
              </a:lnSpc>
              <a:buFont typeface="Wingdings" pitchFamily="2" charset="2"/>
              <a:buChar char="v"/>
            </a:pPr>
            <a:r>
              <a:rPr lang="en-US" sz="2000" dirty="0" err="1">
                <a:latin typeface="Montserrat" pitchFamily="2" charset="0"/>
                <a:ea typeface="Open Sans" pitchFamily="34" charset="0"/>
                <a:cs typeface="Open Sans" pitchFamily="34" charset="0"/>
              </a:rPr>
              <a:t>Menandai</a:t>
            </a:r>
            <a:r>
              <a:rPr lang="en-US" sz="2000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 </a:t>
            </a:r>
            <a:r>
              <a:rPr lang="en-US" sz="2000" dirty="0" err="1">
                <a:latin typeface="Montserrat" pitchFamily="2" charset="0"/>
                <a:ea typeface="Open Sans" pitchFamily="34" charset="0"/>
                <a:cs typeface="Open Sans" pitchFamily="34" charset="0"/>
              </a:rPr>
              <a:t>koneksi</a:t>
            </a:r>
            <a:r>
              <a:rPr lang="en-US" sz="2000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 </a:t>
            </a:r>
            <a:r>
              <a:rPr lang="en-US" sz="2000" dirty="0" err="1">
                <a:latin typeface="Montserrat" pitchFamily="2" charset="0"/>
                <a:ea typeface="Open Sans" pitchFamily="34" charset="0"/>
                <a:cs typeface="Open Sans" pitchFamily="34" charset="0"/>
              </a:rPr>
              <a:t>maupun</a:t>
            </a:r>
            <a:r>
              <a:rPr lang="en-US" sz="2000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 </a:t>
            </a:r>
            <a:r>
              <a:rPr lang="en-US" sz="2000" dirty="0" err="1">
                <a:latin typeface="Montserrat" pitchFamily="2" charset="0"/>
                <a:ea typeface="Open Sans" pitchFamily="34" charset="0"/>
                <a:cs typeface="Open Sans" pitchFamily="34" charset="0"/>
              </a:rPr>
              <a:t>paket</a:t>
            </a:r>
            <a:r>
              <a:rPr lang="en-US" sz="2000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 </a:t>
            </a:r>
            <a:r>
              <a:rPr lang="en-US" sz="2000" dirty="0" err="1">
                <a:latin typeface="Montserrat" pitchFamily="2" charset="0"/>
                <a:ea typeface="Open Sans" pitchFamily="34" charset="0"/>
                <a:cs typeface="Open Sans" pitchFamily="34" charset="0"/>
              </a:rPr>
              <a:t>dari</a:t>
            </a:r>
            <a:r>
              <a:rPr lang="en-US" sz="2000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 </a:t>
            </a:r>
            <a:r>
              <a:rPr lang="en-US" sz="2000" dirty="0" err="1">
                <a:latin typeface="Montserrat" pitchFamily="2" charset="0"/>
                <a:ea typeface="Open Sans" pitchFamily="34" charset="0"/>
                <a:cs typeface="Open Sans" pitchFamily="34" charset="0"/>
              </a:rPr>
              <a:t>trafik</a:t>
            </a:r>
            <a:r>
              <a:rPr lang="en-US" sz="2000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 data yang </a:t>
            </a:r>
            <a:r>
              <a:rPr lang="en-US" sz="2000" dirty="0" err="1">
                <a:latin typeface="Montserrat" pitchFamily="2" charset="0"/>
                <a:ea typeface="Open Sans" pitchFamily="34" charset="0"/>
                <a:cs typeface="Open Sans" pitchFamily="34" charset="0"/>
              </a:rPr>
              <a:t>melewati</a:t>
            </a:r>
            <a:r>
              <a:rPr lang="en-US" sz="2000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 router</a:t>
            </a:r>
          </a:p>
          <a:p>
            <a:pPr marL="285750" lvl="4" indent="-285750" algn="just">
              <a:lnSpc>
                <a:spcPct val="250000"/>
              </a:lnSpc>
              <a:buFont typeface="Wingdings" pitchFamily="2" charset="2"/>
              <a:buChar char="v"/>
            </a:pPr>
            <a:r>
              <a:rPr lang="en-US" sz="2000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(Mangle).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39BD4-292F-27F8-34D5-8024BCB1A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760C7F77-C350-8EFF-978D-4E65B8943E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54861" y="273684"/>
            <a:ext cx="6598539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b="1" dirty="0">
                <a:latin typeface="Montserrat" pitchFamily="2" charset="0"/>
              </a:rPr>
              <a:t>Firewall Filter Chain – </a:t>
            </a:r>
            <a:r>
              <a:rPr lang="en-US" b="1" dirty="0" err="1">
                <a:latin typeface="Montserrat" pitchFamily="2" charset="0"/>
              </a:rPr>
              <a:t>Aliran</a:t>
            </a:r>
            <a:r>
              <a:rPr lang="en-US" b="1" dirty="0">
                <a:latin typeface="Montserrat" pitchFamily="2" charset="0"/>
              </a:rPr>
              <a:t> Data</a:t>
            </a:r>
            <a:endParaRPr b="1" dirty="0">
              <a:latin typeface="Montserrat" pitchFamily="2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A3815DB-9C61-0D38-D3DD-8E7329878983}"/>
              </a:ext>
            </a:extLst>
          </p:cNvPr>
          <p:cNvSpPr/>
          <p:nvPr/>
        </p:nvSpPr>
        <p:spPr>
          <a:xfrm>
            <a:off x="76200" y="810238"/>
            <a:ext cx="8991600" cy="30410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250000"/>
              </a:lnSpc>
              <a:buFont typeface="Wingdings" pitchFamily="2" charset="2"/>
              <a:buChar char="v"/>
            </a:pPr>
            <a:r>
              <a:rPr lang="en-US" sz="2000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Tiga </a:t>
            </a:r>
            <a:r>
              <a:rPr lang="en-US" sz="2000" dirty="0" err="1">
                <a:latin typeface="Montserrat" pitchFamily="2" charset="0"/>
                <a:ea typeface="Open Sans" pitchFamily="34" charset="0"/>
                <a:cs typeface="Open Sans" pitchFamily="34" charset="0"/>
              </a:rPr>
              <a:t>aturan</a:t>
            </a:r>
            <a:r>
              <a:rPr lang="en-US" sz="2000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 </a:t>
            </a:r>
            <a:r>
              <a:rPr lang="en-US" sz="2000" dirty="0" err="1">
                <a:latin typeface="Montserrat" pitchFamily="2" charset="0"/>
                <a:ea typeface="Open Sans" pitchFamily="34" charset="0"/>
                <a:cs typeface="Open Sans" pitchFamily="34" charset="0"/>
              </a:rPr>
              <a:t>dasar</a:t>
            </a:r>
            <a:r>
              <a:rPr lang="en-US" sz="2000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 packet flow</a:t>
            </a:r>
          </a:p>
          <a:p>
            <a:pPr marL="285750" indent="-285750" algn="just">
              <a:lnSpc>
                <a:spcPct val="250000"/>
              </a:lnSpc>
              <a:buFont typeface="Wingdings" pitchFamily="2" charset="2"/>
              <a:buChar char="v"/>
            </a:pPr>
            <a:r>
              <a:rPr lang="en-US" sz="2000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Input 	– </a:t>
            </a:r>
            <a:r>
              <a:rPr lang="en-US" sz="2000" b="1" dirty="0">
                <a:solidFill>
                  <a:srgbClr val="FF0000"/>
                </a:solidFill>
                <a:latin typeface="Montserrat" pitchFamily="2" charset="0"/>
                <a:ea typeface="Open Sans" pitchFamily="34" charset="0"/>
                <a:cs typeface="Open Sans" pitchFamily="34" charset="0"/>
              </a:rPr>
              <a:t>KE</a:t>
            </a:r>
            <a:r>
              <a:rPr lang="en-US" sz="2000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 router		</a:t>
            </a:r>
            <a:r>
              <a:rPr lang="en-US" sz="2000" dirty="0" err="1">
                <a:latin typeface="Montserrat" pitchFamily="2" charset="0"/>
                <a:ea typeface="Open Sans" pitchFamily="34" charset="0"/>
                <a:cs typeface="Open Sans" pitchFamily="34" charset="0"/>
              </a:rPr>
              <a:t>Contoh</a:t>
            </a:r>
            <a:r>
              <a:rPr lang="en-US" sz="2000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 : ping </a:t>
            </a:r>
            <a:r>
              <a:rPr lang="en-US" sz="2000" dirty="0" err="1">
                <a:latin typeface="Montserrat" pitchFamily="2" charset="0"/>
                <a:ea typeface="Open Sans" pitchFamily="34" charset="0"/>
                <a:cs typeface="Open Sans" pitchFamily="34" charset="0"/>
              </a:rPr>
              <a:t>ke</a:t>
            </a:r>
            <a:r>
              <a:rPr lang="en-US" sz="2000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 router</a:t>
            </a:r>
          </a:p>
          <a:p>
            <a:pPr marL="285750" indent="-285750" algn="just">
              <a:lnSpc>
                <a:spcPct val="250000"/>
              </a:lnSpc>
              <a:buFont typeface="Wingdings" pitchFamily="2" charset="2"/>
              <a:buChar char="v"/>
            </a:pPr>
            <a:r>
              <a:rPr lang="en-US" sz="2000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Output	– </a:t>
            </a:r>
            <a:r>
              <a:rPr lang="en-US" sz="2000" b="1" dirty="0">
                <a:solidFill>
                  <a:srgbClr val="00B050"/>
                </a:solidFill>
                <a:latin typeface="Montserrat" pitchFamily="2" charset="0"/>
                <a:ea typeface="Open Sans" pitchFamily="34" charset="0"/>
                <a:cs typeface="Open Sans" pitchFamily="34" charset="0"/>
              </a:rPr>
              <a:t>DARI</a:t>
            </a:r>
            <a:r>
              <a:rPr lang="en-US" sz="2000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 router		</a:t>
            </a:r>
            <a:r>
              <a:rPr lang="en-US" sz="2000" dirty="0" err="1">
                <a:latin typeface="Montserrat" pitchFamily="2" charset="0"/>
                <a:ea typeface="Open Sans" pitchFamily="34" charset="0"/>
                <a:cs typeface="Open Sans" pitchFamily="34" charset="0"/>
              </a:rPr>
              <a:t>Contoh</a:t>
            </a:r>
            <a:r>
              <a:rPr lang="en-US" sz="2000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 : ping router </a:t>
            </a:r>
            <a:r>
              <a:rPr lang="en-US" sz="2000" dirty="0" err="1">
                <a:latin typeface="Montserrat" pitchFamily="2" charset="0"/>
                <a:ea typeface="Open Sans" pitchFamily="34" charset="0"/>
                <a:cs typeface="Open Sans" pitchFamily="34" charset="0"/>
              </a:rPr>
              <a:t>ke</a:t>
            </a:r>
            <a:r>
              <a:rPr lang="en-US" sz="2000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 internet</a:t>
            </a:r>
          </a:p>
          <a:p>
            <a:pPr marL="285750" indent="-285750" algn="just">
              <a:lnSpc>
                <a:spcPct val="250000"/>
              </a:lnSpc>
              <a:buFont typeface="Wingdings" pitchFamily="2" charset="2"/>
              <a:buChar char="v"/>
            </a:pPr>
            <a:r>
              <a:rPr lang="en-US" sz="2000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Forward	– </a:t>
            </a:r>
            <a:r>
              <a:rPr lang="en-US" sz="2000" b="1" dirty="0">
                <a:solidFill>
                  <a:srgbClr val="006FC0"/>
                </a:solidFill>
                <a:latin typeface="Montserrat" pitchFamily="2" charset="0"/>
                <a:ea typeface="Open Sans" pitchFamily="34" charset="0"/>
                <a:cs typeface="Open Sans" pitchFamily="34" charset="0"/>
              </a:rPr>
              <a:t>MELEWATI</a:t>
            </a:r>
            <a:r>
              <a:rPr lang="en-US" sz="2000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 router	</a:t>
            </a:r>
            <a:r>
              <a:rPr lang="en-US" sz="2000" dirty="0" err="1">
                <a:latin typeface="Montserrat" pitchFamily="2" charset="0"/>
                <a:ea typeface="Open Sans" pitchFamily="34" charset="0"/>
                <a:cs typeface="Open Sans" pitchFamily="34" charset="0"/>
              </a:rPr>
              <a:t>Contoh</a:t>
            </a:r>
            <a:r>
              <a:rPr lang="en-US" sz="2000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 : user </a:t>
            </a:r>
            <a:r>
              <a:rPr lang="en-US" sz="2000" dirty="0" err="1">
                <a:latin typeface="Montserrat" pitchFamily="2" charset="0"/>
                <a:ea typeface="Open Sans" pitchFamily="34" charset="0"/>
                <a:cs typeface="Open Sans" pitchFamily="34" charset="0"/>
              </a:rPr>
              <a:t>akses</a:t>
            </a:r>
            <a:r>
              <a:rPr lang="en-US" sz="2000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 internet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7822AC6-6F73-5486-CFB3-D4E2C9194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328" y="3962400"/>
            <a:ext cx="6849431" cy="238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770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DEC78-B95A-602A-8F4A-2C89327ED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20C26305-C0C3-0E24-8CAD-CD86E47B80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54861" y="273684"/>
            <a:ext cx="6598539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b="1" dirty="0">
                <a:latin typeface="Montserrat" pitchFamily="2" charset="0"/>
              </a:rPr>
              <a:t>Firewall Filter Chain – </a:t>
            </a:r>
            <a:r>
              <a:rPr lang="en-US" b="1" dirty="0" err="1">
                <a:latin typeface="Montserrat" pitchFamily="2" charset="0"/>
              </a:rPr>
              <a:t>Aliran</a:t>
            </a:r>
            <a:r>
              <a:rPr lang="en-US" b="1" dirty="0">
                <a:latin typeface="Montserrat" pitchFamily="2" charset="0"/>
              </a:rPr>
              <a:t> Data</a:t>
            </a:r>
            <a:endParaRPr b="1" dirty="0">
              <a:latin typeface="Montserrat" pitchFamily="2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CF5B169-AFEB-13D6-F0D4-B55AA6A5D8C1}"/>
              </a:ext>
            </a:extLst>
          </p:cNvPr>
          <p:cNvSpPr/>
          <p:nvPr/>
        </p:nvSpPr>
        <p:spPr>
          <a:xfrm>
            <a:off x="76200" y="810238"/>
            <a:ext cx="8991600" cy="30410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250000"/>
              </a:lnSpc>
              <a:buFont typeface="Wingdings" pitchFamily="2" charset="2"/>
              <a:buChar char="v"/>
            </a:pPr>
            <a:r>
              <a:rPr lang="en-US" sz="2000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Tiga </a:t>
            </a:r>
            <a:r>
              <a:rPr lang="en-US" sz="2000" dirty="0" err="1">
                <a:latin typeface="Montserrat" pitchFamily="2" charset="0"/>
                <a:ea typeface="Open Sans" pitchFamily="34" charset="0"/>
                <a:cs typeface="Open Sans" pitchFamily="34" charset="0"/>
              </a:rPr>
              <a:t>aturan</a:t>
            </a:r>
            <a:r>
              <a:rPr lang="en-US" sz="2000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 </a:t>
            </a:r>
            <a:r>
              <a:rPr lang="en-US" sz="2000" dirty="0" err="1">
                <a:latin typeface="Montserrat" pitchFamily="2" charset="0"/>
                <a:ea typeface="Open Sans" pitchFamily="34" charset="0"/>
                <a:cs typeface="Open Sans" pitchFamily="34" charset="0"/>
              </a:rPr>
              <a:t>dasar</a:t>
            </a:r>
            <a:r>
              <a:rPr lang="en-US" sz="2000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 packet flow</a:t>
            </a:r>
          </a:p>
          <a:p>
            <a:pPr marL="285750" indent="-285750" algn="just">
              <a:lnSpc>
                <a:spcPct val="250000"/>
              </a:lnSpc>
              <a:buFont typeface="Wingdings" pitchFamily="2" charset="2"/>
              <a:buChar char="v"/>
            </a:pPr>
            <a:r>
              <a:rPr lang="en-US" sz="2000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Input 	– </a:t>
            </a:r>
            <a:r>
              <a:rPr lang="en-US" sz="2000" b="1" dirty="0">
                <a:solidFill>
                  <a:srgbClr val="FF0000"/>
                </a:solidFill>
                <a:latin typeface="Montserrat" pitchFamily="2" charset="0"/>
                <a:ea typeface="Open Sans" pitchFamily="34" charset="0"/>
                <a:cs typeface="Open Sans" pitchFamily="34" charset="0"/>
              </a:rPr>
              <a:t>KE</a:t>
            </a:r>
            <a:r>
              <a:rPr lang="en-US" sz="2000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 router		</a:t>
            </a:r>
            <a:r>
              <a:rPr lang="en-US" sz="2000" dirty="0" err="1">
                <a:latin typeface="Montserrat" pitchFamily="2" charset="0"/>
                <a:ea typeface="Open Sans" pitchFamily="34" charset="0"/>
                <a:cs typeface="Open Sans" pitchFamily="34" charset="0"/>
              </a:rPr>
              <a:t>Contoh</a:t>
            </a:r>
            <a:r>
              <a:rPr lang="en-US" sz="2000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 : ping </a:t>
            </a:r>
            <a:r>
              <a:rPr lang="en-US" sz="2000" dirty="0" err="1">
                <a:latin typeface="Montserrat" pitchFamily="2" charset="0"/>
                <a:ea typeface="Open Sans" pitchFamily="34" charset="0"/>
                <a:cs typeface="Open Sans" pitchFamily="34" charset="0"/>
              </a:rPr>
              <a:t>ke</a:t>
            </a:r>
            <a:r>
              <a:rPr lang="en-US" sz="2000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 router</a:t>
            </a:r>
          </a:p>
          <a:p>
            <a:pPr marL="285750" indent="-285750" algn="just">
              <a:lnSpc>
                <a:spcPct val="250000"/>
              </a:lnSpc>
              <a:buFont typeface="Wingdings" pitchFamily="2" charset="2"/>
              <a:buChar char="v"/>
            </a:pPr>
            <a:r>
              <a:rPr lang="en-US" sz="2000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Output	– </a:t>
            </a:r>
            <a:r>
              <a:rPr lang="en-US" sz="2000" b="1" dirty="0">
                <a:solidFill>
                  <a:srgbClr val="00B050"/>
                </a:solidFill>
                <a:latin typeface="Montserrat" pitchFamily="2" charset="0"/>
                <a:ea typeface="Open Sans" pitchFamily="34" charset="0"/>
                <a:cs typeface="Open Sans" pitchFamily="34" charset="0"/>
              </a:rPr>
              <a:t>DARI</a:t>
            </a:r>
            <a:r>
              <a:rPr lang="en-US" sz="2000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 router		</a:t>
            </a:r>
            <a:r>
              <a:rPr lang="en-US" sz="2000" dirty="0" err="1">
                <a:latin typeface="Montserrat" pitchFamily="2" charset="0"/>
                <a:ea typeface="Open Sans" pitchFamily="34" charset="0"/>
                <a:cs typeface="Open Sans" pitchFamily="34" charset="0"/>
              </a:rPr>
              <a:t>Contoh</a:t>
            </a:r>
            <a:r>
              <a:rPr lang="en-US" sz="2000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 : ping router </a:t>
            </a:r>
            <a:r>
              <a:rPr lang="en-US" sz="2000" dirty="0" err="1">
                <a:latin typeface="Montserrat" pitchFamily="2" charset="0"/>
                <a:ea typeface="Open Sans" pitchFamily="34" charset="0"/>
                <a:cs typeface="Open Sans" pitchFamily="34" charset="0"/>
              </a:rPr>
              <a:t>ke</a:t>
            </a:r>
            <a:r>
              <a:rPr lang="en-US" sz="2000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 internet</a:t>
            </a:r>
          </a:p>
          <a:p>
            <a:pPr marL="285750" indent="-285750" algn="just">
              <a:lnSpc>
                <a:spcPct val="250000"/>
              </a:lnSpc>
              <a:buFont typeface="Wingdings" pitchFamily="2" charset="2"/>
              <a:buChar char="v"/>
            </a:pPr>
            <a:r>
              <a:rPr lang="en-US" sz="2000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Forward	– </a:t>
            </a:r>
            <a:r>
              <a:rPr lang="en-US" sz="2000" b="1" dirty="0">
                <a:solidFill>
                  <a:srgbClr val="006FC0"/>
                </a:solidFill>
                <a:latin typeface="Montserrat" pitchFamily="2" charset="0"/>
                <a:ea typeface="Open Sans" pitchFamily="34" charset="0"/>
                <a:cs typeface="Open Sans" pitchFamily="34" charset="0"/>
              </a:rPr>
              <a:t>MELEWATI</a:t>
            </a:r>
            <a:r>
              <a:rPr lang="en-US" sz="2000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 router	</a:t>
            </a:r>
            <a:r>
              <a:rPr lang="en-US" sz="2000" dirty="0" err="1">
                <a:latin typeface="Montserrat" pitchFamily="2" charset="0"/>
                <a:ea typeface="Open Sans" pitchFamily="34" charset="0"/>
                <a:cs typeface="Open Sans" pitchFamily="34" charset="0"/>
              </a:rPr>
              <a:t>Contoh</a:t>
            </a:r>
            <a:r>
              <a:rPr lang="en-US" sz="2000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 : user </a:t>
            </a:r>
            <a:r>
              <a:rPr lang="en-US" sz="2000" dirty="0" err="1">
                <a:latin typeface="Montserrat" pitchFamily="2" charset="0"/>
                <a:ea typeface="Open Sans" pitchFamily="34" charset="0"/>
                <a:cs typeface="Open Sans" pitchFamily="34" charset="0"/>
              </a:rPr>
              <a:t>akses</a:t>
            </a:r>
            <a:r>
              <a:rPr lang="en-US" sz="2000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 internet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D430DA0-4C95-9A9B-423B-976AED294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328" y="3962400"/>
            <a:ext cx="6849431" cy="238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151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1801B-6894-36E0-8307-7AF25CBEC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1F3033ED-8EE5-E2EF-0F5B-E4D9F55566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54861" y="273684"/>
            <a:ext cx="5150739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b="1" dirty="0" err="1">
                <a:latin typeface="Montserrat" pitchFamily="2" charset="0"/>
              </a:rPr>
              <a:t>Penggunaan</a:t>
            </a:r>
            <a:r>
              <a:rPr lang="en-US" b="1" dirty="0">
                <a:latin typeface="Montserrat" pitchFamily="2" charset="0"/>
              </a:rPr>
              <a:t> Firewall Filter</a:t>
            </a:r>
            <a:endParaRPr b="1" dirty="0">
              <a:latin typeface="Montserrat" pitchFamily="2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DA367FD-E056-C524-A1C1-6D2CDD315659}"/>
              </a:ext>
            </a:extLst>
          </p:cNvPr>
          <p:cNvSpPr/>
          <p:nvPr/>
        </p:nvSpPr>
        <p:spPr>
          <a:xfrm>
            <a:off x="228600" y="759310"/>
            <a:ext cx="8686800" cy="34670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200000"/>
              </a:lnSpc>
              <a:buFont typeface="Wingdings" pitchFamily="2" charset="2"/>
              <a:buChar char="v"/>
            </a:pPr>
            <a:r>
              <a:rPr lang="en-US" sz="2000" dirty="0" err="1">
                <a:latin typeface="Montserrat" pitchFamily="2" charset="0"/>
                <a:ea typeface="Open Sans" pitchFamily="34" charset="0"/>
                <a:cs typeface="Open Sans" pitchFamily="34" charset="0"/>
              </a:rPr>
              <a:t>Prinsip</a:t>
            </a:r>
            <a:r>
              <a:rPr lang="en-US" sz="2000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 </a:t>
            </a:r>
            <a:r>
              <a:rPr lang="en-US" sz="2000" b="1" dirty="0">
                <a:solidFill>
                  <a:srgbClr val="006FC0"/>
                </a:solidFill>
                <a:latin typeface="Montserrat" pitchFamily="2" charset="0"/>
                <a:ea typeface="Open Sans" pitchFamily="34" charset="0"/>
                <a:cs typeface="Open Sans" pitchFamily="34" charset="0"/>
              </a:rPr>
              <a:t>IF</a:t>
            </a:r>
            <a:r>
              <a:rPr lang="en-US" sz="2000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 ……. </a:t>
            </a:r>
            <a:r>
              <a:rPr lang="en-US" sz="2000" b="1" dirty="0">
                <a:solidFill>
                  <a:srgbClr val="FF0000"/>
                </a:solidFill>
                <a:latin typeface="Montserrat" pitchFamily="2" charset="0"/>
                <a:ea typeface="Open Sans" pitchFamily="34" charset="0"/>
                <a:cs typeface="Open Sans" pitchFamily="34" charset="0"/>
              </a:rPr>
              <a:t>Then</a:t>
            </a:r>
            <a:r>
              <a:rPr lang="en-US" sz="2000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 …….</a:t>
            </a:r>
          </a:p>
          <a:p>
            <a:pPr marL="285750" indent="-285750" algn="just">
              <a:lnSpc>
                <a:spcPct val="200000"/>
              </a:lnSpc>
              <a:buFont typeface="Wingdings" pitchFamily="2" charset="2"/>
              <a:buChar char="v"/>
            </a:pPr>
            <a:r>
              <a:rPr lang="en-US" sz="2000" b="1" dirty="0">
                <a:solidFill>
                  <a:srgbClr val="006FC0"/>
                </a:solidFill>
                <a:latin typeface="Montserrat" pitchFamily="2" charset="0"/>
                <a:ea typeface="Open Sans" pitchFamily="34" charset="0"/>
                <a:cs typeface="Open Sans" pitchFamily="34" charset="0"/>
              </a:rPr>
              <a:t>IF</a:t>
            </a:r>
            <a:r>
              <a:rPr lang="en-US" sz="2000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	( Jika) </a:t>
            </a:r>
            <a:r>
              <a:rPr lang="en-US" sz="2000" dirty="0" err="1">
                <a:latin typeface="Montserrat" pitchFamily="2" charset="0"/>
                <a:ea typeface="Open Sans" pitchFamily="34" charset="0"/>
                <a:cs typeface="Open Sans" pitchFamily="34" charset="0"/>
              </a:rPr>
              <a:t>paket</a:t>
            </a:r>
            <a:r>
              <a:rPr lang="en-US" sz="2000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 </a:t>
            </a:r>
            <a:r>
              <a:rPr lang="en-US" sz="2000" dirty="0" err="1">
                <a:latin typeface="Montserrat" pitchFamily="2" charset="0"/>
                <a:ea typeface="Open Sans" pitchFamily="34" charset="0"/>
                <a:cs typeface="Open Sans" pitchFamily="34" charset="0"/>
              </a:rPr>
              <a:t>memenuhi</a:t>
            </a:r>
            <a:r>
              <a:rPr lang="en-US" sz="2000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 </a:t>
            </a:r>
            <a:r>
              <a:rPr lang="en-US" sz="2000" dirty="0" err="1">
                <a:latin typeface="Montserrat" pitchFamily="2" charset="0"/>
                <a:ea typeface="Open Sans" pitchFamily="34" charset="0"/>
                <a:cs typeface="Open Sans" pitchFamily="34" charset="0"/>
              </a:rPr>
              <a:t>syarat</a:t>
            </a:r>
            <a:r>
              <a:rPr lang="en-US" sz="2000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 </a:t>
            </a:r>
            <a:r>
              <a:rPr lang="en-US" sz="2000" dirty="0" err="1">
                <a:latin typeface="Montserrat" pitchFamily="2" charset="0"/>
                <a:ea typeface="Open Sans" pitchFamily="34" charset="0"/>
                <a:cs typeface="Open Sans" pitchFamily="34" charset="0"/>
              </a:rPr>
              <a:t>kriteria</a:t>
            </a:r>
            <a:r>
              <a:rPr lang="en-US" sz="2000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 yang </a:t>
            </a:r>
            <a:r>
              <a:rPr lang="en-US" sz="2000" dirty="0" err="1">
                <a:latin typeface="Montserrat" pitchFamily="2" charset="0"/>
                <a:ea typeface="Open Sans" pitchFamily="34" charset="0"/>
                <a:cs typeface="Open Sans" pitchFamily="34" charset="0"/>
              </a:rPr>
              <a:t>kita</a:t>
            </a:r>
            <a:r>
              <a:rPr lang="en-US" sz="2000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 buat.</a:t>
            </a:r>
          </a:p>
          <a:p>
            <a:pPr marL="285750" indent="-285750" algn="just">
              <a:lnSpc>
                <a:spcPct val="200000"/>
              </a:lnSpc>
              <a:buFont typeface="Wingdings" pitchFamily="2" charset="2"/>
              <a:buChar char="v"/>
            </a:pPr>
            <a:r>
              <a:rPr lang="en-US" sz="2000" b="1" dirty="0">
                <a:solidFill>
                  <a:srgbClr val="FF0000"/>
                </a:solidFill>
                <a:latin typeface="Montserrat" pitchFamily="2" charset="0"/>
                <a:ea typeface="Open Sans" pitchFamily="34" charset="0"/>
                <a:cs typeface="Open Sans" pitchFamily="34" charset="0"/>
              </a:rPr>
              <a:t>Then</a:t>
            </a:r>
            <a:r>
              <a:rPr lang="en-US" sz="2000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 (</a:t>
            </a:r>
            <a:r>
              <a:rPr lang="en-US" sz="2000" dirty="0" err="1">
                <a:latin typeface="Montserrat" pitchFamily="2" charset="0"/>
                <a:ea typeface="Open Sans" pitchFamily="34" charset="0"/>
                <a:cs typeface="Open Sans" pitchFamily="34" charset="0"/>
              </a:rPr>
              <a:t>maka</a:t>
            </a:r>
            <a:r>
              <a:rPr lang="en-US" sz="2000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) action </a:t>
            </a:r>
            <a:r>
              <a:rPr lang="en-US" sz="2000" dirty="0" err="1">
                <a:latin typeface="Montserrat" pitchFamily="2" charset="0"/>
                <a:ea typeface="Open Sans" pitchFamily="34" charset="0"/>
                <a:cs typeface="Open Sans" pitchFamily="34" charset="0"/>
              </a:rPr>
              <a:t>apa</a:t>
            </a:r>
            <a:r>
              <a:rPr lang="en-US" sz="2000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 yang </a:t>
            </a:r>
            <a:r>
              <a:rPr lang="en-US" sz="2000" dirty="0" err="1">
                <a:latin typeface="Montserrat" pitchFamily="2" charset="0"/>
                <a:ea typeface="Open Sans" pitchFamily="34" charset="0"/>
                <a:cs typeface="Open Sans" pitchFamily="34" charset="0"/>
              </a:rPr>
              <a:t>akan</a:t>
            </a:r>
            <a:r>
              <a:rPr lang="en-US" sz="2000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 </a:t>
            </a:r>
            <a:r>
              <a:rPr lang="en-US" sz="2000" dirty="0" err="1">
                <a:latin typeface="Montserrat" pitchFamily="2" charset="0"/>
                <a:ea typeface="Open Sans" pitchFamily="34" charset="0"/>
                <a:cs typeface="Open Sans" pitchFamily="34" charset="0"/>
              </a:rPr>
              <a:t>kita</a:t>
            </a:r>
            <a:r>
              <a:rPr lang="en-US" sz="2000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 </a:t>
            </a:r>
            <a:r>
              <a:rPr lang="en-US" sz="2000" dirty="0" err="1">
                <a:latin typeface="Montserrat" pitchFamily="2" charset="0"/>
                <a:ea typeface="Open Sans" pitchFamily="34" charset="0"/>
                <a:cs typeface="Open Sans" pitchFamily="34" charset="0"/>
              </a:rPr>
              <a:t>berikan</a:t>
            </a:r>
            <a:r>
              <a:rPr lang="en-US" sz="2000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 </a:t>
            </a:r>
            <a:r>
              <a:rPr lang="en-US" sz="2000" dirty="0" err="1">
                <a:latin typeface="Montserrat" pitchFamily="2" charset="0"/>
                <a:ea typeface="Open Sans" pitchFamily="34" charset="0"/>
                <a:cs typeface="Open Sans" pitchFamily="34" charset="0"/>
              </a:rPr>
              <a:t>ke</a:t>
            </a:r>
            <a:r>
              <a:rPr lang="en-US" sz="2000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 </a:t>
            </a:r>
            <a:r>
              <a:rPr lang="en-US" sz="2000" dirty="0" err="1">
                <a:latin typeface="Montserrat" pitchFamily="2" charset="0"/>
                <a:ea typeface="Open Sans" pitchFamily="34" charset="0"/>
                <a:cs typeface="Open Sans" pitchFamily="34" charset="0"/>
              </a:rPr>
              <a:t>paket</a:t>
            </a:r>
            <a:r>
              <a:rPr lang="en-US" sz="2000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 </a:t>
            </a:r>
            <a:r>
              <a:rPr lang="en-US" sz="2000" dirty="0" err="1">
                <a:latin typeface="Montserrat" pitchFamily="2" charset="0"/>
                <a:ea typeface="Open Sans" pitchFamily="34" charset="0"/>
                <a:cs typeface="Open Sans" pitchFamily="34" charset="0"/>
              </a:rPr>
              <a:t>tersebut</a:t>
            </a:r>
            <a:r>
              <a:rPr lang="en-US" sz="2000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.</a:t>
            </a:r>
          </a:p>
          <a:p>
            <a:pPr marL="285750" indent="-285750" algn="just">
              <a:lnSpc>
                <a:spcPct val="200000"/>
              </a:lnSpc>
              <a:buFont typeface="Wingdings" pitchFamily="2" charset="2"/>
              <a:buChar char="v"/>
            </a:pPr>
            <a:r>
              <a:rPr lang="en-US" sz="1600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Di firewall Filter Rule IF condition </a:t>
            </a:r>
            <a:r>
              <a:rPr lang="en-US" sz="1600" dirty="0" err="1">
                <a:latin typeface="Montserrat" pitchFamily="2" charset="0"/>
                <a:ea typeface="Open Sans" pitchFamily="34" charset="0"/>
                <a:cs typeface="Open Sans" pitchFamily="34" charset="0"/>
              </a:rPr>
              <a:t>ada</a:t>
            </a:r>
            <a:r>
              <a:rPr lang="en-US" sz="1600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 </a:t>
            </a:r>
            <a:r>
              <a:rPr lang="en-US" sz="1600" dirty="0" err="1">
                <a:latin typeface="Montserrat" pitchFamily="2" charset="0"/>
                <a:ea typeface="Open Sans" pitchFamily="34" charset="0"/>
                <a:cs typeface="Open Sans" pitchFamily="34" charset="0"/>
              </a:rPr>
              <a:t>dimenu</a:t>
            </a:r>
            <a:r>
              <a:rPr lang="en-US" sz="1600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 (General, Advanced dan Extra)</a:t>
            </a:r>
          </a:p>
          <a:p>
            <a:pPr marL="285750" indent="-285750" algn="just">
              <a:lnSpc>
                <a:spcPct val="200000"/>
              </a:lnSpc>
              <a:buFont typeface="Wingdings" pitchFamily="2" charset="2"/>
              <a:buChar char="v"/>
            </a:pPr>
            <a:r>
              <a:rPr lang="en-US" sz="1600" dirty="0" err="1">
                <a:latin typeface="Montserrat" pitchFamily="2" charset="0"/>
                <a:ea typeface="Open Sans" pitchFamily="34" charset="0"/>
                <a:cs typeface="Open Sans" pitchFamily="34" charset="0"/>
              </a:rPr>
              <a:t>sedangkan</a:t>
            </a:r>
            <a:r>
              <a:rPr lang="en-US" sz="1600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 Then condition </a:t>
            </a:r>
            <a:r>
              <a:rPr lang="en-US" sz="1600" dirty="0" err="1">
                <a:latin typeface="Montserrat" pitchFamily="2" charset="0"/>
                <a:ea typeface="Open Sans" pitchFamily="34" charset="0"/>
                <a:cs typeface="Open Sans" pitchFamily="34" charset="0"/>
              </a:rPr>
              <a:t>ada</a:t>
            </a:r>
            <a:r>
              <a:rPr lang="en-US" sz="1600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 </a:t>
            </a:r>
            <a:r>
              <a:rPr lang="en-US" sz="1600" dirty="0" err="1">
                <a:latin typeface="Montserrat" pitchFamily="2" charset="0"/>
                <a:ea typeface="Open Sans" pitchFamily="34" charset="0"/>
                <a:cs typeface="Open Sans" pitchFamily="34" charset="0"/>
              </a:rPr>
              <a:t>dimenu</a:t>
            </a:r>
            <a:r>
              <a:rPr lang="en-US" sz="1600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 action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46BAC7-5923-D8FE-6B0C-8FF5E0952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016" y="4419600"/>
            <a:ext cx="5805968" cy="1879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190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F082B-3068-62BC-585E-D0ED7141E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0A9E7B0A-11FD-CB48-F9B5-E64B981A85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54861" y="273684"/>
            <a:ext cx="6141339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b="1" dirty="0" err="1">
                <a:latin typeface="Montserrat" pitchFamily="2" charset="0"/>
              </a:rPr>
              <a:t>Penggunaan</a:t>
            </a:r>
            <a:r>
              <a:rPr lang="en-US" b="1" dirty="0">
                <a:latin typeface="Montserrat" pitchFamily="2" charset="0"/>
              </a:rPr>
              <a:t> Firewall Filter - IF</a:t>
            </a:r>
            <a:endParaRPr b="1" dirty="0">
              <a:latin typeface="Montserrat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238246-F45A-F9E7-9A1A-90FED142D2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914400"/>
            <a:ext cx="3927200" cy="5410200"/>
          </a:xfrm>
          <a:prstGeom prst="rect">
            <a:avLst/>
          </a:prstGeom>
        </p:spPr>
      </p:pic>
      <p:sp>
        <p:nvSpPr>
          <p:cNvPr id="6" name="object 5">
            <a:extLst>
              <a:ext uri="{FF2B5EF4-FFF2-40B4-BE49-F238E27FC236}">
                <a16:creationId xmlns:a16="http://schemas.microsoft.com/office/drawing/2014/main" id="{882A52CB-018F-28B9-36D8-A31A90C994D5}"/>
              </a:ext>
            </a:extLst>
          </p:cNvPr>
          <p:cNvSpPr/>
          <p:nvPr/>
        </p:nvSpPr>
        <p:spPr>
          <a:xfrm>
            <a:off x="4079600" y="1143000"/>
            <a:ext cx="4968240" cy="1508760"/>
          </a:xfrm>
          <a:custGeom>
            <a:avLst/>
            <a:gdLst/>
            <a:ahLst/>
            <a:cxnLst/>
            <a:rect l="l" t="t" r="r" b="b"/>
            <a:pathLst>
              <a:path w="4968240" h="1508760">
                <a:moveTo>
                  <a:pt x="0" y="251460"/>
                </a:moveTo>
                <a:lnTo>
                  <a:pt x="4049" y="206243"/>
                </a:lnTo>
                <a:lnTo>
                  <a:pt x="15725" y="163693"/>
                </a:lnTo>
                <a:lnTo>
                  <a:pt x="34318" y="124516"/>
                </a:lnTo>
                <a:lnTo>
                  <a:pt x="59120" y="89422"/>
                </a:lnTo>
                <a:lnTo>
                  <a:pt x="89422" y="59120"/>
                </a:lnTo>
                <a:lnTo>
                  <a:pt x="124516" y="34318"/>
                </a:lnTo>
                <a:lnTo>
                  <a:pt x="163693" y="15725"/>
                </a:lnTo>
                <a:lnTo>
                  <a:pt x="206243" y="4049"/>
                </a:lnTo>
                <a:lnTo>
                  <a:pt x="251460" y="0"/>
                </a:lnTo>
                <a:lnTo>
                  <a:pt x="4716780" y="0"/>
                </a:lnTo>
                <a:lnTo>
                  <a:pt x="4761996" y="4049"/>
                </a:lnTo>
                <a:lnTo>
                  <a:pt x="4804546" y="15725"/>
                </a:lnTo>
                <a:lnTo>
                  <a:pt x="4843723" y="34318"/>
                </a:lnTo>
                <a:lnTo>
                  <a:pt x="4878817" y="59120"/>
                </a:lnTo>
                <a:lnTo>
                  <a:pt x="4909119" y="89422"/>
                </a:lnTo>
                <a:lnTo>
                  <a:pt x="4933921" y="124516"/>
                </a:lnTo>
                <a:lnTo>
                  <a:pt x="4952514" y="163693"/>
                </a:lnTo>
                <a:lnTo>
                  <a:pt x="4964190" y="206243"/>
                </a:lnTo>
                <a:lnTo>
                  <a:pt x="4968240" y="251460"/>
                </a:lnTo>
                <a:lnTo>
                  <a:pt x="4968240" y="1257300"/>
                </a:lnTo>
                <a:lnTo>
                  <a:pt x="4964190" y="1302482"/>
                </a:lnTo>
                <a:lnTo>
                  <a:pt x="4952514" y="1345015"/>
                </a:lnTo>
                <a:lnTo>
                  <a:pt x="4933921" y="1384187"/>
                </a:lnTo>
                <a:lnTo>
                  <a:pt x="4909119" y="1419285"/>
                </a:lnTo>
                <a:lnTo>
                  <a:pt x="4878817" y="1449597"/>
                </a:lnTo>
                <a:lnTo>
                  <a:pt x="4843723" y="1474413"/>
                </a:lnTo>
                <a:lnTo>
                  <a:pt x="4804546" y="1493020"/>
                </a:lnTo>
                <a:lnTo>
                  <a:pt x="4761996" y="1504706"/>
                </a:lnTo>
                <a:lnTo>
                  <a:pt x="4716780" y="1508760"/>
                </a:lnTo>
                <a:lnTo>
                  <a:pt x="251460" y="1508760"/>
                </a:lnTo>
                <a:lnTo>
                  <a:pt x="206243" y="1504706"/>
                </a:lnTo>
                <a:lnTo>
                  <a:pt x="163693" y="1493020"/>
                </a:lnTo>
                <a:lnTo>
                  <a:pt x="124516" y="1474413"/>
                </a:lnTo>
                <a:lnTo>
                  <a:pt x="89422" y="1449597"/>
                </a:lnTo>
                <a:lnTo>
                  <a:pt x="59120" y="1419285"/>
                </a:lnTo>
                <a:lnTo>
                  <a:pt x="34318" y="1384187"/>
                </a:lnTo>
                <a:lnTo>
                  <a:pt x="15725" y="1345015"/>
                </a:lnTo>
                <a:lnTo>
                  <a:pt x="4049" y="1302482"/>
                </a:lnTo>
                <a:lnTo>
                  <a:pt x="0" y="1257300"/>
                </a:lnTo>
                <a:lnTo>
                  <a:pt x="0" y="251460"/>
                </a:lnTo>
                <a:close/>
              </a:path>
            </a:pathLst>
          </a:custGeom>
          <a:ln w="25400">
            <a:solidFill>
              <a:srgbClr val="00AFEF"/>
            </a:solidFill>
            <a:prstDash val="sysDash"/>
          </a:ln>
        </p:spPr>
        <p:txBody>
          <a:bodyPr wrap="square" lIns="0" tIns="0" rIns="0" bIns="0" rtlCol="0"/>
          <a:lstStyle/>
          <a:p>
            <a:endParaRPr sz="1600">
              <a:latin typeface="Montserrat" pitchFamily="2" charset="0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0F365385-20EB-30F0-7DC0-1B8F28AA9E3D}"/>
              </a:ext>
            </a:extLst>
          </p:cNvPr>
          <p:cNvSpPr txBox="1"/>
          <p:nvPr/>
        </p:nvSpPr>
        <p:spPr>
          <a:xfrm>
            <a:off x="4232889" y="1319847"/>
            <a:ext cx="126428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Montserrat" pitchFamily="2" charset="0"/>
                <a:cs typeface="Arial"/>
              </a:rPr>
              <a:t>Src.</a:t>
            </a:r>
            <a:r>
              <a:rPr sz="1400" b="1" spc="-65" dirty="0">
                <a:latin typeface="Montserrat" pitchFamily="2" charset="0"/>
                <a:cs typeface="Arial"/>
              </a:rPr>
              <a:t> </a:t>
            </a:r>
            <a:r>
              <a:rPr sz="1400" b="1" spc="-10" dirty="0">
                <a:latin typeface="Montserrat" pitchFamily="2" charset="0"/>
                <a:cs typeface="Arial"/>
              </a:rPr>
              <a:t>Address</a:t>
            </a:r>
            <a:endParaRPr sz="1400">
              <a:latin typeface="Montserrat" pitchFamily="2" charset="0"/>
              <a:cs typeface="Arial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5B1D30FD-C5BB-7BC6-7CF5-1906A9F0F6C0}"/>
              </a:ext>
            </a:extLst>
          </p:cNvPr>
          <p:cNvSpPr txBox="1"/>
          <p:nvPr/>
        </p:nvSpPr>
        <p:spPr>
          <a:xfrm>
            <a:off x="4232889" y="2006346"/>
            <a:ext cx="126365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Montserrat" pitchFamily="2" charset="0"/>
                <a:cs typeface="Arial"/>
              </a:rPr>
              <a:t>Dst.</a:t>
            </a:r>
            <a:r>
              <a:rPr sz="1400" b="1" spc="-70" dirty="0">
                <a:latin typeface="Montserrat" pitchFamily="2" charset="0"/>
                <a:cs typeface="Arial"/>
              </a:rPr>
              <a:t> </a:t>
            </a:r>
            <a:r>
              <a:rPr sz="1400" b="1" spc="-10" dirty="0">
                <a:latin typeface="Montserrat" pitchFamily="2" charset="0"/>
                <a:cs typeface="Arial"/>
              </a:rPr>
              <a:t>Address</a:t>
            </a:r>
            <a:endParaRPr sz="1400">
              <a:latin typeface="Montserrat" pitchFamily="2" charset="0"/>
              <a:cs typeface="Arial"/>
            </a:endParaRP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CD7B15D5-D0B8-D829-9352-1B60FA87DCA6}"/>
              </a:ext>
            </a:extLst>
          </p:cNvPr>
          <p:cNvSpPr txBox="1"/>
          <p:nvPr/>
        </p:nvSpPr>
        <p:spPr>
          <a:xfrm>
            <a:off x="5665829" y="1225463"/>
            <a:ext cx="3195955" cy="1186607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200" dirty="0">
                <a:latin typeface="Montserrat" pitchFamily="2" charset="0"/>
                <a:cs typeface="Arial MT"/>
              </a:rPr>
              <a:t>Merupakan</a:t>
            </a:r>
            <a:r>
              <a:rPr sz="1200" spc="-50" dirty="0">
                <a:latin typeface="Montserrat" pitchFamily="2" charset="0"/>
                <a:cs typeface="Arial MT"/>
              </a:rPr>
              <a:t> </a:t>
            </a:r>
            <a:r>
              <a:rPr sz="1200" spc="-10" dirty="0">
                <a:latin typeface="Montserrat" pitchFamily="2" charset="0"/>
                <a:cs typeface="Arial MT"/>
              </a:rPr>
              <a:t>IP</a:t>
            </a:r>
            <a:r>
              <a:rPr sz="1200" spc="-85" dirty="0">
                <a:latin typeface="Montserrat" pitchFamily="2" charset="0"/>
                <a:cs typeface="Arial MT"/>
              </a:rPr>
              <a:t> </a:t>
            </a:r>
            <a:r>
              <a:rPr sz="1200" dirty="0">
                <a:latin typeface="Montserrat" pitchFamily="2" charset="0"/>
                <a:cs typeface="Arial MT"/>
              </a:rPr>
              <a:t>Address</a:t>
            </a:r>
            <a:r>
              <a:rPr sz="1200" spc="-50" dirty="0">
                <a:latin typeface="Montserrat" pitchFamily="2" charset="0"/>
                <a:cs typeface="Arial MT"/>
              </a:rPr>
              <a:t> </a:t>
            </a:r>
            <a:r>
              <a:rPr sz="1200" dirty="0">
                <a:latin typeface="Montserrat" pitchFamily="2" charset="0"/>
                <a:cs typeface="Arial MT"/>
              </a:rPr>
              <a:t>sumber</a:t>
            </a:r>
            <a:r>
              <a:rPr sz="1200" spc="-60" dirty="0">
                <a:latin typeface="Montserrat" pitchFamily="2" charset="0"/>
                <a:cs typeface="Arial MT"/>
              </a:rPr>
              <a:t> </a:t>
            </a:r>
            <a:r>
              <a:rPr sz="1200" spc="-10" dirty="0">
                <a:latin typeface="Montserrat" pitchFamily="2" charset="0"/>
                <a:cs typeface="Arial MT"/>
              </a:rPr>
              <a:t>(jaringan</a:t>
            </a:r>
            <a:endParaRPr sz="1200" dirty="0">
              <a:latin typeface="Montserrat" pitchFamily="2" charset="0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200" dirty="0">
                <a:latin typeface="Montserrat" pitchFamily="2" charset="0"/>
                <a:cs typeface="Arial MT"/>
              </a:rPr>
              <a:t>private</a:t>
            </a:r>
            <a:r>
              <a:rPr sz="1200" spc="-20" dirty="0">
                <a:latin typeface="Montserrat" pitchFamily="2" charset="0"/>
                <a:cs typeface="Arial MT"/>
              </a:rPr>
              <a:t> </a:t>
            </a:r>
            <a:r>
              <a:rPr sz="1200" dirty="0">
                <a:latin typeface="Montserrat" pitchFamily="2" charset="0"/>
                <a:cs typeface="Arial MT"/>
              </a:rPr>
              <a:t>/</a:t>
            </a:r>
            <a:r>
              <a:rPr sz="1200" spc="-5" dirty="0">
                <a:latin typeface="Montserrat" pitchFamily="2" charset="0"/>
                <a:cs typeface="Arial MT"/>
              </a:rPr>
              <a:t> </a:t>
            </a:r>
            <a:r>
              <a:rPr sz="1200" spc="-20" dirty="0">
                <a:latin typeface="Montserrat" pitchFamily="2" charset="0"/>
                <a:cs typeface="Arial MT"/>
              </a:rPr>
              <a:t>LAN)</a:t>
            </a:r>
            <a:endParaRPr sz="1200" dirty="0">
              <a:latin typeface="Montserrat" pitchFamily="2" charset="0"/>
              <a:cs typeface="Arial MT"/>
            </a:endParaRPr>
          </a:p>
          <a:p>
            <a:pPr marL="12700" marR="111760">
              <a:lnSpc>
                <a:spcPct val="156100"/>
              </a:lnSpc>
              <a:spcBef>
                <a:spcPts val="160"/>
              </a:spcBef>
            </a:pPr>
            <a:r>
              <a:rPr sz="1200" dirty="0">
                <a:latin typeface="Montserrat" pitchFamily="2" charset="0"/>
                <a:cs typeface="Arial MT"/>
              </a:rPr>
              <a:t>Merupakan</a:t>
            </a:r>
            <a:r>
              <a:rPr sz="1200" spc="-50" dirty="0">
                <a:latin typeface="Montserrat" pitchFamily="2" charset="0"/>
                <a:cs typeface="Arial MT"/>
              </a:rPr>
              <a:t> </a:t>
            </a:r>
            <a:r>
              <a:rPr sz="1200" spc="-10" dirty="0">
                <a:latin typeface="Montserrat" pitchFamily="2" charset="0"/>
                <a:cs typeface="Arial MT"/>
              </a:rPr>
              <a:t>IP</a:t>
            </a:r>
            <a:r>
              <a:rPr sz="1200" spc="-90" dirty="0">
                <a:latin typeface="Montserrat" pitchFamily="2" charset="0"/>
                <a:cs typeface="Arial MT"/>
              </a:rPr>
              <a:t> </a:t>
            </a:r>
            <a:r>
              <a:rPr sz="1200" dirty="0">
                <a:latin typeface="Montserrat" pitchFamily="2" charset="0"/>
                <a:cs typeface="Arial MT"/>
              </a:rPr>
              <a:t>Address</a:t>
            </a:r>
            <a:r>
              <a:rPr sz="1200" spc="-55" dirty="0">
                <a:latin typeface="Montserrat" pitchFamily="2" charset="0"/>
                <a:cs typeface="Arial MT"/>
              </a:rPr>
              <a:t> </a:t>
            </a:r>
            <a:r>
              <a:rPr sz="1200" dirty="0">
                <a:latin typeface="Montserrat" pitchFamily="2" charset="0"/>
                <a:cs typeface="Arial MT"/>
              </a:rPr>
              <a:t>tujuan</a:t>
            </a:r>
            <a:r>
              <a:rPr sz="1200" spc="-10" dirty="0">
                <a:latin typeface="Montserrat" pitchFamily="2" charset="0"/>
                <a:cs typeface="Arial MT"/>
              </a:rPr>
              <a:t> (jaringan internet)</a:t>
            </a:r>
            <a:endParaRPr sz="1200" dirty="0">
              <a:latin typeface="Montserrat" pitchFamily="2" charset="0"/>
              <a:cs typeface="Arial MT"/>
            </a:endParaRPr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28077A69-FF38-1371-F40E-FF11256BF609}"/>
              </a:ext>
            </a:extLst>
          </p:cNvPr>
          <p:cNvSpPr/>
          <p:nvPr/>
        </p:nvSpPr>
        <p:spPr>
          <a:xfrm>
            <a:off x="4079600" y="2799079"/>
            <a:ext cx="4968240" cy="1704339"/>
          </a:xfrm>
          <a:custGeom>
            <a:avLst/>
            <a:gdLst/>
            <a:ahLst/>
            <a:cxnLst/>
            <a:rect l="l" t="t" r="r" b="b"/>
            <a:pathLst>
              <a:path w="4968240" h="1704339">
                <a:moveTo>
                  <a:pt x="0" y="284099"/>
                </a:moveTo>
                <a:lnTo>
                  <a:pt x="3716" y="238000"/>
                </a:lnTo>
                <a:lnTo>
                  <a:pt x="14476" y="194275"/>
                </a:lnTo>
                <a:lnTo>
                  <a:pt x="31697" y="153508"/>
                </a:lnTo>
                <a:lnTo>
                  <a:pt x="54794" y="116284"/>
                </a:lnTo>
                <a:lnTo>
                  <a:pt x="83184" y="83184"/>
                </a:lnTo>
                <a:lnTo>
                  <a:pt x="116284" y="54794"/>
                </a:lnTo>
                <a:lnTo>
                  <a:pt x="153508" y="31697"/>
                </a:lnTo>
                <a:lnTo>
                  <a:pt x="194275" y="14476"/>
                </a:lnTo>
                <a:lnTo>
                  <a:pt x="238000" y="3716"/>
                </a:lnTo>
                <a:lnTo>
                  <a:pt x="284099" y="0"/>
                </a:lnTo>
                <a:lnTo>
                  <a:pt x="4684141" y="0"/>
                </a:lnTo>
                <a:lnTo>
                  <a:pt x="4730239" y="3716"/>
                </a:lnTo>
                <a:lnTo>
                  <a:pt x="4773964" y="14476"/>
                </a:lnTo>
                <a:lnTo>
                  <a:pt x="4814731" y="31697"/>
                </a:lnTo>
                <a:lnTo>
                  <a:pt x="4851955" y="54794"/>
                </a:lnTo>
                <a:lnTo>
                  <a:pt x="4885055" y="83185"/>
                </a:lnTo>
                <a:lnTo>
                  <a:pt x="4913445" y="116284"/>
                </a:lnTo>
                <a:lnTo>
                  <a:pt x="4936542" y="153508"/>
                </a:lnTo>
                <a:lnTo>
                  <a:pt x="4953763" y="194275"/>
                </a:lnTo>
                <a:lnTo>
                  <a:pt x="4964523" y="238000"/>
                </a:lnTo>
                <a:lnTo>
                  <a:pt x="4968240" y="284099"/>
                </a:lnTo>
                <a:lnTo>
                  <a:pt x="4968240" y="1420241"/>
                </a:lnTo>
                <a:lnTo>
                  <a:pt x="4964523" y="1466339"/>
                </a:lnTo>
                <a:lnTo>
                  <a:pt x="4953763" y="1510064"/>
                </a:lnTo>
                <a:lnTo>
                  <a:pt x="4936542" y="1550831"/>
                </a:lnTo>
                <a:lnTo>
                  <a:pt x="4913445" y="1588055"/>
                </a:lnTo>
                <a:lnTo>
                  <a:pt x="4885055" y="1621155"/>
                </a:lnTo>
                <a:lnTo>
                  <a:pt x="4851955" y="1649545"/>
                </a:lnTo>
                <a:lnTo>
                  <a:pt x="4814731" y="1672642"/>
                </a:lnTo>
                <a:lnTo>
                  <a:pt x="4773964" y="1689863"/>
                </a:lnTo>
                <a:lnTo>
                  <a:pt x="4730239" y="1700623"/>
                </a:lnTo>
                <a:lnTo>
                  <a:pt x="4684141" y="1704340"/>
                </a:lnTo>
                <a:lnTo>
                  <a:pt x="284099" y="1704340"/>
                </a:lnTo>
                <a:lnTo>
                  <a:pt x="238000" y="1700623"/>
                </a:lnTo>
                <a:lnTo>
                  <a:pt x="194275" y="1689863"/>
                </a:lnTo>
                <a:lnTo>
                  <a:pt x="153508" y="1672642"/>
                </a:lnTo>
                <a:lnTo>
                  <a:pt x="116284" y="1649545"/>
                </a:lnTo>
                <a:lnTo>
                  <a:pt x="83184" y="1621154"/>
                </a:lnTo>
                <a:lnTo>
                  <a:pt x="54794" y="1588055"/>
                </a:lnTo>
                <a:lnTo>
                  <a:pt x="31697" y="1550831"/>
                </a:lnTo>
                <a:lnTo>
                  <a:pt x="14476" y="1510064"/>
                </a:lnTo>
                <a:lnTo>
                  <a:pt x="3716" y="1466339"/>
                </a:lnTo>
                <a:lnTo>
                  <a:pt x="0" y="1420241"/>
                </a:lnTo>
                <a:lnTo>
                  <a:pt x="0" y="284099"/>
                </a:lnTo>
                <a:close/>
              </a:path>
            </a:pathLst>
          </a:custGeom>
          <a:ln w="25399">
            <a:solidFill>
              <a:srgbClr val="00AFEF"/>
            </a:solidFill>
            <a:prstDash val="sysDash"/>
          </a:ln>
        </p:spPr>
        <p:txBody>
          <a:bodyPr wrap="square" lIns="0" tIns="0" rIns="0" bIns="0" rtlCol="0"/>
          <a:lstStyle/>
          <a:p>
            <a:endParaRPr sz="1600">
              <a:latin typeface="Montserrat" pitchFamily="2" charset="0"/>
            </a:endParaRPr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58987464-0474-7F8C-779B-FC491B6FF39A}"/>
              </a:ext>
            </a:extLst>
          </p:cNvPr>
          <p:cNvSpPr txBox="1"/>
          <p:nvPr/>
        </p:nvSpPr>
        <p:spPr>
          <a:xfrm>
            <a:off x="4242540" y="2986785"/>
            <a:ext cx="848994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Montserrat" pitchFamily="2" charset="0"/>
                <a:cs typeface="Arial"/>
              </a:rPr>
              <a:t>Protocol</a:t>
            </a:r>
            <a:endParaRPr sz="1400">
              <a:latin typeface="Montserrat" pitchFamily="2" charset="0"/>
              <a:cs typeface="Arial"/>
            </a:endParaRPr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8B11F1E5-4D48-0E3F-5321-EA41B5186A30}"/>
              </a:ext>
            </a:extLst>
          </p:cNvPr>
          <p:cNvSpPr txBox="1"/>
          <p:nvPr/>
        </p:nvSpPr>
        <p:spPr>
          <a:xfrm>
            <a:off x="4242540" y="3550920"/>
            <a:ext cx="814705" cy="62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400" b="1" dirty="0">
                <a:latin typeface="Montserrat" pitchFamily="2" charset="0"/>
                <a:cs typeface="Arial"/>
              </a:rPr>
              <a:t>Src</a:t>
            </a:r>
            <a:r>
              <a:rPr sz="1400" b="1" spc="-10" dirty="0">
                <a:latin typeface="Montserrat" pitchFamily="2" charset="0"/>
                <a:cs typeface="Arial"/>
              </a:rPr>
              <a:t> </a:t>
            </a:r>
            <a:r>
              <a:rPr sz="1400" b="1" spc="-20" dirty="0">
                <a:latin typeface="Montserrat" pitchFamily="2" charset="0"/>
                <a:cs typeface="Arial"/>
              </a:rPr>
              <a:t>Port </a:t>
            </a:r>
            <a:r>
              <a:rPr sz="1400" b="1" dirty="0">
                <a:latin typeface="Montserrat" pitchFamily="2" charset="0"/>
                <a:cs typeface="Arial"/>
              </a:rPr>
              <a:t>Dst</a:t>
            </a:r>
            <a:r>
              <a:rPr sz="1400" b="1" spc="-20" dirty="0">
                <a:latin typeface="Montserrat" pitchFamily="2" charset="0"/>
                <a:cs typeface="Arial"/>
              </a:rPr>
              <a:t> Port</a:t>
            </a:r>
            <a:endParaRPr sz="1400">
              <a:latin typeface="Montserrat" pitchFamily="2" charset="0"/>
              <a:cs typeface="Arial"/>
            </a:endParaRPr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4D7678E9-DBC2-42DF-3BE0-BAC192D5A65B}"/>
              </a:ext>
            </a:extLst>
          </p:cNvPr>
          <p:cNvSpPr txBox="1"/>
          <p:nvPr/>
        </p:nvSpPr>
        <p:spPr>
          <a:xfrm>
            <a:off x="5675354" y="2892932"/>
            <a:ext cx="3210560" cy="1232453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>
              <a:lnSpc>
                <a:spcPct val="160800"/>
              </a:lnSpc>
              <a:spcBef>
                <a:spcPts val="15"/>
              </a:spcBef>
            </a:pPr>
            <a:r>
              <a:rPr sz="1200" dirty="0">
                <a:latin typeface="Montserrat" pitchFamily="2" charset="0"/>
                <a:cs typeface="Arial MT"/>
              </a:rPr>
              <a:t>Merupakan</a:t>
            </a:r>
            <a:r>
              <a:rPr sz="1200" spc="-55" dirty="0">
                <a:latin typeface="Montserrat" pitchFamily="2" charset="0"/>
                <a:cs typeface="Arial MT"/>
              </a:rPr>
              <a:t> </a:t>
            </a:r>
            <a:r>
              <a:rPr sz="1200" dirty="0">
                <a:latin typeface="Montserrat" pitchFamily="2" charset="0"/>
                <a:cs typeface="Arial MT"/>
              </a:rPr>
              <a:t>protocol</a:t>
            </a:r>
            <a:r>
              <a:rPr sz="1200" spc="-45" dirty="0">
                <a:latin typeface="Montserrat" pitchFamily="2" charset="0"/>
                <a:cs typeface="Arial MT"/>
              </a:rPr>
              <a:t> </a:t>
            </a:r>
            <a:r>
              <a:rPr sz="1200" dirty="0">
                <a:latin typeface="Montserrat" pitchFamily="2" charset="0"/>
                <a:cs typeface="Arial MT"/>
              </a:rPr>
              <a:t>yang</a:t>
            </a:r>
            <a:r>
              <a:rPr sz="1200" spc="-30" dirty="0">
                <a:latin typeface="Montserrat" pitchFamily="2" charset="0"/>
                <a:cs typeface="Arial MT"/>
              </a:rPr>
              <a:t> </a:t>
            </a:r>
            <a:r>
              <a:rPr sz="1200" spc="-10" dirty="0">
                <a:latin typeface="Montserrat" pitchFamily="2" charset="0"/>
                <a:cs typeface="Arial MT"/>
              </a:rPr>
              <a:t>digunakan </a:t>
            </a:r>
            <a:r>
              <a:rPr sz="1200" dirty="0">
                <a:latin typeface="Montserrat" pitchFamily="2" charset="0"/>
                <a:cs typeface="Arial MT"/>
              </a:rPr>
              <a:t>seperti</a:t>
            </a:r>
            <a:r>
              <a:rPr sz="1200" spc="-15" dirty="0">
                <a:latin typeface="Montserrat" pitchFamily="2" charset="0"/>
                <a:cs typeface="Arial MT"/>
              </a:rPr>
              <a:t> </a:t>
            </a:r>
            <a:r>
              <a:rPr sz="1200" dirty="0">
                <a:latin typeface="Montserrat" pitchFamily="2" charset="0"/>
                <a:cs typeface="Arial MT"/>
              </a:rPr>
              <a:t>contoh</a:t>
            </a:r>
            <a:r>
              <a:rPr sz="1200" spc="-60" dirty="0">
                <a:latin typeface="Montserrat" pitchFamily="2" charset="0"/>
                <a:cs typeface="Arial MT"/>
              </a:rPr>
              <a:t> </a:t>
            </a:r>
            <a:r>
              <a:rPr sz="1200" dirty="0">
                <a:latin typeface="Montserrat" pitchFamily="2" charset="0"/>
                <a:cs typeface="Arial MT"/>
              </a:rPr>
              <a:t>TCP</a:t>
            </a:r>
            <a:r>
              <a:rPr sz="1200" spc="-60" dirty="0">
                <a:latin typeface="Montserrat" pitchFamily="2" charset="0"/>
                <a:cs typeface="Arial MT"/>
              </a:rPr>
              <a:t> </a:t>
            </a:r>
            <a:r>
              <a:rPr sz="1200" dirty="0">
                <a:latin typeface="Montserrat" pitchFamily="2" charset="0"/>
                <a:cs typeface="Arial MT"/>
              </a:rPr>
              <a:t>/</a:t>
            </a:r>
            <a:r>
              <a:rPr sz="1200" spc="-15" dirty="0">
                <a:latin typeface="Montserrat" pitchFamily="2" charset="0"/>
                <a:cs typeface="Arial MT"/>
              </a:rPr>
              <a:t> </a:t>
            </a:r>
            <a:r>
              <a:rPr sz="1200" dirty="0">
                <a:latin typeface="Montserrat" pitchFamily="2" charset="0"/>
                <a:cs typeface="Arial MT"/>
              </a:rPr>
              <a:t>UDP</a:t>
            </a:r>
            <a:r>
              <a:rPr sz="1200" spc="-60" dirty="0">
                <a:latin typeface="Montserrat" pitchFamily="2" charset="0"/>
                <a:cs typeface="Arial MT"/>
              </a:rPr>
              <a:t> </a:t>
            </a:r>
            <a:r>
              <a:rPr sz="1200" dirty="0">
                <a:latin typeface="Montserrat" pitchFamily="2" charset="0"/>
                <a:cs typeface="Arial MT"/>
              </a:rPr>
              <a:t>/</a:t>
            </a:r>
            <a:r>
              <a:rPr sz="1200" spc="-15" dirty="0">
                <a:latin typeface="Montserrat" pitchFamily="2" charset="0"/>
                <a:cs typeface="Arial MT"/>
              </a:rPr>
              <a:t> </a:t>
            </a:r>
            <a:r>
              <a:rPr sz="1200" spc="-20" dirty="0">
                <a:latin typeface="Montserrat" pitchFamily="2" charset="0"/>
                <a:cs typeface="Arial MT"/>
              </a:rPr>
              <a:t>ICMP </a:t>
            </a:r>
            <a:r>
              <a:rPr sz="1200" dirty="0">
                <a:latin typeface="Montserrat" pitchFamily="2" charset="0"/>
                <a:cs typeface="Arial MT"/>
              </a:rPr>
              <a:t>Merupakan</a:t>
            </a:r>
            <a:r>
              <a:rPr sz="1200" spc="-35" dirty="0">
                <a:latin typeface="Montserrat" pitchFamily="2" charset="0"/>
                <a:cs typeface="Arial MT"/>
              </a:rPr>
              <a:t> </a:t>
            </a:r>
            <a:r>
              <a:rPr sz="1200" dirty="0">
                <a:latin typeface="Montserrat" pitchFamily="2" charset="0"/>
                <a:cs typeface="Arial MT"/>
              </a:rPr>
              <a:t>port</a:t>
            </a:r>
            <a:r>
              <a:rPr sz="1200" spc="-30" dirty="0">
                <a:latin typeface="Montserrat" pitchFamily="2" charset="0"/>
                <a:cs typeface="Arial MT"/>
              </a:rPr>
              <a:t> </a:t>
            </a:r>
            <a:r>
              <a:rPr sz="1200" dirty="0">
                <a:latin typeface="Montserrat" pitchFamily="2" charset="0"/>
                <a:cs typeface="Arial MT"/>
              </a:rPr>
              <a:t>sumber</a:t>
            </a:r>
            <a:r>
              <a:rPr sz="1200" spc="-70" dirty="0">
                <a:latin typeface="Montserrat" pitchFamily="2" charset="0"/>
                <a:cs typeface="Arial MT"/>
              </a:rPr>
              <a:t> </a:t>
            </a:r>
            <a:r>
              <a:rPr sz="1200" dirty="0">
                <a:latin typeface="Montserrat" pitchFamily="2" charset="0"/>
                <a:cs typeface="Arial MT"/>
              </a:rPr>
              <a:t>yang</a:t>
            </a:r>
            <a:r>
              <a:rPr sz="1200" spc="10" dirty="0">
                <a:latin typeface="Montserrat" pitchFamily="2" charset="0"/>
                <a:cs typeface="Arial MT"/>
              </a:rPr>
              <a:t> </a:t>
            </a:r>
            <a:r>
              <a:rPr sz="1200" spc="-10" dirty="0">
                <a:latin typeface="Montserrat" pitchFamily="2" charset="0"/>
                <a:cs typeface="Arial MT"/>
              </a:rPr>
              <a:t>digunakan</a:t>
            </a:r>
            <a:endParaRPr sz="1200">
              <a:latin typeface="Montserrat" pitchFamily="2" charset="0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200" dirty="0">
                <a:latin typeface="Montserrat" pitchFamily="2" charset="0"/>
                <a:cs typeface="Arial MT"/>
              </a:rPr>
              <a:t>Merupakan</a:t>
            </a:r>
            <a:r>
              <a:rPr sz="1200" spc="-45" dirty="0">
                <a:latin typeface="Montserrat" pitchFamily="2" charset="0"/>
                <a:cs typeface="Arial MT"/>
              </a:rPr>
              <a:t> </a:t>
            </a:r>
            <a:r>
              <a:rPr sz="1200" dirty="0">
                <a:latin typeface="Montserrat" pitchFamily="2" charset="0"/>
                <a:cs typeface="Arial MT"/>
              </a:rPr>
              <a:t>port</a:t>
            </a:r>
            <a:r>
              <a:rPr sz="1200" spc="-40" dirty="0">
                <a:latin typeface="Montserrat" pitchFamily="2" charset="0"/>
                <a:cs typeface="Arial MT"/>
              </a:rPr>
              <a:t> </a:t>
            </a:r>
            <a:r>
              <a:rPr sz="1200" dirty="0">
                <a:latin typeface="Montserrat" pitchFamily="2" charset="0"/>
                <a:cs typeface="Arial MT"/>
              </a:rPr>
              <a:t>tujuan</a:t>
            </a:r>
            <a:r>
              <a:rPr sz="1200" spc="-40" dirty="0">
                <a:latin typeface="Montserrat" pitchFamily="2" charset="0"/>
                <a:cs typeface="Arial MT"/>
              </a:rPr>
              <a:t> </a:t>
            </a:r>
            <a:r>
              <a:rPr sz="1200" dirty="0">
                <a:latin typeface="Montserrat" pitchFamily="2" charset="0"/>
                <a:cs typeface="Arial MT"/>
              </a:rPr>
              <a:t>yang </a:t>
            </a:r>
            <a:r>
              <a:rPr sz="1200" spc="-10" dirty="0">
                <a:latin typeface="Montserrat" pitchFamily="2" charset="0"/>
                <a:cs typeface="Arial MT"/>
              </a:rPr>
              <a:t>digunakan</a:t>
            </a:r>
            <a:endParaRPr sz="1200">
              <a:latin typeface="Montserrat" pitchFamily="2" charset="0"/>
              <a:cs typeface="Arial MT"/>
            </a:endParaRPr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15580040-223B-C996-851A-B2A68674243A}"/>
              </a:ext>
            </a:extLst>
          </p:cNvPr>
          <p:cNvSpPr/>
          <p:nvPr/>
        </p:nvSpPr>
        <p:spPr>
          <a:xfrm>
            <a:off x="4079600" y="4648200"/>
            <a:ext cx="4968240" cy="1534160"/>
          </a:xfrm>
          <a:custGeom>
            <a:avLst/>
            <a:gdLst/>
            <a:ahLst/>
            <a:cxnLst/>
            <a:rect l="l" t="t" r="r" b="b"/>
            <a:pathLst>
              <a:path w="4968240" h="1534160">
                <a:moveTo>
                  <a:pt x="0" y="255650"/>
                </a:moveTo>
                <a:lnTo>
                  <a:pt x="4117" y="209689"/>
                </a:lnTo>
                <a:lnTo>
                  <a:pt x="15990" y="166433"/>
                </a:lnTo>
                <a:lnTo>
                  <a:pt x="34896" y="126604"/>
                </a:lnTo>
                <a:lnTo>
                  <a:pt x="60115" y="90925"/>
                </a:lnTo>
                <a:lnTo>
                  <a:pt x="90925" y="60115"/>
                </a:lnTo>
                <a:lnTo>
                  <a:pt x="126604" y="34896"/>
                </a:lnTo>
                <a:lnTo>
                  <a:pt x="166433" y="15990"/>
                </a:lnTo>
                <a:lnTo>
                  <a:pt x="209689" y="4117"/>
                </a:lnTo>
                <a:lnTo>
                  <a:pt x="255650" y="0"/>
                </a:lnTo>
                <a:lnTo>
                  <a:pt x="4712589" y="0"/>
                </a:lnTo>
                <a:lnTo>
                  <a:pt x="4758550" y="4117"/>
                </a:lnTo>
                <a:lnTo>
                  <a:pt x="4801806" y="15990"/>
                </a:lnTo>
                <a:lnTo>
                  <a:pt x="4841635" y="34896"/>
                </a:lnTo>
                <a:lnTo>
                  <a:pt x="4877314" y="60115"/>
                </a:lnTo>
                <a:lnTo>
                  <a:pt x="4908124" y="90925"/>
                </a:lnTo>
                <a:lnTo>
                  <a:pt x="4933343" y="126604"/>
                </a:lnTo>
                <a:lnTo>
                  <a:pt x="4952249" y="166433"/>
                </a:lnTo>
                <a:lnTo>
                  <a:pt x="4964122" y="209689"/>
                </a:lnTo>
                <a:lnTo>
                  <a:pt x="4968240" y="255650"/>
                </a:lnTo>
                <a:lnTo>
                  <a:pt x="4968240" y="1278458"/>
                </a:lnTo>
                <a:lnTo>
                  <a:pt x="4964122" y="1324421"/>
                </a:lnTo>
                <a:lnTo>
                  <a:pt x="4952249" y="1367682"/>
                </a:lnTo>
                <a:lnTo>
                  <a:pt x="4933343" y="1407517"/>
                </a:lnTo>
                <a:lnTo>
                  <a:pt x="4908124" y="1443205"/>
                </a:lnTo>
                <a:lnTo>
                  <a:pt x="4877314" y="1474023"/>
                </a:lnTo>
                <a:lnTo>
                  <a:pt x="4841635" y="1499250"/>
                </a:lnTo>
                <a:lnTo>
                  <a:pt x="4801806" y="1518163"/>
                </a:lnTo>
                <a:lnTo>
                  <a:pt x="4758550" y="1530040"/>
                </a:lnTo>
                <a:lnTo>
                  <a:pt x="4712589" y="1534160"/>
                </a:lnTo>
                <a:lnTo>
                  <a:pt x="255650" y="1534160"/>
                </a:lnTo>
                <a:lnTo>
                  <a:pt x="209689" y="1530040"/>
                </a:lnTo>
                <a:lnTo>
                  <a:pt x="166433" y="1518163"/>
                </a:lnTo>
                <a:lnTo>
                  <a:pt x="126604" y="1499250"/>
                </a:lnTo>
                <a:lnTo>
                  <a:pt x="90925" y="1474023"/>
                </a:lnTo>
                <a:lnTo>
                  <a:pt x="60115" y="1443205"/>
                </a:lnTo>
                <a:lnTo>
                  <a:pt x="34896" y="1407517"/>
                </a:lnTo>
                <a:lnTo>
                  <a:pt x="15990" y="1367682"/>
                </a:lnTo>
                <a:lnTo>
                  <a:pt x="4117" y="1324421"/>
                </a:lnTo>
                <a:lnTo>
                  <a:pt x="0" y="1278458"/>
                </a:lnTo>
                <a:lnTo>
                  <a:pt x="0" y="255650"/>
                </a:lnTo>
                <a:close/>
              </a:path>
            </a:pathLst>
          </a:custGeom>
          <a:ln w="25400">
            <a:solidFill>
              <a:srgbClr val="00AFEF"/>
            </a:solidFill>
            <a:prstDash val="sysDash"/>
          </a:ln>
        </p:spPr>
        <p:txBody>
          <a:bodyPr wrap="square" lIns="0" tIns="0" rIns="0" bIns="0" rtlCol="0"/>
          <a:lstStyle/>
          <a:p>
            <a:endParaRPr sz="1600">
              <a:latin typeface="Montserrat" pitchFamily="2" charset="0"/>
            </a:endParaRPr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02A0192B-FE26-AE97-3195-B5F84D370176}"/>
              </a:ext>
            </a:extLst>
          </p:cNvPr>
          <p:cNvSpPr txBox="1"/>
          <p:nvPr/>
        </p:nvSpPr>
        <p:spPr>
          <a:xfrm>
            <a:off x="4233904" y="4829873"/>
            <a:ext cx="110934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Montserrat" pitchFamily="2" charset="0"/>
                <a:cs typeface="Arial"/>
              </a:rPr>
              <a:t>In </a:t>
            </a:r>
            <a:r>
              <a:rPr sz="1400" b="1" spc="-10" dirty="0">
                <a:latin typeface="Montserrat" pitchFamily="2" charset="0"/>
                <a:cs typeface="Arial"/>
              </a:rPr>
              <a:t>Interface</a:t>
            </a:r>
            <a:endParaRPr sz="1400">
              <a:latin typeface="Montserrat" pitchFamily="2" charset="0"/>
              <a:cs typeface="Arial"/>
            </a:endParaRPr>
          </a:p>
        </p:txBody>
      </p:sp>
      <p:sp>
        <p:nvSpPr>
          <p:cNvPr id="16" name="object 15">
            <a:extLst>
              <a:ext uri="{FF2B5EF4-FFF2-40B4-BE49-F238E27FC236}">
                <a16:creationId xmlns:a16="http://schemas.microsoft.com/office/drawing/2014/main" id="{64B8AA40-F5C3-2B60-9B1B-E8FE0C70B007}"/>
              </a:ext>
            </a:extLst>
          </p:cNvPr>
          <p:cNvSpPr txBox="1"/>
          <p:nvPr/>
        </p:nvSpPr>
        <p:spPr>
          <a:xfrm>
            <a:off x="4233904" y="5516245"/>
            <a:ext cx="127825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Montserrat" pitchFamily="2" charset="0"/>
                <a:cs typeface="Arial"/>
              </a:rPr>
              <a:t>Out</a:t>
            </a:r>
            <a:r>
              <a:rPr sz="1400" b="1" spc="-15" dirty="0">
                <a:latin typeface="Montserrat" pitchFamily="2" charset="0"/>
                <a:cs typeface="Arial"/>
              </a:rPr>
              <a:t> </a:t>
            </a:r>
            <a:r>
              <a:rPr sz="1400" b="1" spc="-10" dirty="0">
                <a:latin typeface="Montserrat" pitchFamily="2" charset="0"/>
                <a:cs typeface="Arial"/>
              </a:rPr>
              <a:t>Interface</a:t>
            </a:r>
            <a:endParaRPr sz="1400">
              <a:latin typeface="Montserrat" pitchFamily="2" charset="0"/>
              <a:cs typeface="Arial"/>
            </a:endParaRPr>
          </a:p>
        </p:txBody>
      </p:sp>
      <p:sp>
        <p:nvSpPr>
          <p:cNvPr id="17" name="object 16">
            <a:extLst>
              <a:ext uri="{FF2B5EF4-FFF2-40B4-BE49-F238E27FC236}">
                <a16:creationId xmlns:a16="http://schemas.microsoft.com/office/drawing/2014/main" id="{5B790D4F-1743-9585-FB71-9A879D2A3669}"/>
              </a:ext>
            </a:extLst>
          </p:cNvPr>
          <p:cNvSpPr txBox="1"/>
          <p:nvPr/>
        </p:nvSpPr>
        <p:spPr>
          <a:xfrm>
            <a:off x="5666846" y="4735489"/>
            <a:ext cx="2934970" cy="1186607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200" dirty="0">
                <a:latin typeface="Montserrat" pitchFamily="2" charset="0"/>
                <a:cs typeface="Arial MT"/>
              </a:rPr>
              <a:t>Interface</a:t>
            </a:r>
            <a:r>
              <a:rPr sz="1200" spc="-35" dirty="0">
                <a:latin typeface="Montserrat" pitchFamily="2" charset="0"/>
                <a:cs typeface="Arial MT"/>
              </a:rPr>
              <a:t> </a:t>
            </a:r>
            <a:r>
              <a:rPr sz="1200" dirty="0">
                <a:latin typeface="Montserrat" pitchFamily="2" charset="0"/>
                <a:cs typeface="Arial MT"/>
              </a:rPr>
              <a:t>yang</a:t>
            </a:r>
            <a:r>
              <a:rPr sz="1200" spc="-45" dirty="0">
                <a:latin typeface="Montserrat" pitchFamily="2" charset="0"/>
                <a:cs typeface="Arial MT"/>
              </a:rPr>
              <a:t> </a:t>
            </a:r>
            <a:r>
              <a:rPr sz="1200" dirty="0">
                <a:latin typeface="Montserrat" pitchFamily="2" charset="0"/>
                <a:cs typeface="Arial MT"/>
              </a:rPr>
              <a:t>digunakan</a:t>
            </a:r>
            <a:r>
              <a:rPr sz="1200" spc="-50" dirty="0">
                <a:latin typeface="Montserrat" pitchFamily="2" charset="0"/>
                <a:cs typeface="Arial MT"/>
              </a:rPr>
              <a:t> </a:t>
            </a:r>
            <a:r>
              <a:rPr sz="1200" dirty="0">
                <a:latin typeface="Montserrat" pitchFamily="2" charset="0"/>
                <a:cs typeface="Arial MT"/>
              </a:rPr>
              <a:t>untuk</a:t>
            </a:r>
            <a:r>
              <a:rPr sz="1200" spc="-35" dirty="0">
                <a:latin typeface="Montserrat" pitchFamily="2" charset="0"/>
                <a:cs typeface="Arial MT"/>
              </a:rPr>
              <a:t> </a:t>
            </a:r>
            <a:r>
              <a:rPr sz="1200" spc="-10" dirty="0">
                <a:latin typeface="Montserrat" pitchFamily="2" charset="0"/>
                <a:cs typeface="Arial MT"/>
              </a:rPr>
              <a:t>trafik</a:t>
            </a:r>
            <a:endParaRPr sz="1200">
              <a:latin typeface="Montserrat" pitchFamily="2" charset="0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200" dirty="0">
                <a:latin typeface="Montserrat" pitchFamily="2" charset="0"/>
                <a:cs typeface="Arial MT"/>
              </a:rPr>
              <a:t>datang</a:t>
            </a:r>
            <a:r>
              <a:rPr sz="1200" spc="-35" dirty="0">
                <a:latin typeface="Montserrat" pitchFamily="2" charset="0"/>
                <a:cs typeface="Arial MT"/>
              </a:rPr>
              <a:t> </a:t>
            </a:r>
            <a:r>
              <a:rPr sz="1200" dirty="0">
                <a:latin typeface="Montserrat" pitchFamily="2" charset="0"/>
                <a:cs typeface="Arial MT"/>
              </a:rPr>
              <a:t>dari</a:t>
            </a:r>
            <a:r>
              <a:rPr sz="1200" spc="-35" dirty="0">
                <a:latin typeface="Montserrat" pitchFamily="2" charset="0"/>
                <a:cs typeface="Arial MT"/>
              </a:rPr>
              <a:t> </a:t>
            </a:r>
            <a:r>
              <a:rPr sz="1200" dirty="0">
                <a:latin typeface="Montserrat" pitchFamily="2" charset="0"/>
                <a:cs typeface="Arial MT"/>
              </a:rPr>
              <a:t>internet</a:t>
            </a:r>
            <a:r>
              <a:rPr sz="1200" spc="-25" dirty="0">
                <a:latin typeface="Montserrat" pitchFamily="2" charset="0"/>
                <a:cs typeface="Arial MT"/>
              </a:rPr>
              <a:t> </a:t>
            </a:r>
            <a:r>
              <a:rPr sz="1200" dirty="0">
                <a:latin typeface="Montserrat" pitchFamily="2" charset="0"/>
                <a:cs typeface="Arial MT"/>
              </a:rPr>
              <a:t>ke</a:t>
            </a:r>
            <a:r>
              <a:rPr sz="1200" spc="-20" dirty="0">
                <a:latin typeface="Montserrat" pitchFamily="2" charset="0"/>
                <a:cs typeface="Arial MT"/>
              </a:rPr>
              <a:t> </a:t>
            </a:r>
            <a:r>
              <a:rPr sz="1200" spc="-25" dirty="0">
                <a:latin typeface="Montserrat" pitchFamily="2" charset="0"/>
                <a:cs typeface="Arial MT"/>
              </a:rPr>
              <a:t>LAN</a:t>
            </a:r>
            <a:endParaRPr sz="1200">
              <a:latin typeface="Montserrat" pitchFamily="2" charset="0"/>
              <a:cs typeface="Arial MT"/>
            </a:endParaRPr>
          </a:p>
          <a:p>
            <a:pPr marL="12700" marR="5080">
              <a:lnSpc>
                <a:spcPct val="156100"/>
              </a:lnSpc>
              <a:spcBef>
                <a:spcPts val="160"/>
              </a:spcBef>
            </a:pPr>
            <a:r>
              <a:rPr sz="1200" dirty="0">
                <a:latin typeface="Montserrat" pitchFamily="2" charset="0"/>
                <a:cs typeface="Arial MT"/>
              </a:rPr>
              <a:t>Interface</a:t>
            </a:r>
            <a:r>
              <a:rPr sz="1200" spc="-20" dirty="0">
                <a:latin typeface="Montserrat" pitchFamily="2" charset="0"/>
                <a:cs typeface="Arial MT"/>
              </a:rPr>
              <a:t> </a:t>
            </a:r>
            <a:r>
              <a:rPr sz="1200" dirty="0">
                <a:latin typeface="Montserrat" pitchFamily="2" charset="0"/>
                <a:cs typeface="Arial MT"/>
              </a:rPr>
              <a:t>yang</a:t>
            </a:r>
            <a:r>
              <a:rPr sz="1200" spc="-35" dirty="0">
                <a:latin typeface="Montserrat" pitchFamily="2" charset="0"/>
                <a:cs typeface="Arial MT"/>
              </a:rPr>
              <a:t> </a:t>
            </a:r>
            <a:r>
              <a:rPr sz="1200" dirty="0">
                <a:latin typeface="Montserrat" pitchFamily="2" charset="0"/>
                <a:cs typeface="Arial MT"/>
              </a:rPr>
              <a:t>digunakan</a:t>
            </a:r>
            <a:r>
              <a:rPr sz="1200" spc="-45" dirty="0">
                <a:latin typeface="Montserrat" pitchFamily="2" charset="0"/>
                <a:cs typeface="Arial MT"/>
              </a:rPr>
              <a:t> </a:t>
            </a:r>
            <a:r>
              <a:rPr sz="1200" dirty="0">
                <a:latin typeface="Montserrat" pitchFamily="2" charset="0"/>
                <a:cs typeface="Arial MT"/>
              </a:rPr>
              <a:t>untuk</a:t>
            </a:r>
            <a:r>
              <a:rPr sz="1200" spc="-25" dirty="0">
                <a:latin typeface="Montserrat" pitchFamily="2" charset="0"/>
                <a:cs typeface="Arial MT"/>
              </a:rPr>
              <a:t> </a:t>
            </a:r>
            <a:r>
              <a:rPr sz="1200" spc="-10" dirty="0">
                <a:latin typeface="Montserrat" pitchFamily="2" charset="0"/>
                <a:cs typeface="Arial MT"/>
              </a:rPr>
              <a:t>trafik </a:t>
            </a:r>
            <a:r>
              <a:rPr sz="1200" dirty="0">
                <a:latin typeface="Montserrat" pitchFamily="2" charset="0"/>
                <a:cs typeface="Arial MT"/>
              </a:rPr>
              <a:t>keluar</a:t>
            </a:r>
            <a:r>
              <a:rPr sz="1200" spc="-55" dirty="0">
                <a:latin typeface="Montserrat" pitchFamily="2" charset="0"/>
                <a:cs typeface="Arial MT"/>
              </a:rPr>
              <a:t> </a:t>
            </a:r>
            <a:r>
              <a:rPr sz="1200" dirty="0">
                <a:latin typeface="Montserrat" pitchFamily="2" charset="0"/>
                <a:cs typeface="Arial MT"/>
              </a:rPr>
              <a:t>dari</a:t>
            </a:r>
            <a:r>
              <a:rPr sz="1200" spc="-15" dirty="0">
                <a:latin typeface="Montserrat" pitchFamily="2" charset="0"/>
                <a:cs typeface="Arial MT"/>
              </a:rPr>
              <a:t> </a:t>
            </a:r>
            <a:r>
              <a:rPr sz="1200" dirty="0">
                <a:latin typeface="Montserrat" pitchFamily="2" charset="0"/>
                <a:cs typeface="Arial MT"/>
              </a:rPr>
              <a:t>LAN</a:t>
            </a:r>
            <a:r>
              <a:rPr sz="1200" spc="-15" dirty="0">
                <a:latin typeface="Montserrat" pitchFamily="2" charset="0"/>
                <a:cs typeface="Arial MT"/>
              </a:rPr>
              <a:t> </a:t>
            </a:r>
            <a:r>
              <a:rPr sz="1200" dirty="0">
                <a:latin typeface="Montserrat" pitchFamily="2" charset="0"/>
                <a:cs typeface="Arial MT"/>
              </a:rPr>
              <a:t>ke</a:t>
            </a:r>
            <a:r>
              <a:rPr sz="1200" spc="-20" dirty="0">
                <a:latin typeface="Montserrat" pitchFamily="2" charset="0"/>
                <a:cs typeface="Arial MT"/>
              </a:rPr>
              <a:t> </a:t>
            </a:r>
            <a:r>
              <a:rPr sz="1200" spc="-10" dirty="0">
                <a:latin typeface="Montserrat" pitchFamily="2" charset="0"/>
                <a:cs typeface="Arial MT"/>
              </a:rPr>
              <a:t>internet</a:t>
            </a:r>
            <a:endParaRPr sz="1200">
              <a:latin typeface="Montserrat" pitchFamily="2" charset="0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8058204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FFDAC-16DE-365C-999D-E4C331CAA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4FC1C06B-B3B0-39F3-2E23-3CE8F39E64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54861" y="273684"/>
            <a:ext cx="6522339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b="1" dirty="0" err="1">
                <a:latin typeface="Montserrat" pitchFamily="2" charset="0"/>
              </a:rPr>
              <a:t>Penggunaan</a:t>
            </a:r>
            <a:r>
              <a:rPr lang="en-US" b="1" dirty="0">
                <a:latin typeface="Montserrat" pitchFamily="2" charset="0"/>
              </a:rPr>
              <a:t> Firewall Filter - THEN</a:t>
            </a:r>
            <a:endParaRPr b="1" dirty="0">
              <a:latin typeface="Montserrat" pitchFamily="2" charset="0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D0393B3-5E2B-C71E-797A-2223A9762873}"/>
              </a:ext>
            </a:extLst>
          </p:cNvPr>
          <p:cNvGrpSpPr/>
          <p:nvPr/>
        </p:nvGrpSpPr>
        <p:grpSpPr>
          <a:xfrm>
            <a:off x="327470" y="838200"/>
            <a:ext cx="6682930" cy="3746538"/>
            <a:chOff x="76200" y="810238"/>
            <a:chExt cx="7749730" cy="3746538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0AFF729-0CA5-CF25-0BC1-66EB087AE609}"/>
                </a:ext>
              </a:extLst>
            </p:cNvPr>
            <p:cNvSpPr/>
            <p:nvPr/>
          </p:nvSpPr>
          <p:spPr>
            <a:xfrm>
              <a:off x="76200" y="810238"/>
              <a:ext cx="1600200" cy="374653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 algn="just">
                <a:lnSpc>
                  <a:spcPct val="250000"/>
                </a:lnSpc>
                <a:buFont typeface="Wingdings" pitchFamily="2" charset="2"/>
                <a:buChar char="v"/>
              </a:pPr>
              <a:r>
                <a:rPr lang="en-US" sz="1600" b="1" dirty="0">
                  <a:latin typeface="Montserrat" pitchFamily="2" charset="0"/>
                  <a:ea typeface="Open Sans" pitchFamily="34" charset="0"/>
                  <a:cs typeface="Open Sans" pitchFamily="34" charset="0"/>
                </a:rPr>
                <a:t>ACCEPT</a:t>
              </a:r>
            </a:p>
            <a:p>
              <a:pPr marL="285750" indent="-285750" algn="just">
                <a:lnSpc>
                  <a:spcPct val="250000"/>
                </a:lnSpc>
                <a:buFont typeface="Wingdings" pitchFamily="2" charset="2"/>
                <a:buChar char="v"/>
              </a:pPr>
              <a:r>
                <a:rPr lang="en-US" sz="1600" b="1" dirty="0">
                  <a:latin typeface="Montserrat" pitchFamily="2" charset="0"/>
                  <a:ea typeface="Open Sans" pitchFamily="34" charset="0"/>
                  <a:cs typeface="Open Sans" pitchFamily="34" charset="0"/>
                </a:rPr>
                <a:t>DROP</a:t>
              </a:r>
            </a:p>
            <a:p>
              <a:pPr marL="285750" indent="-285750" algn="just">
                <a:lnSpc>
                  <a:spcPct val="250000"/>
                </a:lnSpc>
                <a:buFont typeface="Wingdings" pitchFamily="2" charset="2"/>
                <a:buChar char="v"/>
              </a:pPr>
              <a:r>
                <a:rPr lang="en-US" sz="1600" b="1" dirty="0">
                  <a:latin typeface="Montserrat" pitchFamily="2" charset="0"/>
                  <a:ea typeface="Open Sans" pitchFamily="34" charset="0"/>
                  <a:cs typeface="Open Sans" pitchFamily="34" charset="0"/>
                </a:rPr>
                <a:t>REJECT</a:t>
              </a:r>
            </a:p>
            <a:p>
              <a:pPr marL="285750" indent="-285750" algn="just">
                <a:lnSpc>
                  <a:spcPct val="250000"/>
                </a:lnSpc>
                <a:buFont typeface="Wingdings" pitchFamily="2" charset="2"/>
                <a:buChar char="v"/>
              </a:pPr>
              <a:r>
                <a:rPr lang="en-US" sz="1600" b="1" dirty="0">
                  <a:latin typeface="Montserrat" pitchFamily="2" charset="0"/>
                  <a:ea typeface="Open Sans" pitchFamily="34" charset="0"/>
                  <a:cs typeface="Open Sans" pitchFamily="34" charset="0"/>
                </a:rPr>
                <a:t>JUMP</a:t>
              </a:r>
            </a:p>
            <a:p>
              <a:pPr marL="285750" indent="-285750" algn="just">
                <a:lnSpc>
                  <a:spcPct val="250000"/>
                </a:lnSpc>
                <a:buFont typeface="Wingdings" pitchFamily="2" charset="2"/>
                <a:buChar char="v"/>
              </a:pPr>
              <a:r>
                <a:rPr lang="en-US" sz="1600" b="1" dirty="0">
                  <a:latin typeface="Montserrat" pitchFamily="2" charset="0"/>
                  <a:ea typeface="Open Sans" pitchFamily="34" charset="0"/>
                  <a:cs typeface="Open Sans" pitchFamily="34" charset="0"/>
                </a:rPr>
                <a:t>TARPIT</a:t>
              </a:r>
            </a:p>
            <a:p>
              <a:pPr marL="285750" indent="-285750" algn="just">
                <a:lnSpc>
                  <a:spcPct val="250000"/>
                </a:lnSpc>
                <a:buFont typeface="Wingdings" pitchFamily="2" charset="2"/>
                <a:buChar char="v"/>
              </a:pPr>
              <a:r>
                <a:rPr lang="en-US" sz="1600" b="1" dirty="0">
                  <a:latin typeface="Montserrat" pitchFamily="2" charset="0"/>
                  <a:ea typeface="Open Sans" pitchFamily="34" charset="0"/>
                  <a:cs typeface="Open Sans" pitchFamily="34" charset="0"/>
                </a:rPr>
                <a:t>LOG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57211A0-D22E-8AF8-651E-6F2C589FD43D}"/>
                </a:ext>
              </a:extLst>
            </p:cNvPr>
            <p:cNvSpPr/>
            <p:nvPr/>
          </p:nvSpPr>
          <p:spPr>
            <a:xfrm>
              <a:off x="1806130" y="924498"/>
              <a:ext cx="6019800" cy="44460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250000"/>
                </a:lnSpc>
              </a:pPr>
              <a:r>
                <a:rPr lang="en-US" sz="1100" dirty="0">
                  <a:latin typeface="Montserrat" pitchFamily="2" charset="0"/>
                  <a:ea typeface="Open Sans" pitchFamily="34" charset="0"/>
                  <a:cs typeface="Open Sans" pitchFamily="34" charset="0"/>
                </a:rPr>
                <a:t>Paket </a:t>
              </a:r>
              <a:r>
                <a:rPr lang="en-US" sz="1100" dirty="0" err="1">
                  <a:latin typeface="Montserrat" pitchFamily="2" charset="0"/>
                  <a:ea typeface="Open Sans" pitchFamily="34" charset="0"/>
                  <a:cs typeface="Open Sans" pitchFamily="34" charset="0"/>
                </a:rPr>
                <a:t>diterima</a:t>
              </a:r>
              <a:r>
                <a:rPr lang="en-US" sz="1100" dirty="0">
                  <a:latin typeface="Montserrat" pitchFamily="2" charset="0"/>
                  <a:ea typeface="Open Sans" pitchFamily="34" charset="0"/>
                  <a:cs typeface="Open Sans" pitchFamily="34" charset="0"/>
                </a:rPr>
                <a:t> dan </a:t>
              </a:r>
              <a:r>
                <a:rPr lang="en-US" sz="1100" dirty="0" err="1">
                  <a:latin typeface="Montserrat" pitchFamily="2" charset="0"/>
                  <a:ea typeface="Open Sans" pitchFamily="34" charset="0"/>
                  <a:cs typeface="Open Sans" pitchFamily="34" charset="0"/>
                </a:rPr>
                <a:t>tidak</a:t>
              </a:r>
              <a:r>
                <a:rPr lang="en-US" sz="1100" dirty="0">
                  <a:latin typeface="Montserrat" pitchFamily="2" charset="0"/>
                  <a:ea typeface="Open Sans" pitchFamily="34" charset="0"/>
                  <a:cs typeface="Open Sans" pitchFamily="34" charset="0"/>
                </a:rPr>
                <a:t> </a:t>
              </a:r>
              <a:r>
                <a:rPr lang="en-US" sz="1100" dirty="0" err="1">
                  <a:latin typeface="Montserrat" pitchFamily="2" charset="0"/>
                  <a:ea typeface="Open Sans" pitchFamily="34" charset="0"/>
                  <a:cs typeface="Open Sans" pitchFamily="34" charset="0"/>
                </a:rPr>
                <a:t>melanjukan</a:t>
              </a:r>
              <a:r>
                <a:rPr lang="en-US" sz="1100" dirty="0">
                  <a:latin typeface="Montserrat" pitchFamily="2" charset="0"/>
                  <a:ea typeface="Open Sans" pitchFamily="34" charset="0"/>
                  <a:cs typeface="Open Sans" pitchFamily="34" charset="0"/>
                </a:rPr>
                <a:t> </a:t>
              </a:r>
              <a:r>
                <a:rPr lang="en-US" sz="1100" dirty="0" err="1">
                  <a:latin typeface="Montserrat" pitchFamily="2" charset="0"/>
                  <a:ea typeface="Open Sans" pitchFamily="34" charset="0"/>
                  <a:cs typeface="Open Sans" pitchFamily="34" charset="0"/>
                </a:rPr>
                <a:t>membaca</a:t>
              </a:r>
              <a:r>
                <a:rPr lang="en-US" sz="1100" dirty="0">
                  <a:latin typeface="Montserrat" pitchFamily="2" charset="0"/>
                  <a:ea typeface="Open Sans" pitchFamily="34" charset="0"/>
                  <a:cs typeface="Open Sans" pitchFamily="34" charset="0"/>
                </a:rPr>
                <a:t> baris berikut.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CDF9C59-409A-DDEB-3E10-543A80B8FD31}"/>
                </a:ext>
              </a:extLst>
            </p:cNvPr>
            <p:cNvSpPr/>
            <p:nvPr/>
          </p:nvSpPr>
          <p:spPr>
            <a:xfrm>
              <a:off x="1806130" y="1356437"/>
              <a:ext cx="6019800" cy="44460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250000"/>
                </a:lnSpc>
              </a:pPr>
              <a:r>
                <a:rPr lang="en-US" sz="1100" dirty="0" err="1">
                  <a:latin typeface="Montserrat" pitchFamily="2" charset="0"/>
                  <a:ea typeface="Open Sans" pitchFamily="34" charset="0"/>
                  <a:cs typeface="Open Sans" pitchFamily="34" charset="0"/>
                </a:rPr>
                <a:t>Menolak</a:t>
              </a:r>
              <a:r>
                <a:rPr lang="en-US" sz="1100" dirty="0">
                  <a:latin typeface="Montserrat" pitchFamily="2" charset="0"/>
                  <a:ea typeface="Open Sans" pitchFamily="34" charset="0"/>
                  <a:cs typeface="Open Sans" pitchFamily="34" charset="0"/>
                </a:rPr>
                <a:t> </a:t>
              </a:r>
              <a:r>
                <a:rPr lang="en-US" sz="1100" dirty="0" err="1">
                  <a:latin typeface="Montserrat" pitchFamily="2" charset="0"/>
                  <a:ea typeface="Open Sans" pitchFamily="34" charset="0"/>
                  <a:cs typeface="Open Sans" pitchFamily="34" charset="0"/>
                </a:rPr>
                <a:t>paket</a:t>
              </a:r>
              <a:r>
                <a:rPr lang="en-US" sz="1100" dirty="0">
                  <a:latin typeface="Montserrat" pitchFamily="2" charset="0"/>
                  <a:ea typeface="Open Sans" pitchFamily="34" charset="0"/>
                  <a:cs typeface="Open Sans" pitchFamily="34" charset="0"/>
                </a:rPr>
                <a:t> </a:t>
              </a:r>
              <a:r>
                <a:rPr lang="en-US" sz="1100" dirty="0" err="1">
                  <a:latin typeface="Montserrat" pitchFamily="2" charset="0"/>
                  <a:ea typeface="Open Sans" pitchFamily="34" charset="0"/>
                  <a:cs typeface="Open Sans" pitchFamily="34" charset="0"/>
                </a:rPr>
                <a:t>secara</a:t>
              </a:r>
              <a:r>
                <a:rPr lang="en-US" sz="1100" dirty="0">
                  <a:latin typeface="Montserrat" pitchFamily="2" charset="0"/>
                  <a:ea typeface="Open Sans" pitchFamily="34" charset="0"/>
                  <a:cs typeface="Open Sans" pitchFamily="34" charset="0"/>
                </a:rPr>
                <a:t> diam-diam (</a:t>
              </a:r>
              <a:r>
                <a:rPr lang="en-US" sz="1100" dirty="0" err="1">
                  <a:latin typeface="Montserrat" pitchFamily="2" charset="0"/>
                  <a:ea typeface="Open Sans" pitchFamily="34" charset="0"/>
                  <a:cs typeface="Open Sans" pitchFamily="34" charset="0"/>
                </a:rPr>
                <a:t>tidak</a:t>
              </a:r>
              <a:r>
                <a:rPr lang="en-US" sz="1100" dirty="0">
                  <a:latin typeface="Montserrat" pitchFamily="2" charset="0"/>
                  <a:ea typeface="Open Sans" pitchFamily="34" charset="0"/>
                  <a:cs typeface="Open Sans" pitchFamily="34" charset="0"/>
                </a:rPr>
                <a:t> </a:t>
              </a:r>
              <a:r>
                <a:rPr lang="en-US" sz="1100" dirty="0" err="1">
                  <a:latin typeface="Montserrat" pitchFamily="2" charset="0"/>
                  <a:ea typeface="Open Sans" pitchFamily="34" charset="0"/>
                  <a:cs typeface="Open Sans" pitchFamily="34" charset="0"/>
                </a:rPr>
                <a:t>mengirimkan</a:t>
              </a:r>
              <a:r>
                <a:rPr lang="en-US" sz="1100" dirty="0">
                  <a:latin typeface="Montserrat" pitchFamily="2" charset="0"/>
                  <a:ea typeface="Open Sans" pitchFamily="34" charset="0"/>
                  <a:cs typeface="Open Sans" pitchFamily="34" charset="0"/>
                </a:rPr>
                <a:t> </a:t>
              </a:r>
              <a:r>
                <a:rPr lang="en-US" sz="1100" dirty="0" err="1">
                  <a:latin typeface="Montserrat" pitchFamily="2" charset="0"/>
                  <a:ea typeface="Open Sans" pitchFamily="34" charset="0"/>
                  <a:cs typeface="Open Sans" pitchFamily="34" charset="0"/>
                </a:rPr>
                <a:t>pesan</a:t>
              </a:r>
              <a:r>
                <a:rPr lang="en-US" sz="1100" dirty="0">
                  <a:latin typeface="Montserrat" pitchFamily="2" charset="0"/>
                  <a:ea typeface="Open Sans" pitchFamily="34" charset="0"/>
                  <a:cs typeface="Open Sans" pitchFamily="34" charset="0"/>
                </a:rPr>
                <a:t> </a:t>
              </a:r>
              <a:r>
                <a:rPr lang="en-US" sz="1100" dirty="0" err="1">
                  <a:latin typeface="Montserrat" pitchFamily="2" charset="0"/>
                  <a:ea typeface="Open Sans" pitchFamily="34" charset="0"/>
                  <a:cs typeface="Open Sans" pitchFamily="34" charset="0"/>
                </a:rPr>
                <a:t>penolakan</a:t>
              </a:r>
              <a:r>
                <a:rPr lang="en-US" sz="1100" dirty="0">
                  <a:latin typeface="Montserrat" pitchFamily="2" charset="0"/>
                  <a:ea typeface="Open Sans" pitchFamily="34" charset="0"/>
                  <a:cs typeface="Open Sans" pitchFamily="34" charset="0"/>
                </a:rPr>
                <a:t> ICMP).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C8B4A7C-9546-6815-E8BC-3B60A64CD8D7}"/>
                </a:ext>
              </a:extLst>
            </p:cNvPr>
            <p:cNvSpPr/>
            <p:nvPr/>
          </p:nvSpPr>
          <p:spPr>
            <a:xfrm>
              <a:off x="1806130" y="2155257"/>
              <a:ext cx="6019800" cy="44460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250000"/>
                </a:lnSpc>
              </a:pPr>
              <a:r>
                <a:rPr lang="en-US" sz="1100" dirty="0" err="1">
                  <a:latin typeface="Montserrat" pitchFamily="2" charset="0"/>
                  <a:ea typeface="Open Sans" pitchFamily="34" charset="0"/>
                  <a:cs typeface="Open Sans" pitchFamily="34" charset="0"/>
                </a:rPr>
                <a:t>Menolak</a:t>
              </a:r>
              <a:r>
                <a:rPr lang="en-US" sz="1100" dirty="0">
                  <a:latin typeface="Montserrat" pitchFamily="2" charset="0"/>
                  <a:ea typeface="Open Sans" pitchFamily="34" charset="0"/>
                  <a:cs typeface="Open Sans" pitchFamily="34" charset="0"/>
                </a:rPr>
                <a:t> </a:t>
              </a:r>
              <a:r>
                <a:rPr lang="en-US" sz="1100" dirty="0" err="1">
                  <a:latin typeface="Montserrat" pitchFamily="2" charset="0"/>
                  <a:ea typeface="Open Sans" pitchFamily="34" charset="0"/>
                  <a:cs typeface="Open Sans" pitchFamily="34" charset="0"/>
                </a:rPr>
                <a:t>paket</a:t>
              </a:r>
              <a:r>
                <a:rPr lang="en-US" sz="1100" dirty="0">
                  <a:latin typeface="Montserrat" pitchFamily="2" charset="0"/>
                  <a:ea typeface="Open Sans" pitchFamily="34" charset="0"/>
                  <a:cs typeface="Open Sans" pitchFamily="34" charset="0"/>
                </a:rPr>
                <a:t> dan </a:t>
              </a:r>
              <a:r>
                <a:rPr lang="en-US" sz="1100" dirty="0" err="1">
                  <a:latin typeface="Montserrat" pitchFamily="2" charset="0"/>
                  <a:ea typeface="Open Sans" pitchFamily="34" charset="0"/>
                  <a:cs typeface="Open Sans" pitchFamily="34" charset="0"/>
                </a:rPr>
                <a:t>mengirimkan</a:t>
              </a:r>
              <a:r>
                <a:rPr lang="en-US" sz="1100" dirty="0">
                  <a:latin typeface="Montserrat" pitchFamily="2" charset="0"/>
                  <a:ea typeface="Open Sans" pitchFamily="34" charset="0"/>
                  <a:cs typeface="Open Sans" pitchFamily="34" charset="0"/>
                </a:rPr>
                <a:t> </a:t>
              </a:r>
              <a:r>
                <a:rPr lang="en-US" sz="1100" dirty="0" err="1">
                  <a:latin typeface="Montserrat" pitchFamily="2" charset="0"/>
                  <a:ea typeface="Open Sans" pitchFamily="34" charset="0"/>
                  <a:cs typeface="Open Sans" pitchFamily="34" charset="0"/>
                </a:rPr>
                <a:t>pesan</a:t>
              </a:r>
              <a:r>
                <a:rPr lang="en-US" sz="1100" dirty="0">
                  <a:latin typeface="Montserrat" pitchFamily="2" charset="0"/>
                  <a:ea typeface="Open Sans" pitchFamily="34" charset="0"/>
                  <a:cs typeface="Open Sans" pitchFamily="34" charset="0"/>
                </a:rPr>
                <a:t> </a:t>
              </a:r>
              <a:r>
                <a:rPr lang="en-US" sz="1100" dirty="0" err="1">
                  <a:latin typeface="Montserrat" pitchFamily="2" charset="0"/>
                  <a:ea typeface="Open Sans" pitchFamily="34" charset="0"/>
                  <a:cs typeface="Open Sans" pitchFamily="34" charset="0"/>
                </a:rPr>
                <a:t>penolakan</a:t>
              </a:r>
              <a:r>
                <a:rPr lang="en-US" sz="1100" dirty="0">
                  <a:latin typeface="Montserrat" pitchFamily="2" charset="0"/>
                  <a:ea typeface="Open Sans" pitchFamily="34" charset="0"/>
                  <a:cs typeface="Open Sans" pitchFamily="34" charset="0"/>
                </a:rPr>
                <a:t> ICMP.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69A5717E-EA78-B919-3455-918D51C9A379}"/>
                </a:ext>
              </a:extLst>
            </p:cNvPr>
            <p:cNvSpPr/>
            <p:nvPr/>
          </p:nvSpPr>
          <p:spPr>
            <a:xfrm>
              <a:off x="1806130" y="2562913"/>
              <a:ext cx="6019800" cy="44460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250000"/>
                </a:lnSpc>
              </a:pPr>
              <a:r>
                <a:rPr lang="en-US" sz="1100" dirty="0" err="1">
                  <a:latin typeface="Montserrat" pitchFamily="2" charset="0"/>
                  <a:ea typeface="Open Sans" pitchFamily="34" charset="0"/>
                  <a:cs typeface="Open Sans" pitchFamily="34" charset="0"/>
                </a:rPr>
                <a:t>Melompat</a:t>
              </a:r>
              <a:r>
                <a:rPr lang="en-US" sz="1100" dirty="0">
                  <a:latin typeface="Montserrat" pitchFamily="2" charset="0"/>
                  <a:ea typeface="Open Sans" pitchFamily="34" charset="0"/>
                  <a:cs typeface="Open Sans" pitchFamily="34" charset="0"/>
                </a:rPr>
                <a:t> </a:t>
              </a:r>
              <a:r>
                <a:rPr lang="en-US" sz="1100" dirty="0" err="1">
                  <a:latin typeface="Montserrat" pitchFamily="2" charset="0"/>
                  <a:ea typeface="Open Sans" pitchFamily="34" charset="0"/>
                  <a:cs typeface="Open Sans" pitchFamily="34" charset="0"/>
                </a:rPr>
                <a:t>ke</a:t>
              </a:r>
              <a:r>
                <a:rPr lang="en-US" sz="1100" dirty="0">
                  <a:latin typeface="Montserrat" pitchFamily="2" charset="0"/>
                  <a:ea typeface="Open Sans" pitchFamily="34" charset="0"/>
                  <a:cs typeface="Open Sans" pitchFamily="34" charset="0"/>
                </a:rPr>
                <a:t> chain lain yang </a:t>
              </a:r>
              <a:r>
                <a:rPr lang="en-US" sz="1100" dirty="0" err="1">
                  <a:latin typeface="Montserrat" pitchFamily="2" charset="0"/>
                  <a:ea typeface="Open Sans" pitchFamily="34" charset="0"/>
                  <a:cs typeface="Open Sans" pitchFamily="34" charset="0"/>
                </a:rPr>
                <a:t>ditentukan</a:t>
              </a:r>
              <a:r>
                <a:rPr lang="en-US" sz="1100" dirty="0">
                  <a:latin typeface="Montserrat" pitchFamily="2" charset="0"/>
                  <a:ea typeface="Open Sans" pitchFamily="34" charset="0"/>
                  <a:cs typeface="Open Sans" pitchFamily="34" charset="0"/>
                </a:rPr>
                <a:t> oleh </a:t>
              </a:r>
              <a:r>
                <a:rPr lang="en-US" sz="1100" dirty="0" err="1">
                  <a:latin typeface="Montserrat" pitchFamily="2" charset="0"/>
                  <a:ea typeface="Open Sans" pitchFamily="34" charset="0"/>
                  <a:cs typeface="Open Sans" pitchFamily="34" charset="0"/>
                </a:rPr>
                <a:t>nilai</a:t>
              </a:r>
              <a:r>
                <a:rPr lang="en-US" sz="1100" dirty="0">
                  <a:latin typeface="Montserrat" pitchFamily="2" charset="0"/>
                  <a:ea typeface="Open Sans" pitchFamily="34" charset="0"/>
                  <a:cs typeface="Open Sans" pitchFamily="34" charset="0"/>
                </a:rPr>
                <a:t> parameter jump-target.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7DADD44-9392-B7FB-CD20-8EF10F1F592C}"/>
                </a:ext>
              </a:extLst>
            </p:cNvPr>
            <p:cNvSpPr/>
            <p:nvPr/>
          </p:nvSpPr>
          <p:spPr>
            <a:xfrm>
              <a:off x="1787340" y="3381205"/>
              <a:ext cx="6019800" cy="44460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250000"/>
                </a:lnSpc>
              </a:pPr>
              <a:r>
                <a:rPr lang="en-US" sz="1100" dirty="0" err="1">
                  <a:latin typeface="Montserrat" pitchFamily="2" charset="0"/>
                  <a:ea typeface="Open Sans" pitchFamily="34" charset="0"/>
                  <a:cs typeface="Open Sans" pitchFamily="34" charset="0"/>
                </a:rPr>
                <a:t>Menolak</a:t>
              </a:r>
              <a:r>
                <a:rPr lang="en-US" sz="1100" dirty="0">
                  <a:latin typeface="Montserrat" pitchFamily="2" charset="0"/>
                  <a:ea typeface="Open Sans" pitchFamily="34" charset="0"/>
                  <a:cs typeface="Open Sans" pitchFamily="34" charset="0"/>
                </a:rPr>
                <a:t>, </a:t>
              </a:r>
              <a:r>
                <a:rPr lang="en-US" sz="1100" dirty="0" err="1">
                  <a:latin typeface="Montserrat" pitchFamily="2" charset="0"/>
                  <a:ea typeface="Open Sans" pitchFamily="34" charset="0"/>
                  <a:cs typeface="Open Sans" pitchFamily="34" charset="0"/>
                </a:rPr>
                <a:t>tetapi</a:t>
              </a:r>
              <a:r>
                <a:rPr lang="en-US" sz="1100" dirty="0">
                  <a:latin typeface="Montserrat" pitchFamily="2" charset="0"/>
                  <a:ea typeface="Open Sans" pitchFamily="34" charset="0"/>
                  <a:cs typeface="Open Sans" pitchFamily="34" charset="0"/>
                </a:rPr>
                <a:t> </a:t>
              </a:r>
              <a:r>
                <a:rPr lang="en-US" sz="1100" dirty="0" err="1">
                  <a:latin typeface="Montserrat" pitchFamily="2" charset="0"/>
                  <a:ea typeface="Open Sans" pitchFamily="34" charset="0"/>
                  <a:cs typeface="Open Sans" pitchFamily="34" charset="0"/>
                </a:rPr>
                <a:t>tetap</a:t>
              </a:r>
              <a:r>
                <a:rPr lang="en-US" sz="1100" dirty="0">
                  <a:latin typeface="Montserrat" pitchFamily="2" charset="0"/>
                  <a:ea typeface="Open Sans" pitchFamily="34" charset="0"/>
                  <a:cs typeface="Open Sans" pitchFamily="34" charset="0"/>
                </a:rPr>
                <a:t> </a:t>
              </a:r>
              <a:r>
                <a:rPr lang="en-US" sz="1100" dirty="0" err="1">
                  <a:latin typeface="Montserrat" pitchFamily="2" charset="0"/>
                  <a:ea typeface="Open Sans" pitchFamily="34" charset="0"/>
                  <a:cs typeface="Open Sans" pitchFamily="34" charset="0"/>
                </a:rPr>
                <a:t>menjaga</a:t>
              </a:r>
              <a:r>
                <a:rPr lang="en-US" sz="1100" dirty="0">
                  <a:latin typeface="Montserrat" pitchFamily="2" charset="0"/>
                  <a:ea typeface="Open Sans" pitchFamily="34" charset="0"/>
                  <a:cs typeface="Open Sans" pitchFamily="34" charset="0"/>
                </a:rPr>
                <a:t> TCP connection yang </a:t>
              </a:r>
              <a:r>
                <a:rPr lang="en-US" sz="1100" dirty="0" err="1">
                  <a:latin typeface="Montserrat" pitchFamily="2" charset="0"/>
                  <a:ea typeface="Open Sans" pitchFamily="34" charset="0"/>
                  <a:cs typeface="Open Sans" pitchFamily="34" charset="0"/>
                </a:rPr>
                <a:t>masuk</a:t>
              </a:r>
              <a:r>
                <a:rPr lang="en-US" sz="1100" dirty="0">
                  <a:latin typeface="Montserrat" pitchFamily="2" charset="0"/>
                  <a:ea typeface="Open Sans" pitchFamily="34" charset="0"/>
                  <a:cs typeface="Open Sans" pitchFamily="34" charset="0"/>
                </a:rPr>
                <a:t>.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464C4FE-F28F-7EE6-EA07-80DBA1E3636E}"/>
                </a:ext>
              </a:extLst>
            </p:cNvPr>
            <p:cNvSpPr/>
            <p:nvPr/>
          </p:nvSpPr>
          <p:spPr>
            <a:xfrm>
              <a:off x="1787340" y="3977192"/>
              <a:ext cx="6019800" cy="44460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250000"/>
                </a:lnSpc>
              </a:pPr>
              <a:r>
                <a:rPr lang="en-US" sz="1100" dirty="0" err="1">
                  <a:latin typeface="Montserrat" pitchFamily="2" charset="0"/>
                  <a:ea typeface="Open Sans" pitchFamily="34" charset="0"/>
                  <a:cs typeface="Open Sans" pitchFamily="34" charset="0"/>
                </a:rPr>
                <a:t>Menambahkan</a:t>
              </a:r>
              <a:r>
                <a:rPr lang="en-US" sz="1100" dirty="0">
                  <a:latin typeface="Montserrat" pitchFamily="2" charset="0"/>
                  <a:ea typeface="Open Sans" pitchFamily="34" charset="0"/>
                  <a:cs typeface="Open Sans" pitchFamily="34" charset="0"/>
                </a:rPr>
                <a:t> informasi </a:t>
              </a:r>
              <a:r>
                <a:rPr lang="en-US" sz="1100" dirty="0" err="1">
                  <a:latin typeface="Montserrat" pitchFamily="2" charset="0"/>
                  <a:ea typeface="Open Sans" pitchFamily="34" charset="0"/>
                  <a:cs typeface="Open Sans" pitchFamily="34" charset="0"/>
                </a:rPr>
                <a:t>paket</a:t>
              </a:r>
              <a:r>
                <a:rPr lang="en-US" sz="1100" dirty="0">
                  <a:latin typeface="Montserrat" pitchFamily="2" charset="0"/>
                  <a:ea typeface="Open Sans" pitchFamily="34" charset="0"/>
                  <a:cs typeface="Open Sans" pitchFamily="34" charset="0"/>
                </a:rPr>
                <a:t> data </a:t>
              </a:r>
              <a:r>
                <a:rPr lang="en-US" sz="1100" dirty="0" err="1">
                  <a:latin typeface="Montserrat" pitchFamily="2" charset="0"/>
                  <a:ea typeface="Open Sans" pitchFamily="34" charset="0"/>
                  <a:cs typeface="Open Sans" pitchFamily="34" charset="0"/>
                </a:rPr>
                <a:t>ke</a:t>
              </a:r>
              <a:r>
                <a:rPr lang="en-US" sz="1100" dirty="0">
                  <a:latin typeface="Montserrat" pitchFamily="2" charset="0"/>
                  <a:ea typeface="Open Sans" pitchFamily="34" charset="0"/>
                  <a:cs typeface="Open Sans" pitchFamily="34" charset="0"/>
                </a:rPr>
                <a:t> log.</a:t>
              </a:r>
            </a:p>
          </p:txBody>
        </p:sp>
      </p:grpSp>
      <p:pic>
        <p:nvPicPr>
          <p:cNvPr id="45" name="object 18">
            <a:extLst>
              <a:ext uri="{FF2B5EF4-FFF2-40B4-BE49-F238E27FC236}">
                <a16:creationId xmlns:a16="http://schemas.microsoft.com/office/drawing/2014/main" id="{528F514F-B447-A316-9BD9-38F34445A2F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45244" y="4005154"/>
            <a:ext cx="2791390" cy="2326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376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E3F46-F5C3-DD8E-EAA7-37442B6BD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21EA3D83-0FB1-67B6-8652-6A3BAF66D6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54861" y="273684"/>
            <a:ext cx="6522339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b="1" dirty="0">
                <a:latin typeface="Montserrat" pitchFamily="2" charset="0"/>
              </a:rPr>
              <a:t>Firewall LOG</a:t>
            </a:r>
            <a:endParaRPr b="1" dirty="0">
              <a:latin typeface="Montserrat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E76DF4-C340-2199-D942-179BBF27571A}"/>
              </a:ext>
            </a:extLst>
          </p:cNvPr>
          <p:cNvSpPr/>
          <p:nvPr/>
        </p:nvSpPr>
        <p:spPr>
          <a:xfrm>
            <a:off x="228600" y="759310"/>
            <a:ext cx="8686800" cy="1118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200000"/>
              </a:lnSpc>
              <a:buFont typeface="Wingdings" pitchFamily="2" charset="2"/>
              <a:buChar char="v"/>
            </a:pPr>
            <a:r>
              <a:rPr lang="en-US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Log merupakan </a:t>
            </a:r>
            <a:r>
              <a:rPr lang="en-US" dirty="0" err="1">
                <a:latin typeface="Montserrat" pitchFamily="2" charset="0"/>
                <a:ea typeface="Open Sans" pitchFamily="34" charset="0"/>
                <a:cs typeface="Open Sans" pitchFamily="34" charset="0"/>
              </a:rPr>
              <a:t>fitur</a:t>
            </a:r>
            <a:r>
              <a:rPr lang="en-US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 yang </a:t>
            </a:r>
            <a:r>
              <a:rPr lang="en-US" dirty="0" err="1">
                <a:latin typeface="Montserrat" pitchFamily="2" charset="0"/>
                <a:ea typeface="Open Sans" pitchFamily="34" charset="0"/>
                <a:cs typeface="Open Sans" pitchFamily="34" charset="0"/>
              </a:rPr>
              <a:t>digunakan</a:t>
            </a:r>
            <a:r>
              <a:rPr lang="en-US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 untuk </a:t>
            </a:r>
            <a:r>
              <a:rPr lang="en-US" dirty="0" err="1">
                <a:latin typeface="Montserrat" pitchFamily="2" charset="0"/>
                <a:ea typeface="Open Sans" pitchFamily="34" charset="0"/>
                <a:cs typeface="Open Sans" pitchFamily="34" charset="0"/>
              </a:rPr>
              <a:t>menampilkan</a:t>
            </a:r>
            <a:r>
              <a:rPr lang="en-US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 </a:t>
            </a:r>
            <a:r>
              <a:rPr lang="en-US" dirty="0" err="1">
                <a:latin typeface="Montserrat" pitchFamily="2" charset="0"/>
                <a:ea typeface="Open Sans" pitchFamily="34" charset="0"/>
                <a:cs typeface="Open Sans" pitchFamily="34" charset="0"/>
              </a:rPr>
              <a:t>beberapa</a:t>
            </a:r>
            <a:endParaRPr lang="en-US" dirty="0">
              <a:latin typeface="Montserrat" pitchFamily="2" charset="0"/>
              <a:ea typeface="Open Sans" pitchFamily="34" charset="0"/>
              <a:cs typeface="Open Sans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Wingdings" pitchFamily="2" charset="2"/>
              <a:buChar char="v"/>
            </a:pPr>
            <a:r>
              <a:rPr lang="en-US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informasi / aktivitas yang </a:t>
            </a:r>
            <a:r>
              <a:rPr lang="en-US" dirty="0" err="1">
                <a:latin typeface="Montserrat" pitchFamily="2" charset="0"/>
                <a:ea typeface="Open Sans" pitchFamily="34" charset="0"/>
                <a:cs typeface="Open Sans" pitchFamily="34" charset="0"/>
              </a:rPr>
              <a:t>ada</a:t>
            </a:r>
            <a:r>
              <a:rPr lang="en-US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 pada router.</a:t>
            </a:r>
          </a:p>
        </p:txBody>
      </p:sp>
      <p:pic>
        <p:nvPicPr>
          <p:cNvPr id="3" name="object 5">
            <a:extLst>
              <a:ext uri="{FF2B5EF4-FFF2-40B4-BE49-F238E27FC236}">
                <a16:creationId xmlns:a16="http://schemas.microsoft.com/office/drawing/2014/main" id="{E9223A50-D433-7E1E-FFB5-606E19F9A28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0" y="1979556"/>
            <a:ext cx="7881620" cy="255016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2BA25B8-EBA4-6CC8-6B80-FD43E802C926}"/>
              </a:ext>
            </a:extLst>
          </p:cNvPr>
          <p:cNvSpPr/>
          <p:nvPr/>
        </p:nvSpPr>
        <p:spPr>
          <a:xfrm>
            <a:off x="359410" y="4656967"/>
            <a:ext cx="8686800" cy="1672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200000"/>
              </a:lnSpc>
              <a:buFont typeface="Wingdings" pitchFamily="2" charset="2"/>
              <a:buChar char="v"/>
            </a:pPr>
            <a:r>
              <a:rPr lang="en-US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Kita </a:t>
            </a:r>
            <a:r>
              <a:rPr lang="en-US" dirty="0" err="1">
                <a:latin typeface="Montserrat" pitchFamily="2" charset="0"/>
                <a:ea typeface="Open Sans" pitchFamily="34" charset="0"/>
                <a:cs typeface="Open Sans" pitchFamily="34" charset="0"/>
              </a:rPr>
              <a:t>dapat</a:t>
            </a:r>
            <a:r>
              <a:rPr lang="en-US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 </a:t>
            </a:r>
            <a:r>
              <a:rPr lang="en-US" dirty="0" err="1">
                <a:latin typeface="Montserrat" pitchFamily="2" charset="0"/>
                <a:ea typeface="Open Sans" pitchFamily="34" charset="0"/>
                <a:cs typeface="Open Sans" pitchFamily="34" charset="0"/>
              </a:rPr>
              <a:t>membuat</a:t>
            </a:r>
            <a:r>
              <a:rPr lang="en-US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 atau </a:t>
            </a:r>
            <a:r>
              <a:rPr lang="en-US" dirty="0" err="1">
                <a:latin typeface="Montserrat" pitchFamily="2" charset="0"/>
                <a:ea typeface="Open Sans" pitchFamily="34" charset="0"/>
                <a:cs typeface="Open Sans" pitchFamily="34" charset="0"/>
              </a:rPr>
              <a:t>menambahkan</a:t>
            </a:r>
            <a:r>
              <a:rPr lang="en-US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 </a:t>
            </a:r>
            <a:r>
              <a:rPr lang="en-US" dirty="0" err="1">
                <a:latin typeface="Montserrat" pitchFamily="2" charset="0"/>
                <a:ea typeface="Open Sans" pitchFamily="34" charset="0"/>
                <a:cs typeface="Open Sans" pitchFamily="34" charset="0"/>
              </a:rPr>
              <a:t>catatan</a:t>
            </a:r>
            <a:r>
              <a:rPr lang="en-US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 aktivitas </a:t>
            </a:r>
            <a:r>
              <a:rPr lang="en-US" dirty="0" err="1">
                <a:latin typeface="Montserrat" pitchFamily="2" charset="0"/>
                <a:ea typeface="Open Sans" pitchFamily="34" charset="0"/>
                <a:cs typeface="Open Sans" pitchFamily="34" charset="0"/>
              </a:rPr>
              <a:t>apa</a:t>
            </a:r>
            <a:r>
              <a:rPr lang="en-US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 </a:t>
            </a:r>
            <a:r>
              <a:rPr lang="en-US" dirty="0" err="1">
                <a:latin typeface="Montserrat" pitchFamily="2" charset="0"/>
                <a:ea typeface="Open Sans" pitchFamily="34" charset="0"/>
                <a:cs typeface="Open Sans" pitchFamily="34" charset="0"/>
              </a:rPr>
              <a:t>saja</a:t>
            </a:r>
            <a:r>
              <a:rPr lang="en-US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 </a:t>
            </a:r>
            <a:r>
              <a:rPr lang="en-US" dirty="0" err="1">
                <a:latin typeface="Montserrat" pitchFamily="2" charset="0"/>
                <a:ea typeface="Open Sans" pitchFamily="34" charset="0"/>
                <a:cs typeface="Open Sans" pitchFamily="34" charset="0"/>
              </a:rPr>
              <a:t>sesuai</a:t>
            </a:r>
            <a:r>
              <a:rPr lang="en-US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  yang </a:t>
            </a:r>
            <a:r>
              <a:rPr lang="en-US" dirty="0" err="1">
                <a:latin typeface="Montserrat" pitchFamily="2" charset="0"/>
                <a:ea typeface="Open Sans" pitchFamily="34" charset="0"/>
                <a:cs typeface="Open Sans" pitchFamily="34" charset="0"/>
              </a:rPr>
              <a:t>diinginkan</a:t>
            </a:r>
            <a:r>
              <a:rPr lang="en-US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 melalui firewall filter dengan </a:t>
            </a:r>
            <a:r>
              <a:rPr lang="en-US" dirty="0" err="1">
                <a:latin typeface="Montserrat" pitchFamily="2" charset="0"/>
                <a:ea typeface="Open Sans" pitchFamily="34" charset="0"/>
                <a:cs typeface="Open Sans" pitchFamily="34" charset="0"/>
              </a:rPr>
              <a:t>menggunakan</a:t>
            </a:r>
            <a:r>
              <a:rPr lang="en-US" dirty="0">
                <a:latin typeface="Montserrat" pitchFamily="2" charset="0"/>
                <a:ea typeface="Open Sans" pitchFamily="34" charset="0"/>
                <a:cs typeface="Open Sans" pitchFamily="34" charset="0"/>
              </a:rPr>
              <a:t> action log.</a:t>
            </a:r>
          </a:p>
        </p:txBody>
      </p:sp>
    </p:spTree>
    <p:extLst>
      <p:ext uri="{BB962C8B-B14F-4D97-AF65-F5344CB8AC3E}">
        <p14:creationId xmlns:p14="http://schemas.microsoft.com/office/powerpoint/2010/main" val="3789220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C88B6-1580-7A14-A0B1-3C70953D0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D76FF970-2E9F-E79E-3746-80664D1C3E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54861" y="273684"/>
            <a:ext cx="5912739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b="1" dirty="0">
                <a:latin typeface="Montserrat" pitchFamily="2" charset="0"/>
              </a:rPr>
              <a:t>TOPOLOGI LATIHAN 1</a:t>
            </a:r>
            <a:endParaRPr b="1" dirty="0">
              <a:latin typeface="Montserrat" pitchFamily="2" charset="0"/>
            </a:endParaRPr>
          </a:p>
        </p:txBody>
      </p:sp>
      <p:grpSp>
        <p:nvGrpSpPr>
          <p:cNvPr id="10" name="object 2">
            <a:extLst>
              <a:ext uri="{FF2B5EF4-FFF2-40B4-BE49-F238E27FC236}">
                <a16:creationId xmlns:a16="http://schemas.microsoft.com/office/drawing/2014/main" id="{9150684F-45D9-6D6C-10C0-15D9DDA05C83}"/>
              </a:ext>
            </a:extLst>
          </p:cNvPr>
          <p:cNvGrpSpPr/>
          <p:nvPr/>
        </p:nvGrpSpPr>
        <p:grpSpPr>
          <a:xfrm>
            <a:off x="190500" y="1069339"/>
            <a:ext cx="8277859" cy="5255260"/>
            <a:chOff x="190500" y="1069339"/>
            <a:chExt cx="8277859" cy="5255260"/>
          </a:xfrm>
        </p:grpSpPr>
        <p:pic>
          <p:nvPicPr>
            <p:cNvPr id="11" name="object 3">
              <a:extLst>
                <a:ext uri="{FF2B5EF4-FFF2-40B4-BE49-F238E27FC236}">
                  <a16:creationId xmlns:a16="http://schemas.microsoft.com/office/drawing/2014/main" id="{3D87D558-1CBE-B13A-79F1-8EDF709D979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7339" y="1498599"/>
              <a:ext cx="726440" cy="528320"/>
            </a:xfrm>
            <a:prstGeom prst="rect">
              <a:avLst/>
            </a:prstGeom>
          </p:spPr>
        </p:pic>
        <p:pic>
          <p:nvPicPr>
            <p:cNvPr id="12" name="object 4">
              <a:extLst>
                <a:ext uri="{FF2B5EF4-FFF2-40B4-BE49-F238E27FC236}">
                  <a16:creationId xmlns:a16="http://schemas.microsoft.com/office/drawing/2014/main" id="{85B776A3-F0AF-07FE-DC91-51FE65123FA7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1460" y="1069339"/>
              <a:ext cx="838200" cy="746760"/>
            </a:xfrm>
            <a:prstGeom prst="rect">
              <a:avLst/>
            </a:prstGeom>
          </p:spPr>
        </p:pic>
        <p:sp>
          <p:nvSpPr>
            <p:cNvPr id="13" name="object 5">
              <a:extLst>
                <a:ext uri="{FF2B5EF4-FFF2-40B4-BE49-F238E27FC236}">
                  <a16:creationId xmlns:a16="http://schemas.microsoft.com/office/drawing/2014/main" id="{4A527CDE-791F-B17C-10C3-D0EF57607100}"/>
                </a:ext>
              </a:extLst>
            </p:cNvPr>
            <p:cNvSpPr/>
            <p:nvPr/>
          </p:nvSpPr>
          <p:spPr>
            <a:xfrm>
              <a:off x="190500" y="4036060"/>
              <a:ext cx="2085339" cy="2288540"/>
            </a:xfrm>
            <a:custGeom>
              <a:avLst/>
              <a:gdLst/>
              <a:ahLst/>
              <a:cxnLst/>
              <a:rect l="l" t="t" r="r" b="b"/>
              <a:pathLst>
                <a:path w="2085339" h="2288540">
                  <a:moveTo>
                    <a:pt x="2085339" y="0"/>
                  </a:moveTo>
                  <a:lnTo>
                    <a:pt x="0" y="0"/>
                  </a:lnTo>
                  <a:lnTo>
                    <a:pt x="0" y="2288540"/>
                  </a:lnTo>
                  <a:lnTo>
                    <a:pt x="2085339" y="2288540"/>
                  </a:lnTo>
                  <a:lnTo>
                    <a:pt x="2085339" y="0"/>
                  </a:lnTo>
                  <a:close/>
                </a:path>
              </a:pathLst>
            </a:custGeom>
            <a:solidFill>
              <a:srgbClr val="FCE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6">
              <a:extLst>
                <a:ext uri="{FF2B5EF4-FFF2-40B4-BE49-F238E27FC236}">
                  <a16:creationId xmlns:a16="http://schemas.microsoft.com/office/drawing/2014/main" id="{3D32E8A5-5F3E-8ECE-C3DF-3F5C0937F7E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8300" y="4155439"/>
              <a:ext cx="815340" cy="459740"/>
            </a:xfrm>
            <a:prstGeom prst="rect">
              <a:avLst/>
            </a:prstGeom>
          </p:spPr>
        </p:pic>
        <p:pic>
          <p:nvPicPr>
            <p:cNvPr id="15" name="object 7">
              <a:extLst>
                <a:ext uri="{FF2B5EF4-FFF2-40B4-BE49-F238E27FC236}">
                  <a16:creationId xmlns:a16="http://schemas.microsoft.com/office/drawing/2014/main" id="{C5D78C21-945D-C04F-326C-B6B6B78B0D78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9080" y="4782819"/>
              <a:ext cx="1005839" cy="924559"/>
            </a:xfrm>
            <a:prstGeom prst="rect">
              <a:avLst/>
            </a:prstGeom>
          </p:spPr>
        </p:pic>
        <p:sp>
          <p:nvSpPr>
            <p:cNvPr id="16" name="object 8">
              <a:extLst>
                <a:ext uri="{FF2B5EF4-FFF2-40B4-BE49-F238E27FC236}">
                  <a16:creationId xmlns:a16="http://schemas.microsoft.com/office/drawing/2014/main" id="{01C50F1C-90E7-DF72-816F-D8B816E7C79C}"/>
                </a:ext>
              </a:extLst>
            </p:cNvPr>
            <p:cNvSpPr/>
            <p:nvPr/>
          </p:nvSpPr>
          <p:spPr>
            <a:xfrm>
              <a:off x="6372859" y="3784600"/>
              <a:ext cx="2095500" cy="2540000"/>
            </a:xfrm>
            <a:custGeom>
              <a:avLst/>
              <a:gdLst/>
              <a:ahLst/>
              <a:cxnLst/>
              <a:rect l="l" t="t" r="r" b="b"/>
              <a:pathLst>
                <a:path w="2095500" h="2540000">
                  <a:moveTo>
                    <a:pt x="2095499" y="0"/>
                  </a:moveTo>
                  <a:lnTo>
                    <a:pt x="0" y="0"/>
                  </a:lnTo>
                  <a:lnTo>
                    <a:pt x="0" y="2540000"/>
                  </a:lnTo>
                  <a:lnTo>
                    <a:pt x="2095499" y="2540000"/>
                  </a:lnTo>
                  <a:lnTo>
                    <a:pt x="2095499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9">
            <a:extLst>
              <a:ext uri="{FF2B5EF4-FFF2-40B4-BE49-F238E27FC236}">
                <a16:creationId xmlns:a16="http://schemas.microsoft.com/office/drawing/2014/main" id="{A7E496ED-B767-7FAE-73D9-1FE589551AA4}"/>
              </a:ext>
            </a:extLst>
          </p:cNvPr>
          <p:cNvSpPr txBox="1"/>
          <p:nvPr/>
        </p:nvSpPr>
        <p:spPr>
          <a:xfrm>
            <a:off x="2138679" y="909319"/>
            <a:ext cx="2867660" cy="340360"/>
          </a:xfrm>
          <a:prstGeom prst="rect">
            <a:avLst/>
          </a:prstGeom>
          <a:ln w="20320">
            <a:solidFill>
              <a:srgbClr val="6F2F9F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145"/>
              </a:spcBef>
            </a:pPr>
            <a:r>
              <a:rPr sz="1800" b="1" dirty="0">
                <a:latin typeface="Calibri"/>
                <a:cs typeface="Calibri"/>
              </a:rPr>
              <a:t>IP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Modem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: </a:t>
            </a:r>
            <a:r>
              <a:rPr sz="1800" spc="-10" dirty="0">
                <a:latin typeface="Calibri"/>
                <a:cs typeface="Calibri"/>
              </a:rPr>
              <a:t>10.12.0.1/16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9" name="object 10">
            <a:extLst>
              <a:ext uri="{FF2B5EF4-FFF2-40B4-BE49-F238E27FC236}">
                <a16:creationId xmlns:a16="http://schemas.microsoft.com/office/drawing/2014/main" id="{9B9635FE-5352-EA91-3C90-FE5188A96C8C}"/>
              </a:ext>
            </a:extLst>
          </p:cNvPr>
          <p:cNvSpPr txBox="1"/>
          <p:nvPr/>
        </p:nvSpPr>
        <p:spPr>
          <a:xfrm>
            <a:off x="2133600" y="1430019"/>
            <a:ext cx="3088640" cy="340360"/>
          </a:xfrm>
          <a:prstGeom prst="rect">
            <a:avLst/>
          </a:prstGeom>
          <a:ln w="20320">
            <a:solidFill>
              <a:srgbClr val="6F2F9F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145"/>
              </a:spcBef>
            </a:pPr>
            <a:r>
              <a:rPr sz="1800" b="1" dirty="0">
                <a:latin typeface="Calibri"/>
                <a:cs typeface="Calibri"/>
              </a:rPr>
              <a:t>IP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Ether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MK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10.12.0.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XXX</a:t>
            </a:r>
            <a:r>
              <a:rPr sz="1800" spc="-10" dirty="0">
                <a:latin typeface="Calibri"/>
                <a:cs typeface="Calibri"/>
              </a:rPr>
              <a:t>/16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11">
            <a:extLst>
              <a:ext uri="{FF2B5EF4-FFF2-40B4-BE49-F238E27FC236}">
                <a16:creationId xmlns:a16="http://schemas.microsoft.com/office/drawing/2014/main" id="{105D3FEF-EC38-EA6B-34B1-C8D512890808}"/>
              </a:ext>
            </a:extLst>
          </p:cNvPr>
          <p:cNvSpPr/>
          <p:nvPr/>
        </p:nvSpPr>
        <p:spPr>
          <a:xfrm>
            <a:off x="2133600" y="1889760"/>
            <a:ext cx="3088640" cy="342900"/>
          </a:xfrm>
          <a:custGeom>
            <a:avLst/>
            <a:gdLst/>
            <a:ahLst/>
            <a:cxnLst/>
            <a:rect l="l" t="t" r="r" b="b"/>
            <a:pathLst>
              <a:path w="3088640" h="342900">
                <a:moveTo>
                  <a:pt x="0" y="342900"/>
                </a:moveTo>
                <a:lnTo>
                  <a:pt x="3088640" y="342900"/>
                </a:lnTo>
                <a:lnTo>
                  <a:pt x="3088640" y="0"/>
                </a:lnTo>
                <a:lnTo>
                  <a:pt x="0" y="0"/>
                </a:lnTo>
                <a:lnTo>
                  <a:pt x="0" y="342900"/>
                </a:lnTo>
                <a:close/>
              </a:path>
            </a:pathLst>
          </a:custGeom>
          <a:ln w="20320">
            <a:solidFill>
              <a:srgbClr val="00AFEF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2">
            <a:extLst>
              <a:ext uri="{FF2B5EF4-FFF2-40B4-BE49-F238E27FC236}">
                <a16:creationId xmlns:a16="http://schemas.microsoft.com/office/drawing/2014/main" id="{A0039544-764F-BC62-EAFC-5A27B2F25D47}"/>
              </a:ext>
            </a:extLst>
          </p:cNvPr>
          <p:cNvSpPr txBox="1"/>
          <p:nvPr/>
        </p:nvSpPr>
        <p:spPr>
          <a:xfrm>
            <a:off x="2133600" y="1896173"/>
            <a:ext cx="30784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IP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Ether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2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MK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10.10.10.1/24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13">
            <a:extLst>
              <a:ext uri="{FF2B5EF4-FFF2-40B4-BE49-F238E27FC236}">
                <a16:creationId xmlns:a16="http://schemas.microsoft.com/office/drawing/2014/main" id="{7BC4EA1D-572E-52F1-D7DB-D78DCE5E8B78}"/>
              </a:ext>
            </a:extLst>
          </p:cNvPr>
          <p:cNvSpPr txBox="1"/>
          <p:nvPr/>
        </p:nvSpPr>
        <p:spPr>
          <a:xfrm>
            <a:off x="2136139" y="2334260"/>
            <a:ext cx="3086100" cy="340360"/>
          </a:xfrm>
          <a:prstGeom prst="rect">
            <a:avLst/>
          </a:prstGeom>
          <a:ln w="20320">
            <a:solidFill>
              <a:srgbClr val="00AF50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93345">
              <a:lnSpc>
                <a:spcPct val="100000"/>
              </a:lnSpc>
              <a:spcBef>
                <a:spcPts val="145"/>
              </a:spcBef>
            </a:pPr>
            <a:r>
              <a:rPr sz="1800" b="1" dirty="0">
                <a:latin typeface="Calibri"/>
                <a:cs typeface="Calibri"/>
              </a:rPr>
              <a:t>IP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Ether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3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MK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-10" dirty="0">
                <a:latin typeface="Calibri"/>
                <a:cs typeface="Calibri"/>
              </a:rPr>
              <a:t> 10.20.20.1/24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3" name="object 14">
            <a:extLst>
              <a:ext uri="{FF2B5EF4-FFF2-40B4-BE49-F238E27FC236}">
                <a16:creationId xmlns:a16="http://schemas.microsoft.com/office/drawing/2014/main" id="{1FFD03E3-7ABD-0513-C474-D8AB59F086DD}"/>
              </a:ext>
            </a:extLst>
          </p:cNvPr>
          <p:cNvGrpSpPr/>
          <p:nvPr/>
        </p:nvGrpSpPr>
        <p:grpSpPr>
          <a:xfrm>
            <a:off x="261620" y="1562100"/>
            <a:ext cx="7175500" cy="4127500"/>
            <a:chOff x="261620" y="1562100"/>
            <a:chExt cx="7175500" cy="4127500"/>
          </a:xfrm>
        </p:grpSpPr>
        <p:pic>
          <p:nvPicPr>
            <p:cNvPr id="24" name="object 15">
              <a:extLst>
                <a:ext uri="{FF2B5EF4-FFF2-40B4-BE49-F238E27FC236}">
                  <a16:creationId xmlns:a16="http://schemas.microsoft.com/office/drawing/2014/main" id="{04BC5C4D-BFED-A47D-18C3-7C67C5CCE42D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04940" y="3959860"/>
              <a:ext cx="815340" cy="457200"/>
            </a:xfrm>
            <a:prstGeom prst="rect">
              <a:avLst/>
            </a:prstGeom>
          </p:spPr>
        </p:pic>
        <p:pic>
          <p:nvPicPr>
            <p:cNvPr id="25" name="object 16">
              <a:extLst>
                <a:ext uri="{FF2B5EF4-FFF2-40B4-BE49-F238E27FC236}">
                  <a16:creationId xmlns:a16="http://schemas.microsoft.com/office/drawing/2014/main" id="{3AB7226D-F766-F7FF-DD33-2902DBA6EC19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31279" y="4767579"/>
              <a:ext cx="1005840" cy="922019"/>
            </a:xfrm>
            <a:prstGeom prst="rect">
              <a:avLst/>
            </a:prstGeom>
          </p:spPr>
        </p:pic>
        <p:pic>
          <p:nvPicPr>
            <p:cNvPr id="26" name="object 17">
              <a:extLst>
                <a:ext uri="{FF2B5EF4-FFF2-40B4-BE49-F238E27FC236}">
                  <a16:creationId xmlns:a16="http://schemas.microsoft.com/office/drawing/2014/main" id="{7D0BB43D-E09A-6F0D-0677-515DBCD98A9C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8160" y="1790700"/>
              <a:ext cx="106679" cy="106680"/>
            </a:xfrm>
            <a:prstGeom prst="rect">
              <a:avLst/>
            </a:prstGeom>
          </p:spPr>
        </p:pic>
        <p:pic>
          <p:nvPicPr>
            <p:cNvPr id="27" name="object 18">
              <a:extLst>
                <a:ext uri="{FF2B5EF4-FFF2-40B4-BE49-F238E27FC236}">
                  <a16:creationId xmlns:a16="http://schemas.microsoft.com/office/drawing/2014/main" id="{AE5EB0AB-EDAE-312F-6415-17B5055E07CE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8000" y="2819400"/>
              <a:ext cx="1551939" cy="685800"/>
            </a:xfrm>
            <a:prstGeom prst="rect">
              <a:avLst/>
            </a:prstGeom>
          </p:spPr>
        </p:pic>
        <p:sp>
          <p:nvSpPr>
            <p:cNvPr id="28" name="object 19">
              <a:extLst>
                <a:ext uri="{FF2B5EF4-FFF2-40B4-BE49-F238E27FC236}">
                  <a16:creationId xmlns:a16="http://schemas.microsoft.com/office/drawing/2014/main" id="{6C52101D-FE0F-56BD-9973-01BA2B9371CB}"/>
                </a:ext>
              </a:extLst>
            </p:cNvPr>
            <p:cNvSpPr/>
            <p:nvPr/>
          </p:nvSpPr>
          <p:spPr>
            <a:xfrm>
              <a:off x="299720" y="1844040"/>
              <a:ext cx="756920" cy="1461135"/>
            </a:xfrm>
            <a:custGeom>
              <a:avLst/>
              <a:gdLst/>
              <a:ahLst/>
              <a:cxnLst/>
              <a:rect l="l" t="t" r="r" b="b"/>
              <a:pathLst>
                <a:path w="756919" h="1461135">
                  <a:moveTo>
                    <a:pt x="228600" y="0"/>
                  </a:moveTo>
                  <a:lnTo>
                    <a:pt x="0" y="0"/>
                  </a:lnTo>
                  <a:lnTo>
                    <a:pt x="0" y="1461135"/>
                  </a:lnTo>
                  <a:lnTo>
                    <a:pt x="756297" y="1461135"/>
                  </a:lnTo>
                </a:path>
              </a:pathLst>
            </a:custGeom>
            <a:ln w="2032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0">
              <a:extLst>
                <a:ext uri="{FF2B5EF4-FFF2-40B4-BE49-F238E27FC236}">
                  <a16:creationId xmlns:a16="http://schemas.microsoft.com/office/drawing/2014/main" id="{A3BBED5A-AE12-068E-9EC2-0644C042E35C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46479" y="3225800"/>
              <a:ext cx="157479" cy="157480"/>
            </a:xfrm>
            <a:prstGeom prst="rect">
              <a:avLst/>
            </a:prstGeom>
          </p:spPr>
        </p:pic>
        <p:pic>
          <p:nvPicPr>
            <p:cNvPr id="30" name="object 21">
              <a:extLst>
                <a:ext uri="{FF2B5EF4-FFF2-40B4-BE49-F238E27FC236}">
                  <a16:creationId xmlns:a16="http://schemas.microsoft.com/office/drawing/2014/main" id="{2A7E5622-0D53-35E5-87BE-F47F68FB5682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42059" y="3225800"/>
              <a:ext cx="157480" cy="157480"/>
            </a:xfrm>
            <a:prstGeom prst="rect">
              <a:avLst/>
            </a:prstGeom>
          </p:spPr>
        </p:pic>
        <p:pic>
          <p:nvPicPr>
            <p:cNvPr id="31" name="object 22">
              <a:extLst>
                <a:ext uri="{FF2B5EF4-FFF2-40B4-BE49-F238E27FC236}">
                  <a16:creationId xmlns:a16="http://schemas.microsoft.com/office/drawing/2014/main" id="{E38EE1B9-F030-F3E5-AE22-CF94DC270093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32559" y="3225800"/>
              <a:ext cx="157480" cy="157480"/>
            </a:xfrm>
            <a:prstGeom prst="rect">
              <a:avLst/>
            </a:prstGeom>
          </p:spPr>
        </p:pic>
        <p:pic>
          <p:nvPicPr>
            <p:cNvPr id="32" name="object 23">
              <a:extLst>
                <a:ext uri="{FF2B5EF4-FFF2-40B4-BE49-F238E27FC236}">
                  <a16:creationId xmlns:a16="http://schemas.microsoft.com/office/drawing/2014/main" id="{09F92FE2-E3B4-6B69-CAAC-0EDE9BCD0A07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90220" y="4452620"/>
              <a:ext cx="99059" cy="99060"/>
            </a:xfrm>
            <a:prstGeom prst="rect">
              <a:avLst/>
            </a:prstGeom>
          </p:spPr>
        </p:pic>
        <p:sp>
          <p:nvSpPr>
            <p:cNvPr id="33" name="object 24">
              <a:extLst>
                <a:ext uri="{FF2B5EF4-FFF2-40B4-BE49-F238E27FC236}">
                  <a16:creationId xmlns:a16="http://schemas.microsoft.com/office/drawing/2014/main" id="{A42F3726-042D-CD32-FBE1-17E108963DEB}"/>
                </a:ext>
              </a:extLst>
            </p:cNvPr>
            <p:cNvSpPr/>
            <p:nvPr/>
          </p:nvSpPr>
          <p:spPr>
            <a:xfrm>
              <a:off x="271780" y="3373120"/>
              <a:ext cx="1049655" cy="1129030"/>
            </a:xfrm>
            <a:custGeom>
              <a:avLst/>
              <a:gdLst/>
              <a:ahLst/>
              <a:cxnLst/>
              <a:rect l="l" t="t" r="r" b="b"/>
              <a:pathLst>
                <a:path w="1049655" h="1129029">
                  <a:moveTo>
                    <a:pt x="1049655" y="0"/>
                  </a:moveTo>
                  <a:lnTo>
                    <a:pt x="1049655" y="545083"/>
                  </a:lnTo>
                  <a:lnTo>
                    <a:pt x="0" y="545083"/>
                  </a:lnTo>
                  <a:lnTo>
                    <a:pt x="0" y="1128902"/>
                  </a:lnTo>
                  <a:lnTo>
                    <a:pt x="228600" y="1128902"/>
                  </a:lnTo>
                </a:path>
              </a:pathLst>
            </a:custGeom>
            <a:ln w="2032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25">
              <a:extLst>
                <a:ext uri="{FF2B5EF4-FFF2-40B4-BE49-F238E27FC236}">
                  <a16:creationId xmlns:a16="http://schemas.microsoft.com/office/drawing/2014/main" id="{C0149489-DB53-6292-C821-71BD7FF91741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17220" y="4452620"/>
              <a:ext cx="96519" cy="99060"/>
            </a:xfrm>
            <a:prstGeom prst="rect">
              <a:avLst/>
            </a:prstGeom>
          </p:spPr>
        </p:pic>
        <p:sp>
          <p:nvSpPr>
            <p:cNvPr id="35" name="object 26">
              <a:extLst>
                <a:ext uri="{FF2B5EF4-FFF2-40B4-BE49-F238E27FC236}">
                  <a16:creationId xmlns:a16="http://schemas.microsoft.com/office/drawing/2014/main" id="{CE8F9CD9-7639-15DE-AF3C-AEAFE5BBED47}"/>
                </a:ext>
              </a:extLst>
            </p:cNvPr>
            <p:cNvSpPr/>
            <p:nvPr/>
          </p:nvSpPr>
          <p:spPr>
            <a:xfrm>
              <a:off x="665479" y="4541520"/>
              <a:ext cx="196850" cy="328930"/>
            </a:xfrm>
            <a:custGeom>
              <a:avLst/>
              <a:gdLst/>
              <a:ahLst/>
              <a:cxnLst/>
              <a:rect l="l" t="t" r="r" b="b"/>
              <a:pathLst>
                <a:path w="196850" h="328929">
                  <a:moveTo>
                    <a:pt x="0" y="0"/>
                  </a:moveTo>
                  <a:lnTo>
                    <a:pt x="0" y="164464"/>
                  </a:lnTo>
                  <a:lnTo>
                    <a:pt x="196786" y="164464"/>
                  </a:lnTo>
                  <a:lnTo>
                    <a:pt x="196786" y="328929"/>
                  </a:lnTo>
                </a:path>
              </a:pathLst>
            </a:custGeom>
            <a:ln w="2032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27">
              <a:extLst>
                <a:ext uri="{FF2B5EF4-FFF2-40B4-BE49-F238E27FC236}">
                  <a16:creationId xmlns:a16="http://schemas.microsoft.com/office/drawing/2014/main" id="{8E55BB43-807F-CF26-4CD5-8BB6F8551E93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12800" y="4859020"/>
              <a:ext cx="99059" cy="99060"/>
            </a:xfrm>
            <a:prstGeom prst="rect">
              <a:avLst/>
            </a:prstGeom>
          </p:spPr>
        </p:pic>
        <p:pic>
          <p:nvPicPr>
            <p:cNvPr id="37" name="object 28">
              <a:extLst>
                <a:ext uri="{FF2B5EF4-FFF2-40B4-BE49-F238E27FC236}">
                  <a16:creationId xmlns:a16="http://schemas.microsoft.com/office/drawing/2014/main" id="{F3B5F7EB-6538-3671-C8E8-D6E6999D0AAA}"/>
                </a:ext>
              </a:extLst>
            </p:cNvPr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018020" y="4813300"/>
              <a:ext cx="96519" cy="96520"/>
            </a:xfrm>
            <a:prstGeom prst="rect">
              <a:avLst/>
            </a:prstGeom>
          </p:spPr>
        </p:pic>
        <p:pic>
          <p:nvPicPr>
            <p:cNvPr id="38" name="object 29">
              <a:extLst>
                <a:ext uri="{FF2B5EF4-FFF2-40B4-BE49-F238E27FC236}">
                  <a16:creationId xmlns:a16="http://schemas.microsoft.com/office/drawing/2014/main" id="{9324DD4E-0711-D2B6-71AC-85AC17B2CE68}"/>
                </a:ext>
              </a:extLst>
            </p:cNvPr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624320" y="4262120"/>
              <a:ext cx="99059" cy="96520"/>
            </a:xfrm>
            <a:prstGeom prst="rect">
              <a:avLst/>
            </a:prstGeom>
          </p:spPr>
        </p:pic>
        <p:sp>
          <p:nvSpPr>
            <p:cNvPr id="39" name="object 30">
              <a:extLst>
                <a:ext uri="{FF2B5EF4-FFF2-40B4-BE49-F238E27FC236}">
                  <a16:creationId xmlns:a16="http://schemas.microsoft.com/office/drawing/2014/main" id="{D4633F4B-EFDC-5E5B-DF5D-83FBB9A79B95}"/>
                </a:ext>
              </a:extLst>
            </p:cNvPr>
            <p:cNvSpPr/>
            <p:nvPr/>
          </p:nvSpPr>
          <p:spPr>
            <a:xfrm>
              <a:off x="1511300" y="3373120"/>
              <a:ext cx="5163185" cy="898525"/>
            </a:xfrm>
            <a:custGeom>
              <a:avLst/>
              <a:gdLst/>
              <a:ahLst/>
              <a:cxnLst/>
              <a:rect l="l" t="t" r="r" b="b"/>
              <a:pathLst>
                <a:path w="5163184" h="898525">
                  <a:moveTo>
                    <a:pt x="0" y="0"/>
                  </a:moveTo>
                  <a:lnTo>
                    <a:pt x="0" y="306069"/>
                  </a:lnTo>
                  <a:lnTo>
                    <a:pt x="5162677" y="306069"/>
                  </a:lnTo>
                  <a:lnTo>
                    <a:pt x="5162677" y="898016"/>
                  </a:lnTo>
                </a:path>
              </a:pathLst>
            </a:custGeom>
            <a:ln w="2032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31">
              <a:extLst>
                <a:ext uri="{FF2B5EF4-FFF2-40B4-BE49-F238E27FC236}">
                  <a16:creationId xmlns:a16="http://schemas.microsoft.com/office/drawing/2014/main" id="{392D9FEA-559C-2E23-A1A7-14215725269B}"/>
                </a:ext>
              </a:extLst>
            </p:cNvPr>
            <p:cNvSpPr/>
            <p:nvPr/>
          </p:nvSpPr>
          <p:spPr>
            <a:xfrm>
              <a:off x="6675120" y="4348479"/>
              <a:ext cx="392430" cy="473709"/>
            </a:xfrm>
            <a:custGeom>
              <a:avLst/>
              <a:gdLst/>
              <a:ahLst/>
              <a:cxnLst/>
              <a:rect l="l" t="t" r="r" b="b"/>
              <a:pathLst>
                <a:path w="392429" h="473710">
                  <a:moveTo>
                    <a:pt x="392302" y="473583"/>
                  </a:moveTo>
                  <a:lnTo>
                    <a:pt x="392302" y="236855"/>
                  </a:lnTo>
                  <a:lnTo>
                    <a:pt x="0" y="236855"/>
                  </a:lnTo>
                  <a:lnTo>
                    <a:pt x="0" y="0"/>
                  </a:lnTo>
                </a:path>
              </a:pathLst>
            </a:custGeom>
            <a:ln w="20320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32">
              <a:extLst>
                <a:ext uri="{FF2B5EF4-FFF2-40B4-BE49-F238E27FC236}">
                  <a16:creationId xmlns:a16="http://schemas.microsoft.com/office/drawing/2014/main" id="{CB554DAF-551B-9B91-5467-87FD70CD78A0}"/>
                </a:ext>
              </a:extLst>
            </p:cNvPr>
            <p:cNvSpPr/>
            <p:nvPr/>
          </p:nvSpPr>
          <p:spPr>
            <a:xfrm>
              <a:off x="1118870" y="1562100"/>
              <a:ext cx="1017269" cy="1674495"/>
            </a:xfrm>
            <a:custGeom>
              <a:avLst/>
              <a:gdLst/>
              <a:ahLst/>
              <a:cxnLst/>
              <a:rect l="l" t="t" r="r" b="b"/>
              <a:pathLst>
                <a:path w="1017269" h="1674495">
                  <a:moveTo>
                    <a:pt x="12700" y="1572895"/>
                  </a:moveTo>
                  <a:lnTo>
                    <a:pt x="0" y="1572895"/>
                  </a:lnTo>
                  <a:lnTo>
                    <a:pt x="0" y="1674495"/>
                  </a:lnTo>
                  <a:lnTo>
                    <a:pt x="12700" y="1674495"/>
                  </a:lnTo>
                  <a:lnTo>
                    <a:pt x="12700" y="1572895"/>
                  </a:lnTo>
                  <a:close/>
                </a:path>
                <a:path w="1017269" h="1674495">
                  <a:moveTo>
                    <a:pt x="12700" y="1433195"/>
                  </a:moveTo>
                  <a:lnTo>
                    <a:pt x="0" y="1433195"/>
                  </a:lnTo>
                  <a:lnTo>
                    <a:pt x="0" y="1534795"/>
                  </a:lnTo>
                  <a:lnTo>
                    <a:pt x="12700" y="1534795"/>
                  </a:lnTo>
                  <a:lnTo>
                    <a:pt x="12700" y="1433195"/>
                  </a:lnTo>
                  <a:close/>
                </a:path>
                <a:path w="1017269" h="1674495">
                  <a:moveTo>
                    <a:pt x="12700" y="1293495"/>
                  </a:moveTo>
                  <a:lnTo>
                    <a:pt x="0" y="1293495"/>
                  </a:lnTo>
                  <a:lnTo>
                    <a:pt x="0" y="1395095"/>
                  </a:lnTo>
                  <a:lnTo>
                    <a:pt x="12700" y="1395095"/>
                  </a:lnTo>
                  <a:lnTo>
                    <a:pt x="12700" y="1293495"/>
                  </a:lnTo>
                  <a:close/>
                </a:path>
                <a:path w="1017269" h="1674495">
                  <a:moveTo>
                    <a:pt x="12700" y="1153795"/>
                  </a:moveTo>
                  <a:lnTo>
                    <a:pt x="0" y="1153795"/>
                  </a:lnTo>
                  <a:lnTo>
                    <a:pt x="0" y="1255395"/>
                  </a:lnTo>
                  <a:lnTo>
                    <a:pt x="12700" y="1255395"/>
                  </a:lnTo>
                  <a:lnTo>
                    <a:pt x="12700" y="1153795"/>
                  </a:lnTo>
                  <a:close/>
                </a:path>
                <a:path w="1017269" h="1674495">
                  <a:moveTo>
                    <a:pt x="12700" y="1014095"/>
                  </a:moveTo>
                  <a:lnTo>
                    <a:pt x="0" y="1014095"/>
                  </a:lnTo>
                  <a:lnTo>
                    <a:pt x="0" y="1115695"/>
                  </a:lnTo>
                  <a:lnTo>
                    <a:pt x="12700" y="1115695"/>
                  </a:lnTo>
                  <a:lnTo>
                    <a:pt x="12700" y="1014095"/>
                  </a:lnTo>
                  <a:close/>
                </a:path>
                <a:path w="1017269" h="1674495">
                  <a:moveTo>
                    <a:pt x="12700" y="874395"/>
                  </a:moveTo>
                  <a:lnTo>
                    <a:pt x="0" y="874395"/>
                  </a:lnTo>
                  <a:lnTo>
                    <a:pt x="0" y="975995"/>
                  </a:lnTo>
                  <a:lnTo>
                    <a:pt x="12700" y="975995"/>
                  </a:lnTo>
                  <a:lnTo>
                    <a:pt x="12700" y="874395"/>
                  </a:lnTo>
                  <a:close/>
                </a:path>
                <a:path w="1017269" h="1674495">
                  <a:moveTo>
                    <a:pt x="12700" y="734695"/>
                  </a:moveTo>
                  <a:lnTo>
                    <a:pt x="0" y="734695"/>
                  </a:lnTo>
                  <a:lnTo>
                    <a:pt x="0" y="836295"/>
                  </a:lnTo>
                  <a:lnTo>
                    <a:pt x="12700" y="836295"/>
                  </a:lnTo>
                  <a:lnTo>
                    <a:pt x="12700" y="734695"/>
                  </a:lnTo>
                  <a:close/>
                </a:path>
                <a:path w="1017269" h="1674495">
                  <a:moveTo>
                    <a:pt x="12700" y="594995"/>
                  </a:moveTo>
                  <a:lnTo>
                    <a:pt x="0" y="594995"/>
                  </a:lnTo>
                  <a:lnTo>
                    <a:pt x="0" y="696595"/>
                  </a:lnTo>
                  <a:lnTo>
                    <a:pt x="12700" y="696595"/>
                  </a:lnTo>
                  <a:lnTo>
                    <a:pt x="12700" y="594995"/>
                  </a:lnTo>
                  <a:close/>
                </a:path>
                <a:path w="1017269" h="1674495">
                  <a:moveTo>
                    <a:pt x="12700" y="455295"/>
                  </a:moveTo>
                  <a:lnTo>
                    <a:pt x="0" y="455295"/>
                  </a:lnTo>
                  <a:lnTo>
                    <a:pt x="0" y="556895"/>
                  </a:lnTo>
                  <a:lnTo>
                    <a:pt x="12700" y="556895"/>
                  </a:lnTo>
                  <a:lnTo>
                    <a:pt x="12700" y="455295"/>
                  </a:lnTo>
                  <a:close/>
                </a:path>
                <a:path w="1017269" h="1674495">
                  <a:moveTo>
                    <a:pt x="12700" y="315595"/>
                  </a:moveTo>
                  <a:lnTo>
                    <a:pt x="0" y="315595"/>
                  </a:lnTo>
                  <a:lnTo>
                    <a:pt x="0" y="417195"/>
                  </a:lnTo>
                  <a:lnTo>
                    <a:pt x="12700" y="417195"/>
                  </a:lnTo>
                  <a:lnTo>
                    <a:pt x="12700" y="315595"/>
                  </a:lnTo>
                  <a:close/>
                </a:path>
                <a:path w="1017269" h="1674495">
                  <a:moveTo>
                    <a:pt x="12700" y="175895"/>
                  </a:moveTo>
                  <a:lnTo>
                    <a:pt x="0" y="175895"/>
                  </a:lnTo>
                  <a:lnTo>
                    <a:pt x="0" y="277495"/>
                  </a:lnTo>
                  <a:lnTo>
                    <a:pt x="12700" y="277495"/>
                  </a:lnTo>
                  <a:lnTo>
                    <a:pt x="12700" y="175895"/>
                  </a:lnTo>
                  <a:close/>
                </a:path>
                <a:path w="1017269" h="1674495">
                  <a:moveTo>
                    <a:pt x="8229" y="31750"/>
                  </a:moveTo>
                  <a:lnTo>
                    <a:pt x="2844" y="31750"/>
                  </a:lnTo>
                  <a:lnTo>
                    <a:pt x="0" y="34544"/>
                  </a:lnTo>
                  <a:lnTo>
                    <a:pt x="0" y="137795"/>
                  </a:lnTo>
                  <a:lnTo>
                    <a:pt x="12700" y="137795"/>
                  </a:lnTo>
                  <a:lnTo>
                    <a:pt x="12700" y="44450"/>
                  </a:lnTo>
                  <a:lnTo>
                    <a:pt x="6350" y="44450"/>
                  </a:lnTo>
                  <a:lnTo>
                    <a:pt x="8229" y="42570"/>
                  </a:lnTo>
                  <a:lnTo>
                    <a:pt x="8229" y="31750"/>
                  </a:lnTo>
                  <a:close/>
                </a:path>
                <a:path w="1017269" h="1674495">
                  <a:moveTo>
                    <a:pt x="8229" y="42570"/>
                  </a:moveTo>
                  <a:lnTo>
                    <a:pt x="6350" y="44450"/>
                  </a:lnTo>
                  <a:lnTo>
                    <a:pt x="8229" y="44450"/>
                  </a:lnTo>
                  <a:lnTo>
                    <a:pt x="8229" y="42570"/>
                  </a:lnTo>
                  <a:close/>
                </a:path>
                <a:path w="1017269" h="1674495">
                  <a:moveTo>
                    <a:pt x="12700" y="38100"/>
                  </a:moveTo>
                  <a:lnTo>
                    <a:pt x="8229" y="42570"/>
                  </a:lnTo>
                  <a:lnTo>
                    <a:pt x="8229" y="44450"/>
                  </a:lnTo>
                  <a:lnTo>
                    <a:pt x="12700" y="44450"/>
                  </a:lnTo>
                  <a:lnTo>
                    <a:pt x="12700" y="38100"/>
                  </a:lnTo>
                  <a:close/>
                </a:path>
                <a:path w="1017269" h="1674495">
                  <a:moveTo>
                    <a:pt x="147929" y="31750"/>
                  </a:moveTo>
                  <a:lnTo>
                    <a:pt x="46329" y="31750"/>
                  </a:lnTo>
                  <a:lnTo>
                    <a:pt x="46329" y="44450"/>
                  </a:lnTo>
                  <a:lnTo>
                    <a:pt x="147929" y="44450"/>
                  </a:lnTo>
                  <a:lnTo>
                    <a:pt x="147929" y="31750"/>
                  </a:lnTo>
                  <a:close/>
                </a:path>
                <a:path w="1017269" h="1674495">
                  <a:moveTo>
                    <a:pt x="287655" y="31750"/>
                  </a:moveTo>
                  <a:lnTo>
                    <a:pt x="186055" y="31750"/>
                  </a:lnTo>
                  <a:lnTo>
                    <a:pt x="186055" y="44450"/>
                  </a:lnTo>
                  <a:lnTo>
                    <a:pt x="287655" y="44450"/>
                  </a:lnTo>
                  <a:lnTo>
                    <a:pt x="287655" y="31750"/>
                  </a:lnTo>
                  <a:close/>
                </a:path>
                <a:path w="1017269" h="1674495">
                  <a:moveTo>
                    <a:pt x="427355" y="31750"/>
                  </a:moveTo>
                  <a:lnTo>
                    <a:pt x="325755" y="31750"/>
                  </a:lnTo>
                  <a:lnTo>
                    <a:pt x="325755" y="44450"/>
                  </a:lnTo>
                  <a:lnTo>
                    <a:pt x="427355" y="44450"/>
                  </a:lnTo>
                  <a:lnTo>
                    <a:pt x="427355" y="31750"/>
                  </a:lnTo>
                  <a:close/>
                </a:path>
                <a:path w="1017269" h="1674495">
                  <a:moveTo>
                    <a:pt x="567055" y="31750"/>
                  </a:moveTo>
                  <a:lnTo>
                    <a:pt x="465455" y="31750"/>
                  </a:lnTo>
                  <a:lnTo>
                    <a:pt x="465455" y="44450"/>
                  </a:lnTo>
                  <a:lnTo>
                    <a:pt x="567055" y="44450"/>
                  </a:lnTo>
                  <a:lnTo>
                    <a:pt x="567055" y="31750"/>
                  </a:lnTo>
                  <a:close/>
                </a:path>
                <a:path w="1017269" h="1674495">
                  <a:moveTo>
                    <a:pt x="706755" y="31750"/>
                  </a:moveTo>
                  <a:lnTo>
                    <a:pt x="605155" y="31750"/>
                  </a:lnTo>
                  <a:lnTo>
                    <a:pt x="605155" y="44450"/>
                  </a:lnTo>
                  <a:lnTo>
                    <a:pt x="706755" y="44450"/>
                  </a:lnTo>
                  <a:lnTo>
                    <a:pt x="706755" y="31750"/>
                  </a:lnTo>
                  <a:close/>
                </a:path>
                <a:path w="1017269" h="1674495">
                  <a:moveTo>
                    <a:pt x="846455" y="31750"/>
                  </a:moveTo>
                  <a:lnTo>
                    <a:pt x="744855" y="31750"/>
                  </a:lnTo>
                  <a:lnTo>
                    <a:pt x="744855" y="44450"/>
                  </a:lnTo>
                  <a:lnTo>
                    <a:pt x="846455" y="44450"/>
                  </a:lnTo>
                  <a:lnTo>
                    <a:pt x="846455" y="31750"/>
                  </a:lnTo>
                  <a:close/>
                </a:path>
                <a:path w="1017269" h="1674495">
                  <a:moveTo>
                    <a:pt x="940688" y="0"/>
                  </a:moveTo>
                  <a:lnTo>
                    <a:pt x="940688" y="76200"/>
                  </a:lnTo>
                  <a:lnTo>
                    <a:pt x="1004188" y="44450"/>
                  </a:lnTo>
                  <a:lnTo>
                    <a:pt x="953388" y="44450"/>
                  </a:lnTo>
                  <a:lnTo>
                    <a:pt x="953388" y="31750"/>
                  </a:lnTo>
                  <a:lnTo>
                    <a:pt x="1004188" y="31750"/>
                  </a:lnTo>
                  <a:lnTo>
                    <a:pt x="940688" y="0"/>
                  </a:lnTo>
                  <a:close/>
                </a:path>
                <a:path w="1017269" h="1674495">
                  <a:moveTo>
                    <a:pt x="940688" y="31750"/>
                  </a:moveTo>
                  <a:lnTo>
                    <a:pt x="884555" y="31750"/>
                  </a:lnTo>
                  <a:lnTo>
                    <a:pt x="884555" y="44450"/>
                  </a:lnTo>
                  <a:lnTo>
                    <a:pt x="940688" y="44450"/>
                  </a:lnTo>
                  <a:lnTo>
                    <a:pt x="940688" y="31750"/>
                  </a:lnTo>
                  <a:close/>
                </a:path>
                <a:path w="1017269" h="1674495">
                  <a:moveTo>
                    <a:pt x="1004188" y="31750"/>
                  </a:moveTo>
                  <a:lnTo>
                    <a:pt x="953388" y="31750"/>
                  </a:lnTo>
                  <a:lnTo>
                    <a:pt x="953388" y="44450"/>
                  </a:lnTo>
                  <a:lnTo>
                    <a:pt x="1004188" y="44450"/>
                  </a:lnTo>
                  <a:lnTo>
                    <a:pt x="1016888" y="38100"/>
                  </a:lnTo>
                  <a:lnTo>
                    <a:pt x="1004188" y="3175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33">
              <a:extLst>
                <a:ext uri="{FF2B5EF4-FFF2-40B4-BE49-F238E27FC236}">
                  <a16:creationId xmlns:a16="http://schemas.microsoft.com/office/drawing/2014/main" id="{0638B69F-9455-1F03-629B-4A3524B13D48}"/>
                </a:ext>
              </a:extLst>
            </p:cNvPr>
            <p:cNvSpPr/>
            <p:nvPr/>
          </p:nvSpPr>
          <p:spPr>
            <a:xfrm>
              <a:off x="1314450" y="2021840"/>
              <a:ext cx="817880" cy="1214120"/>
            </a:xfrm>
            <a:custGeom>
              <a:avLst/>
              <a:gdLst/>
              <a:ahLst/>
              <a:cxnLst/>
              <a:rect l="l" t="t" r="r" b="b"/>
              <a:pathLst>
                <a:path w="817880" h="1214120">
                  <a:moveTo>
                    <a:pt x="12700" y="1112393"/>
                  </a:moveTo>
                  <a:lnTo>
                    <a:pt x="0" y="1112393"/>
                  </a:lnTo>
                  <a:lnTo>
                    <a:pt x="0" y="1213993"/>
                  </a:lnTo>
                  <a:lnTo>
                    <a:pt x="12700" y="1213993"/>
                  </a:lnTo>
                  <a:lnTo>
                    <a:pt x="12700" y="1112393"/>
                  </a:lnTo>
                  <a:close/>
                </a:path>
                <a:path w="817880" h="1214120">
                  <a:moveTo>
                    <a:pt x="12700" y="972693"/>
                  </a:moveTo>
                  <a:lnTo>
                    <a:pt x="0" y="972693"/>
                  </a:lnTo>
                  <a:lnTo>
                    <a:pt x="0" y="1074293"/>
                  </a:lnTo>
                  <a:lnTo>
                    <a:pt x="12700" y="1074293"/>
                  </a:lnTo>
                  <a:lnTo>
                    <a:pt x="12700" y="972693"/>
                  </a:lnTo>
                  <a:close/>
                </a:path>
                <a:path w="817880" h="1214120">
                  <a:moveTo>
                    <a:pt x="12700" y="832993"/>
                  </a:moveTo>
                  <a:lnTo>
                    <a:pt x="0" y="832993"/>
                  </a:lnTo>
                  <a:lnTo>
                    <a:pt x="0" y="934593"/>
                  </a:lnTo>
                  <a:lnTo>
                    <a:pt x="12700" y="934593"/>
                  </a:lnTo>
                  <a:lnTo>
                    <a:pt x="12700" y="832993"/>
                  </a:lnTo>
                  <a:close/>
                </a:path>
                <a:path w="817880" h="1214120">
                  <a:moveTo>
                    <a:pt x="12700" y="693293"/>
                  </a:moveTo>
                  <a:lnTo>
                    <a:pt x="0" y="693293"/>
                  </a:lnTo>
                  <a:lnTo>
                    <a:pt x="0" y="794893"/>
                  </a:lnTo>
                  <a:lnTo>
                    <a:pt x="12700" y="794893"/>
                  </a:lnTo>
                  <a:lnTo>
                    <a:pt x="12700" y="693293"/>
                  </a:lnTo>
                  <a:close/>
                </a:path>
                <a:path w="817880" h="1214120">
                  <a:moveTo>
                    <a:pt x="12700" y="553593"/>
                  </a:moveTo>
                  <a:lnTo>
                    <a:pt x="0" y="553593"/>
                  </a:lnTo>
                  <a:lnTo>
                    <a:pt x="0" y="655193"/>
                  </a:lnTo>
                  <a:lnTo>
                    <a:pt x="12700" y="655193"/>
                  </a:lnTo>
                  <a:lnTo>
                    <a:pt x="12700" y="553593"/>
                  </a:lnTo>
                  <a:close/>
                </a:path>
                <a:path w="817880" h="1214120">
                  <a:moveTo>
                    <a:pt x="12700" y="413893"/>
                  </a:moveTo>
                  <a:lnTo>
                    <a:pt x="0" y="413893"/>
                  </a:lnTo>
                  <a:lnTo>
                    <a:pt x="0" y="515493"/>
                  </a:lnTo>
                  <a:lnTo>
                    <a:pt x="12700" y="515493"/>
                  </a:lnTo>
                  <a:lnTo>
                    <a:pt x="12700" y="413893"/>
                  </a:lnTo>
                  <a:close/>
                </a:path>
                <a:path w="817880" h="1214120">
                  <a:moveTo>
                    <a:pt x="12700" y="274193"/>
                  </a:moveTo>
                  <a:lnTo>
                    <a:pt x="0" y="274193"/>
                  </a:lnTo>
                  <a:lnTo>
                    <a:pt x="0" y="375793"/>
                  </a:lnTo>
                  <a:lnTo>
                    <a:pt x="12700" y="375793"/>
                  </a:lnTo>
                  <a:lnTo>
                    <a:pt x="12700" y="274193"/>
                  </a:lnTo>
                  <a:close/>
                </a:path>
                <a:path w="817880" h="1214120">
                  <a:moveTo>
                    <a:pt x="12700" y="134493"/>
                  </a:moveTo>
                  <a:lnTo>
                    <a:pt x="0" y="134493"/>
                  </a:lnTo>
                  <a:lnTo>
                    <a:pt x="0" y="236093"/>
                  </a:lnTo>
                  <a:lnTo>
                    <a:pt x="12700" y="236093"/>
                  </a:lnTo>
                  <a:lnTo>
                    <a:pt x="12700" y="134493"/>
                  </a:lnTo>
                  <a:close/>
                </a:path>
                <a:path w="817880" h="1214120">
                  <a:moveTo>
                    <a:pt x="49656" y="31750"/>
                  </a:moveTo>
                  <a:lnTo>
                    <a:pt x="2793" y="31750"/>
                  </a:lnTo>
                  <a:lnTo>
                    <a:pt x="0" y="34544"/>
                  </a:lnTo>
                  <a:lnTo>
                    <a:pt x="0" y="96393"/>
                  </a:lnTo>
                  <a:lnTo>
                    <a:pt x="12700" y="96393"/>
                  </a:lnTo>
                  <a:lnTo>
                    <a:pt x="12700" y="44450"/>
                  </a:lnTo>
                  <a:lnTo>
                    <a:pt x="6350" y="44450"/>
                  </a:lnTo>
                  <a:lnTo>
                    <a:pt x="12700" y="38100"/>
                  </a:lnTo>
                  <a:lnTo>
                    <a:pt x="49656" y="38100"/>
                  </a:lnTo>
                  <a:lnTo>
                    <a:pt x="49656" y="31750"/>
                  </a:lnTo>
                  <a:close/>
                </a:path>
                <a:path w="817880" h="1214120">
                  <a:moveTo>
                    <a:pt x="12700" y="38100"/>
                  </a:moveTo>
                  <a:lnTo>
                    <a:pt x="6350" y="44450"/>
                  </a:lnTo>
                  <a:lnTo>
                    <a:pt x="12700" y="44450"/>
                  </a:lnTo>
                  <a:lnTo>
                    <a:pt x="12700" y="38100"/>
                  </a:lnTo>
                  <a:close/>
                </a:path>
                <a:path w="817880" h="1214120">
                  <a:moveTo>
                    <a:pt x="49656" y="38100"/>
                  </a:moveTo>
                  <a:lnTo>
                    <a:pt x="12700" y="38100"/>
                  </a:lnTo>
                  <a:lnTo>
                    <a:pt x="12700" y="44450"/>
                  </a:lnTo>
                  <a:lnTo>
                    <a:pt x="49656" y="44450"/>
                  </a:lnTo>
                  <a:lnTo>
                    <a:pt x="49656" y="38100"/>
                  </a:lnTo>
                  <a:close/>
                </a:path>
                <a:path w="817880" h="1214120">
                  <a:moveTo>
                    <a:pt x="189356" y="31750"/>
                  </a:moveTo>
                  <a:lnTo>
                    <a:pt x="87756" y="31750"/>
                  </a:lnTo>
                  <a:lnTo>
                    <a:pt x="87756" y="44450"/>
                  </a:lnTo>
                  <a:lnTo>
                    <a:pt x="189356" y="44450"/>
                  </a:lnTo>
                  <a:lnTo>
                    <a:pt x="189356" y="31750"/>
                  </a:lnTo>
                  <a:close/>
                </a:path>
                <a:path w="817880" h="1214120">
                  <a:moveTo>
                    <a:pt x="329056" y="31750"/>
                  </a:moveTo>
                  <a:lnTo>
                    <a:pt x="227456" y="31750"/>
                  </a:lnTo>
                  <a:lnTo>
                    <a:pt x="227456" y="44450"/>
                  </a:lnTo>
                  <a:lnTo>
                    <a:pt x="329056" y="44450"/>
                  </a:lnTo>
                  <a:lnTo>
                    <a:pt x="329056" y="31750"/>
                  </a:lnTo>
                  <a:close/>
                </a:path>
                <a:path w="817880" h="1214120">
                  <a:moveTo>
                    <a:pt x="468756" y="31750"/>
                  </a:moveTo>
                  <a:lnTo>
                    <a:pt x="367156" y="31750"/>
                  </a:lnTo>
                  <a:lnTo>
                    <a:pt x="367156" y="44450"/>
                  </a:lnTo>
                  <a:lnTo>
                    <a:pt x="468756" y="44450"/>
                  </a:lnTo>
                  <a:lnTo>
                    <a:pt x="468756" y="31750"/>
                  </a:lnTo>
                  <a:close/>
                </a:path>
                <a:path w="817880" h="1214120">
                  <a:moveTo>
                    <a:pt x="608457" y="31750"/>
                  </a:moveTo>
                  <a:lnTo>
                    <a:pt x="506856" y="31750"/>
                  </a:lnTo>
                  <a:lnTo>
                    <a:pt x="506856" y="44450"/>
                  </a:lnTo>
                  <a:lnTo>
                    <a:pt x="608457" y="44450"/>
                  </a:lnTo>
                  <a:lnTo>
                    <a:pt x="608457" y="31750"/>
                  </a:lnTo>
                  <a:close/>
                </a:path>
                <a:path w="817880" h="1214120">
                  <a:moveTo>
                    <a:pt x="741426" y="0"/>
                  </a:moveTo>
                  <a:lnTo>
                    <a:pt x="741426" y="76200"/>
                  </a:lnTo>
                  <a:lnTo>
                    <a:pt x="804926" y="44450"/>
                  </a:lnTo>
                  <a:lnTo>
                    <a:pt x="748157" y="44450"/>
                  </a:lnTo>
                  <a:lnTo>
                    <a:pt x="748157" y="31750"/>
                  </a:lnTo>
                  <a:lnTo>
                    <a:pt x="804926" y="31750"/>
                  </a:lnTo>
                  <a:lnTo>
                    <a:pt x="741426" y="0"/>
                  </a:lnTo>
                  <a:close/>
                </a:path>
                <a:path w="817880" h="1214120">
                  <a:moveTo>
                    <a:pt x="741426" y="31750"/>
                  </a:moveTo>
                  <a:lnTo>
                    <a:pt x="646557" y="31750"/>
                  </a:lnTo>
                  <a:lnTo>
                    <a:pt x="646557" y="44450"/>
                  </a:lnTo>
                  <a:lnTo>
                    <a:pt x="741426" y="44450"/>
                  </a:lnTo>
                  <a:lnTo>
                    <a:pt x="741426" y="31750"/>
                  </a:lnTo>
                  <a:close/>
                </a:path>
                <a:path w="817880" h="1214120">
                  <a:moveTo>
                    <a:pt x="804926" y="31750"/>
                  </a:moveTo>
                  <a:lnTo>
                    <a:pt x="748157" y="31750"/>
                  </a:lnTo>
                  <a:lnTo>
                    <a:pt x="748157" y="44450"/>
                  </a:lnTo>
                  <a:lnTo>
                    <a:pt x="804926" y="44450"/>
                  </a:lnTo>
                  <a:lnTo>
                    <a:pt x="817626" y="38100"/>
                  </a:lnTo>
                  <a:lnTo>
                    <a:pt x="804926" y="31750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34">
              <a:extLst>
                <a:ext uri="{FF2B5EF4-FFF2-40B4-BE49-F238E27FC236}">
                  <a16:creationId xmlns:a16="http://schemas.microsoft.com/office/drawing/2014/main" id="{C0828D4A-813D-6595-762C-8BFC5A32666B}"/>
                </a:ext>
              </a:extLst>
            </p:cNvPr>
            <p:cNvSpPr/>
            <p:nvPr/>
          </p:nvSpPr>
          <p:spPr>
            <a:xfrm>
              <a:off x="1504950" y="2466339"/>
              <a:ext cx="632460" cy="770890"/>
            </a:xfrm>
            <a:custGeom>
              <a:avLst/>
              <a:gdLst/>
              <a:ahLst/>
              <a:cxnLst/>
              <a:rect l="l" t="t" r="r" b="b"/>
              <a:pathLst>
                <a:path w="632460" h="770889">
                  <a:moveTo>
                    <a:pt x="12700" y="668782"/>
                  </a:moveTo>
                  <a:lnTo>
                    <a:pt x="0" y="668782"/>
                  </a:lnTo>
                  <a:lnTo>
                    <a:pt x="0" y="770382"/>
                  </a:lnTo>
                  <a:lnTo>
                    <a:pt x="12700" y="770382"/>
                  </a:lnTo>
                  <a:lnTo>
                    <a:pt x="12700" y="668782"/>
                  </a:lnTo>
                  <a:close/>
                </a:path>
                <a:path w="632460" h="770889">
                  <a:moveTo>
                    <a:pt x="12700" y="529082"/>
                  </a:moveTo>
                  <a:lnTo>
                    <a:pt x="0" y="529082"/>
                  </a:lnTo>
                  <a:lnTo>
                    <a:pt x="0" y="630682"/>
                  </a:lnTo>
                  <a:lnTo>
                    <a:pt x="12700" y="630682"/>
                  </a:lnTo>
                  <a:lnTo>
                    <a:pt x="12700" y="529082"/>
                  </a:lnTo>
                  <a:close/>
                </a:path>
                <a:path w="632460" h="770889">
                  <a:moveTo>
                    <a:pt x="12700" y="389382"/>
                  </a:moveTo>
                  <a:lnTo>
                    <a:pt x="0" y="389382"/>
                  </a:lnTo>
                  <a:lnTo>
                    <a:pt x="0" y="490982"/>
                  </a:lnTo>
                  <a:lnTo>
                    <a:pt x="12700" y="490982"/>
                  </a:lnTo>
                  <a:lnTo>
                    <a:pt x="12700" y="389382"/>
                  </a:lnTo>
                  <a:close/>
                </a:path>
                <a:path w="632460" h="770889">
                  <a:moveTo>
                    <a:pt x="12700" y="249682"/>
                  </a:moveTo>
                  <a:lnTo>
                    <a:pt x="0" y="249682"/>
                  </a:lnTo>
                  <a:lnTo>
                    <a:pt x="0" y="351282"/>
                  </a:lnTo>
                  <a:lnTo>
                    <a:pt x="12700" y="351282"/>
                  </a:lnTo>
                  <a:lnTo>
                    <a:pt x="12700" y="249682"/>
                  </a:lnTo>
                  <a:close/>
                </a:path>
                <a:path w="632460" h="770889">
                  <a:moveTo>
                    <a:pt x="12700" y="109982"/>
                  </a:moveTo>
                  <a:lnTo>
                    <a:pt x="0" y="109982"/>
                  </a:lnTo>
                  <a:lnTo>
                    <a:pt x="0" y="211582"/>
                  </a:lnTo>
                  <a:lnTo>
                    <a:pt x="12700" y="211582"/>
                  </a:lnTo>
                  <a:lnTo>
                    <a:pt x="12700" y="109982"/>
                  </a:lnTo>
                  <a:close/>
                </a:path>
                <a:path w="632460" h="770889">
                  <a:moveTo>
                    <a:pt x="74168" y="31750"/>
                  </a:moveTo>
                  <a:lnTo>
                    <a:pt x="2793" y="31750"/>
                  </a:lnTo>
                  <a:lnTo>
                    <a:pt x="0" y="34544"/>
                  </a:lnTo>
                  <a:lnTo>
                    <a:pt x="0" y="71882"/>
                  </a:lnTo>
                  <a:lnTo>
                    <a:pt x="12700" y="71882"/>
                  </a:lnTo>
                  <a:lnTo>
                    <a:pt x="12700" y="44450"/>
                  </a:lnTo>
                  <a:lnTo>
                    <a:pt x="6350" y="44450"/>
                  </a:lnTo>
                  <a:lnTo>
                    <a:pt x="12700" y="38100"/>
                  </a:lnTo>
                  <a:lnTo>
                    <a:pt x="74168" y="38100"/>
                  </a:lnTo>
                  <a:lnTo>
                    <a:pt x="74168" y="31750"/>
                  </a:lnTo>
                  <a:close/>
                </a:path>
                <a:path w="632460" h="770889">
                  <a:moveTo>
                    <a:pt x="12700" y="38100"/>
                  </a:moveTo>
                  <a:lnTo>
                    <a:pt x="6350" y="44450"/>
                  </a:lnTo>
                  <a:lnTo>
                    <a:pt x="12700" y="44450"/>
                  </a:lnTo>
                  <a:lnTo>
                    <a:pt x="12700" y="38100"/>
                  </a:lnTo>
                  <a:close/>
                </a:path>
                <a:path w="632460" h="770889">
                  <a:moveTo>
                    <a:pt x="74168" y="38100"/>
                  </a:moveTo>
                  <a:lnTo>
                    <a:pt x="12700" y="38100"/>
                  </a:lnTo>
                  <a:lnTo>
                    <a:pt x="12700" y="44450"/>
                  </a:lnTo>
                  <a:lnTo>
                    <a:pt x="74168" y="44450"/>
                  </a:lnTo>
                  <a:lnTo>
                    <a:pt x="74168" y="38100"/>
                  </a:lnTo>
                  <a:close/>
                </a:path>
                <a:path w="632460" h="770889">
                  <a:moveTo>
                    <a:pt x="213868" y="31750"/>
                  </a:moveTo>
                  <a:lnTo>
                    <a:pt x="112268" y="31750"/>
                  </a:lnTo>
                  <a:lnTo>
                    <a:pt x="112268" y="44450"/>
                  </a:lnTo>
                  <a:lnTo>
                    <a:pt x="213868" y="44450"/>
                  </a:lnTo>
                  <a:lnTo>
                    <a:pt x="213868" y="31750"/>
                  </a:lnTo>
                  <a:close/>
                </a:path>
                <a:path w="632460" h="770889">
                  <a:moveTo>
                    <a:pt x="353568" y="31750"/>
                  </a:moveTo>
                  <a:lnTo>
                    <a:pt x="251968" y="31750"/>
                  </a:lnTo>
                  <a:lnTo>
                    <a:pt x="251968" y="44450"/>
                  </a:lnTo>
                  <a:lnTo>
                    <a:pt x="353568" y="44450"/>
                  </a:lnTo>
                  <a:lnTo>
                    <a:pt x="353568" y="31750"/>
                  </a:lnTo>
                  <a:close/>
                </a:path>
                <a:path w="632460" h="770889">
                  <a:moveTo>
                    <a:pt x="493268" y="31750"/>
                  </a:moveTo>
                  <a:lnTo>
                    <a:pt x="391668" y="31750"/>
                  </a:lnTo>
                  <a:lnTo>
                    <a:pt x="391668" y="44450"/>
                  </a:lnTo>
                  <a:lnTo>
                    <a:pt x="493268" y="44450"/>
                  </a:lnTo>
                  <a:lnTo>
                    <a:pt x="493268" y="31750"/>
                  </a:lnTo>
                  <a:close/>
                </a:path>
                <a:path w="632460" h="770889">
                  <a:moveTo>
                    <a:pt x="556006" y="0"/>
                  </a:moveTo>
                  <a:lnTo>
                    <a:pt x="556006" y="76200"/>
                  </a:lnTo>
                  <a:lnTo>
                    <a:pt x="619506" y="44450"/>
                  </a:lnTo>
                  <a:lnTo>
                    <a:pt x="568706" y="44450"/>
                  </a:lnTo>
                  <a:lnTo>
                    <a:pt x="568706" y="31750"/>
                  </a:lnTo>
                  <a:lnTo>
                    <a:pt x="619506" y="31750"/>
                  </a:lnTo>
                  <a:lnTo>
                    <a:pt x="556006" y="0"/>
                  </a:lnTo>
                  <a:close/>
                </a:path>
                <a:path w="632460" h="770889">
                  <a:moveTo>
                    <a:pt x="556006" y="31750"/>
                  </a:moveTo>
                  <a:lnTo>
                    <a:pt x="531368" y="31750"/>
                  </a:lnTo>
                  <a:lnTo>
                    <a:pt x="531368" y="44450"/>
                  </a:lnTo>
                  <a:lnTo>
                    <a:pt x="556006" y="44450"/>
                  </a:lnTo>
                  <a:lnTo>
                    <a:pt x="556006" y="31750"/>
                  </a:lnTo>
                  <a:close/>
                </a:path>
                <a:path w="632460" h="770889">
                  <a:moveTo>
                    <a:pt x="619506" y="31750"/>
                  </a:moveTo>
                  <a:lnTo>
                    <a:pt x="568706" y="31750"/>
                  </a:lnTo>
                  <a:lnTo>
                    <a:pt x="568706" y="44450"/>
                  </a:lnTo>
                  <a:lnTo>
                    <a:pt x="619506" y="44450"/>
                  </a:lnTo>
                  <a:lnTo>
                    <a:pt x="632206" y="38100"/>
                  </a:lnTo>
                  <a:lnTo>
                    <a:pt x="619506" y="3175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0">
            <a:extLst>
              <a:ext uri="{FF2B5EF4-FFF2-40B4-BE49-F238E27FC236}">
                <a16:creationId xmlns:a16="http://schemas.microsoft.com/office/drawing/2014/main" id="{8D33623A-8808-92D9-3A1F-5FED9A88607C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2059051" y="6518733"/>
            <a:ext cx="4602480" cy="26797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pc="-140" dirty="0"/>
              <a:t>Kelas</a:t>
            </a:r>
            <a:r>
              <a:rPr spc="-65" dirty="0"/>
              <a:t> </a:t>
            </a:r>
            <a:r>
              <a:rPr spc="-125" dirty="0"/>
              <a:t>MTCNA</a:t>
            </a:r>
            <a:r>
              <a:rPr spc="-110" dirty="0"/>
              <a:t> </a:t>
            </a:r>
            <a:r>
              <a:rPr spc="375" dirty="0"/>
              <a:t>|</a:t>
            </a:r>
            <a:r>
              <a:rPr spc="-80" dirty="0"/>
              <a:t> </a:t>
            </a:r>
            <a:r>
              <a:rPr spc="-75" dirty="0"/>
              <a:t>MikroTik </a:t>
            </a:r>
            <a:r>
              <a:rPr spc="-110" dirty="0"/>
              <a:t>Academy</a:t>
            </a:r>
            <a:r>
              <a:rPr spc="-65" dirty="0"/>
              <a:t> </a:t>
            </a:r>
            <a:r>
              <a:rPr dirty="0"/>
              <a:t>-</a:t>
            </a:r>
            <a:r>
              <a:rPr spc="-75" dirty="0"/>
              <a:t> Politeknik</a:t>
            </a:r>
            <a:r>
              <a:rPr spc="-55" dirty="0"/>
              <a:t> </a:t>
            </a:r>
            <a:r>
              <a:rPr spc="-20" dirty="0"/>
              <a:t>Astra</a:t>
            </a:r>
          </a:p>
        </p:txBody>
      </p:sp>
      <p:sp>
        <p:nvSpPr>
          <p:cNvPr id="46" name="object 36">
            <a:extLst>
              <a:ext uri="{FF2B5EF4-FFF2-40B4-BE49-F238E27FC236}">
                <a16:creationId xmlns:a16="http://schemas.microsoft.com/office/drawing/2014/main" id="{089BC11C-75A3-137A-F620-60BB7EFF28E5}"/>
              </a:ext>
            </a:extLst>
          </p:cNvPr>
          <p:cNvSpPr txBox="1"/>
          <p:nvPr/>
        </p:nvSpPr>
        <p:spPr>
          <a:xfrm>
            <a:off x="624840" y="4975859"/>
            <a:ext cx="467359" cy="307340"/>
          </a:xfrm>
          <a:prstGeom prst="rect">
            <a:avLst/>
          </a:prstGeom>
          <a:solidFill>
            <a:srgbClr val="FFFFFF"/>
          </a:solidFill>
          <a:ln w="25400">
            <a:solidFill>
              <a:srgbClr val="F79546"/>
            </a:solidFill>
          </a:ln>
        </p:spPr>
        <p:txBody>
          <a:bodyPr vert="horz" wrap="square" lIns="0" tIns="36194" rIns="0" bIns="0" rtlCol="0">
            <a:spAutoFit/>
          </a:bodyPr>
          <a:lstStyle/>
          <a:p>
            <a:pPr marL="94615">
              <a:lnSpc>
                <a:spcPct val="100000"/>
              </a:lnSpc>
              <a:spcBef>
                <a:spcPts val="284"/>
              </a:spcBef>
            </a:pPr>
            <a:r>
              <a:rPr sz="1400" b="1" spc="-25" dirty="0">
                <a:latin typeface="Calibri"/>
                <a:cs typeface="Calibri"/>
              </a:rPr>
              <a:t>PC1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7" name="object 37">
            <a:extLst>
              <a:ext uri="{FF2B5EF4-FFF2-40B4-BE49-F238E27FC236}">
                <a16:creationId xmlns:a16="http://schemas.microsoft.com/office/drawing/2014/main" id="{A0695596-3AB5-1530-7D31-C4FFD806B4C0}"/>
              </a:ext>
            </a:extLst>
          </p:cNvPr>
          <p:cNvSpPr txBox="1"/>
          <p:nvPr/>
        </p:nvSpPr>
        <p:spPr>
          <a:xfrm>
            <a:off x="6822440" y="4947920"/>
            <a:ext cx="467359" cy="307340"/>
          </a:xfrm>
          <a:prstGeom prst="rect">
            <a:avLst/>
          </a:prstGeom>
          <a:solidFill>
            <a:srgbClr val="FFFFFF"/>
          </a:solidFill>
          <a:ln w="25400">
            <a:solidFill>
              <a:srgbClr val="F79546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97155">
              <a:lnSpc>
                <a:spcPct val="100000"/>
              </a:lnSpc>
              <a:spcBef>
                <a:spcPts val="300"/>
              </a:spcBef>
            </a:pPr>
            <a:r>
              <a:rPr sz="1400" b="1" spc="-25" dirty="0">
                <a:latin typeface="Calibri"/>
                <a:cs typeface="Calibri"/>
              </a:rPr>
              <a:t>PC1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8" name="object 38">
            <a:extLst>
              <a:ext uri="{FF2B5EF4-FFF2-40B4-BE49-F238E27FC236}">
                <a16:creationId xmlns:a16="http://schemas.microsoft.com/office/drawing/2014/main" id="{4E31942E-4B5D-0E65-204A-833E0593259A}"/>
              </a:ext>
            </a:extLst>
          </p:cNvPr>
          <p:cNvSpPr txBox="1"/>
          <p:nvPr/>
        </p:nvSpPr>
        <p:spPr>
          <a:xfrm>
            <a:off x="347979" y="5707379"/>
            <a:ext cx="1376680" cy="523240"/>
          </a:xfrm>
          <a:prstGeom prst="rect">
            <a:avLst/>
          </a:prstGeom>
          <a:solidFill>
            <a:srgbClr val="FFFFFF"/>
          </a:solidFill>
          <a:ln w="25400">
            <a:solidFill>
              <a:srgbClr val="F79546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90"/>
              </a:spcBef>
            </a:pPr>
            <a:r>
              <a:rPr sz="1400" b="1" spc="-10" dirty="0">
                <a:latin typeface="Calibri"/>
                <a:cs typeface="Calibri"/>
              </a:rPr>
              <a:t>Dosen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400" b="1" spc="-10" dirty="0">
                <a:latin typeface="Calibri"/>
                <a:cs typeface="Calibri"/>
              </a:rPr>
              <a:t>10.10.10.10</a:t>
            </a:r>
            <a:r>
              <a:rPr sz="1400" b="1" spc="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-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spc="-25" dirty="0">
                <a:latin typeface="Calibri"/>
                <a:cs typeface="Calibri"/>
              </a:rPr>
              <a:t>20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9" name="object 39">
            <a:extLst>
              <a:ext uri="{FF2B5EF4-FFF2-40B4-BE49-F238E27FC236}">
                <a16:creationId xmlns:a16="http://schemas.microsoft.com/office/drawing/2014/main" id="{DC920FC0-C2B0-7052-F746-27A57E4A99F8}"/>
              </a:ext>
            </a:extLst>
          </p:cNvPr>
          <p:cNvSpPr txBox="1"/>
          <p:nvPr/>
        </p:nvSpPr>
        <p:spPr>
          <a:xfrm>
            <a:off x="6484620" y="5689600"/>
            <a:ext cx="1376680" cy="523240"/>
          </a:xfrm>
          <a:prstGeom prst="rect">
            <a:avLst/>
          </a:prstGeom>
          <a:solidFill>
            <a:srgbClr val="FFFFFF"/>
          </a:solidFill>
          <a:ln w="25400">
            <a:solidFill>
              <a:srgbClr val="F79546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300"/>
              </a:spcBef>
            </a:pPr>
            <a:r>
              <a:rPr sz="1400" b="1" spc="-10" dirty="0">
                <a:latin typeface="Calibri"/>
                <a:cs typeface="Calibri"/>
              </a:rPr>
              <a:t>Instruktur</a:t>
            </a:r>
            <a:endParaRPr sz="1400">
              <a:latin typeface="Calibri"/>
              <a:cs typeface="Calibri"/>
            </a:endParaRPr>
          </a:p>
          <a:p>
            <a:pPr marL="4445" algn="ctr">
              <a:lnSpc>
                <a:spcPct val="100000"/>
              </a:lnSpc>
            </a:pPr>
            <a:r>
              <a:rPr sz="1400" b="1" spc="-10" dirty="0">
                <a:latin typeface="Calibri"/>
                <a:cs typeface="Calibri"/>
              </a:rPr>
              <a:t>10.20.20.10</a:t>
            </a:r>
            <a:r>
              <a:rPr sz="1400" b="1" spc="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-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spc="-25" dirty="0">
                <a:latin typeface="Calibri"/>
                <a:cs typeface="Calibri"/>
              </a:rPr>
              <a:t>20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6EFFB5E-B7B1-EB86-3943-ABAB19844A4C}"/>
              </a:ext>
            </a:extLst>
          </p:cNvPr>
          <p:cNvSpPr txBox="1"/>
          <p:nvPr/>
        </p:nvSpPr>
        <p:spPr>
          <a:xfrm>
            <a:off x="5798819" y="1270274"/>
            <a:ext cx="3276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>
                <a:solidFill>
                  <a:srgbClr val="FF0000"/>
                </a:solidFill>
                <a:latin typeface="+mj-lt"/>
              </a:rPr>
              <a:t>Drop</a:t>
            </a:r>
            <a:r>
              <a:rPr lang="en-US" dirty="0">
                <a:latin typeface="+mj-lt"/>
              </a:rPr>
              <a:t> 	: Dosen to Router</a:t>
            </a:r>
          </a:p>
          <a:p>
            <a:pPr algn="l"/>
            <a:r>
              <a:rPr lang="en-US" b="1" dirty="0">
                <a:latin typeface="+mj-lt"/>
              </a:rPr>
              <a:t>Reject 	</a:t>
            </a:r>
            <a:r>
              <a:rPr lang="en-US" dirty="0">
                <a:latin typeface="+mj-lt"/>
              </a:rPr>
              <a:t>: </a:t>
            </a:r>
            <a:r>
              <a:rPr lang="en-US" dirty="0" err="1">
                <a:latin typeface="+mj-lt"/>
              </a:rPr>
              <a:t>Instruktur</a:t>
            </a:r>
            <a:r>
              <a:rPr lang="en-US" dirty="0">
                <a:latin typeface="+mj-lt"/>
              </a:rPr>
              <a:t> to Internet</a:t>
            </a:r>
          </a:p>
          <a:p>
            <a:pPr algn="l"/>
            <a:r>
              <a:rPr lang="en-US" b="1" dirty="0">
                <a:solidFill>
                  <a:srgbClr val="00B050"/>
                </a:solidFill>
                <a:latin typeface="+mj-lt"/>
              </a:rPr>
              <a:t>Accept</a:t>
            </a:r>
            <a:r>
              <a:rPr lang="en-US" dirty="0">
                <a:latin typeface="+mj-lt"/>
              </a:rPr>
              <a:t> 	: Dosen to Internet</a:t>
            </a:r>
            <a:endParaRPr lang="en-ID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98171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567</TotalTime>
  <Words>447</Words>
  <Application>Microsoft Office PowerPoint</Application>
  <PresentationFormat>On-screen Show (4:3)</PresentationFormat>
  <Paragraphs>72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 Black</vt:lpstr>
      <vt:lpstr>Calibri</vt:lpstr>
      <vt:lpstr>Montserrat</vt:lpstr>
      <vt:lpstr>Tahoma</vt:lpstr>
      <vt:lpstr>Wingdings</vt:lpstr>
      <vt:lpstr>Office Theme</vt:lpstr>
      <vt:lpstr>PowerPoint Presentation</vt:lpstr>
      <vt:lpstr>Firewall</vt:lpstr>
      <vt:lpstr>Firewall Filter Chain – Aliran Data</vt:lpstr>
      <vt:lpstr>Firewall Filter Chain – Aliran Data</vt:lpstr>
      <vt:lpstr>Penggunaan Firewall Filter</vt:lpstr>
      <vt:lpstr>Penggunaan Firewall Filter - IF</vt:lpstr>
      <vt:lpstr>Penggunaan Firewall Filter - THEN</vt:lpstr>
      <vt:lpstr>Firewall LOG</vt:lpstr>
      <vt:lpstr>TOPOLOGI LATIHAN 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UCI7003642</dc:creator>
  <cp:lastModifiedBy>MUHAMMAD HANIF ABDULFATTAH</cp:lastModifiedBy>
  <cp:revision>308</cp:revision>
  <dcterms:created xsi:type="dcterms:W3CDTF">2025-02-07T11:15:37Z</dcterms:created>
  <dcterms:modified xsi:type="dcterms:W3CDTF">2025-11-26T05:04:20Z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2024-08-19T00:00:00Z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2025-02-07T00:00:00Z</vt:filetime>
  </property>
  <property fmtid="{D5CDD505-2E9C-101B-9397-08002B2CF9AE}" pid="5" name="Producer">
    <vt:lpwstr>Microsoft® PowerPoint® 2013</vt:lpwstr>
  </property>
</Properties>
</file>