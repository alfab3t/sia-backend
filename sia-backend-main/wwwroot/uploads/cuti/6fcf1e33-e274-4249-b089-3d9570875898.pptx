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84" r:id="rId2"/>
    <p:sldId id="349" r:id="rId3"/>
    <p:sldId id="351" r:id="rId4"/>
    <p:sldId id="373" r:id="rId5"/>
    <p:sldId id="398" r:id="rId6"/>
    <p:sldId id="375" r:id="rId7"/>
    <p:sldId id="376" r:id="rId8"/>
    <p:sldId id="395" r:id="rId9"/>
    <p:sldId id="400" r:id="rId10"/>
    <p:sldId id="401" r:id="rId11"/>
    <p:sldId id="402" r:id="rId12"/>
    <p:sldId id="397" r:id="rId13"/>
    <p:sldId id="403" r:id="rId14"/>
    <p:sldId id="404" r:id="rId15"/>
    <p:sldId id="405" r:id="rId16"/>
    <p:sldId id="407" r:id="rId17"/>
    <p:sldId id="406" r:id="rId18"/>
    <p:sldId id="374" r:id="rId19"/>
    <p:sldId id="410" r:id="rId20"/>
    <p:sldId id="409" r:id="rId21"/>
    <p:sldId id="411" r:id="rId22"/>
    <p:sldId id="412" r:id="rId23"/>
    <p:sldId id="413" r:id="rId24"/>
    <p:sldId id="408" r:id="rId25"/>
    <p:sldId id="382" r:id="rId26"/>
    <p:sldId id="396" r:id="rId27"/>
    <p:sldId id="399" r:id="rId28"/>
    <p:sldId id="377" r:id="rId29"/>
    <p:sldId id="378" r:id="rId30"/>
    <p:sldId id="380" r:id="rId31"/>
    <p:sldId id="383" r:id="rId32"/>
    <p:sldId id="385" r:id="rId33"/>
    <p:sldId id="386" r:id="rId34"/>
    <p:sldId id="387" r:id="rId35"/>
    <p:sldId id="388" r:id="rId36"/>
    <p:sldId id="389" r:id="rId37"/>
    <p:sldId id="391" r:id="rId38"/>
    <p:sldId id="390" r:id="rId39"/>
    <p:sldId id="321" r:id="rId40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60"/>
  </p:normalViewPr>
  <p:slideViewPr>
    <p:cSldViewPr>
      <p:cViewPr varScale="1">
        <p:scale>
          <a:sx n="102" d="100"/>
          <a:sy n="102" d="100"/>
        </p:scale>
        <p:origin x="14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28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C2568-872D-4E27-89EF-A79DB7D8F46B}" type="datetimeFigureOut">
              <a:rPr lang="id-ID" smtClean="0"/>
              <a:t>05/12/2024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12B37-00F9-4DFD-A8B7-975FC920CA1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908272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9EFEB-44B2-4995-964C-1E6758AEC695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AC6EB-B811-4503-97D9-DA379B576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93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585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D48AB01-06A0-4247-B29B-418ABEBEC2E0}" type="datetimeFigureOut">
              <a:rPr lang="id-ID" smtClean="0"/>
              <a:t>05/12/2024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C367FF5-CDBD-4A1F-BB66-31CF3C2007D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39470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260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403648" y="130324"/>
            <a:ext cx="0" cy="7063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 userDrawn="1"/>
        </p:nvSpPr>
        <p:spPr>
          <a:xfrm>
            <a:off x="179512" y="404664"/>
            <a:ext cx="252749" cy="21602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Oval 12"/>
          <p:cNvSpPr/>
          <p:nvPr userDrawn="1"/>
        </p:nvSpPr>
        <p:spPr>
          <a:xfrm>
            <a:off x="539553" y="404664"/>
            <a:ext cx="252749" cy="21602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Oval 13"/>
          <p:cNvSpPr/>
          <p:nvPr userDrawn="1"/>
        </p:nvSpPr>
        <p:spPr>
          <a:xfrm>
            <a:off x="899593" y="404664"/>
            <a:ext cx="252749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Rectangle 14"/>
          <p:cNvSpPr/>
          <p:nvPr userDrawn="1"/>
        </p:nvSpPr>
        <p:spPr>
          <a:xfrm>
            <a:off x="0" y="6453336"/>
            <a:ext cx="9144000" cy="41354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TextBox 15"/>
          <p:cNvSpPr txBox="1"/>
          <p:nvPr userDrawn="1"/>
        </p:nvSpPr>
        <p:spPr>
          <a:xfrm>
            <a:off x="3203848" y="6453336"/>
            <a:ext cx="3003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>
                <a:solidFill>
                  <a:schemeClr val="bg1"/>
                </a:solidFill>
                <a:latin typeface="Arial Narrow" pitchFamily="34" charset="0"/>
                <a:ea typeface="Arial Unicode MS" pitchFamily="34" charset="-128"/>
                <a:cs typeface="Arial Unicode MS" pitchFamily="34" charset="-128"/>
              </a:rPr>
              <a:t>Kelas</a:t>
            </a:r>
            <a:r>
              <a:rPr lang="id-ID" b="1" baseline="0" dirty="0">
                <a:solidFill>
                  <a:schemeClr val="bg1"/>
                </a:solidFill>
                <a:latin typeface="Arial Narrow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baseline="0" dirty="0">
                <a:solidFill>
                  <a:schemeClr val="bg1"/>
                </a:solidFill>
                <a:latin typeface="Arial Narrow" pitchFamily="34" charset="0"/>
                <a:ea typeface="Arial Unicode MS" pitchFamily="34" charset="-128"/>
                <a:cs typeface="Arial Unicode MS" pitchFamily="34" charset="-128"/>
              </a:rPr>
              <a:t>MTCNA </a:t>
            </a:r>
            <a:r>
              <a:rPr lang="id-ID" b="1" baseline="0" dirty="0">
                <a:solidFill>
                  <a:schemeClr val="bg1"/>
                </a:solidFill>
                <a:latin typeface="Arial Narrow" pitchFamily="34" charset="0"/>
                <a:ea typeface="Arial Unicode MS" pitchFamily="34" charset="-128"/>
                <a:cs typeface="Arial Unicode MS" pitchFamily="34" charset="-128"/>
              </a:rPr>
              <a:t>| </a:t>
            </a:r>
            <a:r>
              <a:rPr lang="en-US" b="1" dirty="0" err="1">
                <a:solidFill>
                  <a:schemeClr val="bg1"/>
                </a:solidFill>
                <a:latin typeface="Arial Narrow" pitchFamily="34" charset="0"/>
                <a:ea typeface="Arial Unicode MS" pitchFamily="34" charset="-128"/>
                <a:cs typeface="Arial Unicode MS" pitchFamily="34" charset="-128"/>
              </a:rPr>
              <a:t>Politeknik</a:t>
            </a:r>
            <a:r>
              <a:rPr lang="en-US" b="1" dirty="0">
                <a:solidFill>
                  <a:schemeClr val="bg1"/>
                </a:solidFill>
                <a:latin typeface="Arial Narrow" pitchFamily="34" charset="0"/>
                <a:ea typeface="Arial Unicode MS" pitchFamily="34" charset="-128"/>
                <a:cs typeface="Arial Unicode MS" pitchFamily="34" charset="-128"/>
              </a:rPr>
              <a:t> Astra</a:t>
            </a:r>
            <a:endParaRPr lang="id-ID" b="1" dirty="0">
              <a:solidFill>
                <a:schemeClr val="bg1"/>
              </a:solidFill>
              <a:latin typeface="Arial Narrow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140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24614" y="2077853"/>
            <a:ext cx="424186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5400" b="1" dirty="0" err="1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Pengenalan</a:t>
            </a:r>
            <a:endParaRPr lang="en-US" sz="54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/>
            <a:r>
              <a:rPr lang="en-US" sz="5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SERVER</a:t>
            </a:r>
            <a:endParaRPr lang="id-ID" sz="4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7581580" y="4797152"/>
            <a:ext cx="252749" cy="21602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Oval 3"/>
          <p:cNvSpPr/>
          <p:nvPr/>
        </p:nvSpPr>
        <p:spPr>
          <a:xfrm>
            <a:off x="7941621" y="4797152"/>
            <a:ext cx="252749" cy="2160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Oval 4"/>
          <p:cNvSpPr/>
          <p:nvPr/>
        </p:nvSpPr>
        <p:spPr>
          <a:xfrm>
            <a:off x="8301661" y="4797152"/>
            <a:ext cx="252749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TextBox 5"/>
          <p:cNvSpPr txBox="1"/>
          <p:nvPr/>
        </p:nvSpPr>
        <p:spPr>
          <a:xfrm>
            <a:off x="5438249" y="5165927"/>
            <a:ext cx="325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>
                <a:latin typeface="Aquarion" panose="020E0502030303020204" pitchFamily="34" charset="0"/>
              </a:rPr>
              <a:t>Organized By : </a:t>
            </a:r>
            <a:r>
              <a:rPr lang="en-US" b="1" dirty="0" err="1">
                <a:latin typeface="Aquarion" panose="020E0502030303020204" pitchFamily="34" charset="0"/>
              </a:rPr>
              <a:t>Politeknik</a:t>
            </a:r>
            <a:r>
              <a:rPr lang="en-US" b="1" dirty="0">
                <a:latin typeface="Aquarion" panose="020E0502030303020204" pitchFamily="34" charset="0"/>
              </a:rPr>
              <a:t> Astra</a:t>
            </a:r>
            <a:endParaRPr lang="id-ID" b="1" dirty="0">
              <a:latin typeface="Aquarion" panose="020E05020303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018A2A-923F-8E4E-D964-E6EAB111780E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8445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27995"/>
            <a:ext cx="9144000" cy="5307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Merupakan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komputer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atau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menyediakan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layanan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data, atau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sumber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daya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komputer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lain, yang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disebut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klien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melalui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jaringan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342900" indent="-342900" algn="just">
              <a:lnSpc>
                <a:spcPct val="200000"/>
              </a:lnSpc>
              <a:buFont typeface="Wingdings" pitchFamily="2" charset="2"/>
              <a:buChar char="v"/>
            </a:pP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lnSpc>
                <a:spcPct val="200000"/>
              </a:lnSpc>
              <a:buFont typeface="Wingdings" pitchFamily="2" charset="2"/>
              <a:buChar char="v"/>
            </a:pP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lnSpc>
                <a:spcPct val="200000"/>
              </a:lnSpc>
              <a:buFont typeface="Wingdings" pitchFamily="2" charset="2"/>
              <a:buChar char="v"/>
            </a:pP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lnSpc>
                <a:spcPct val="200000"/>
              </a:lnSpc>
              <a:buFont typeface="Wingdings" pitchFamily="2" charset="2"/>
              <a:buChar char="v"/>
            </a:pP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Server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mempunyai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banyak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jenis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seperti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DNS Server, Web Server, FTP Server, Mail Server, Active Directory, Database Server.</a:t>
            </a: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605666D-88A5-95D6-4145-935F2D99B21D}"/>
              </a:ext>
            </a:extLst>
          </p:cNvPr>
          <p:cNvSpPr/>
          <p:nvPr/>
        </p:nvSpPr>
        <p:spPr>
          <a:xfrm>
            <a:off x="816336" y="2060848"/>
            <a:ext cx="7416824" cy="298046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TextBox 2"/>
          <p:cNvSpPr txBox="1"/>
          <p:nvPr/>
        </p:nvSpPr>
        <p:spPr>
          <a:xfrm>
            <a:off x="1475656" y="260648"/>
            <a:ext cx="3866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PENGERTIAN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B31FB46C-99B8-E439-172C-0D135885F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839270"/>
            <a:ext cx="1047801" cy="16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9463E19-0139-3042-EFE0-B4533E6A3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8961" y="2731746"/>
            <a:ext cx="854452" cy="73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65A154C2-5B20-FCB9-80C9-BBDD2EA79BE3}"/>
              </a:ext>
            </a:extLst>
          </p:cNvPr>
          <p:cNvGrpSpPr/>
          <p:nvPr/>
        </p:nvGrpSpPr>
        <p:grpSpPr>
          <a:xfrm>
            <a:off x="3851920" y="3778792"/>
            <a:ext cx="1440160" cy="373706"/>
            <a:chOff x="3768015" y="3775374"/>
            <a:chExt cx="1440160" cy="373706"/>
          </a:xfrm>
        </p:grpSpPr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E60DDA87-CAA7-84D0-600A-20F235CE7EE6}"/>
                </a:ext>
              </a:extLst>
            </p:cNvPr>
            <p:cNvSpPr/>
            <p:nvPr/>
          </p:nvSpPr>
          <p:spPr>
            <a:xfrm flipH="1">
              <a:off x="3768015" y="3775374"/>
              <a:ext cx="1440160" cy="373706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7FE1C6A-FC20-3E96-07C3-0F2EB424234F}"/>
                </a:ext>
              </a:extLst>
            </p:cNvPr>
            <p:cNvSpPr txBox="1"/>
            <p:nvPr/>
          </p:nvSpPr>
          <p:spPr>
            <a:xfrm>
              <a:off x="4132947" y="3789040"/>
              <a:ext cx="1047801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/>
                <a:t>Response</a:t>
              </a:r>
              <a:endParaRPr lang="en-ID" sz="1500" b="1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D1B35EC-90E1-DDCB-423A-09A5061414A4}"/>
              </a:ext>
            </a:extLst>
          </p:cNvPr>
          <p:cNvGrpSpPr/>
          <p:nvPr/>
        </p:nvGrpSpPr>
        <p:grpSpPr>
          <a:xfrm>
            <a:off x="3365615" y="3119664"/>
            <a:ext cx="1440160" cy="373706"/>
            <a:chOff x="3365615" y="3119664"/>
            <a:chExt cx="1440160" cy="373706"/>
          </a:xfrm>
        </p:grpSpPr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722AF223-9067-DEF0-57EB-85AD6540887B}"/>
                </a:ext>
              </a:extLst>
            </p:cNvPr>
            <p:cNvSpPr/>
            <p:nvPr/>
          </p:nvSpPr>
          <p:spPr>
            <a:xfrm>
              <a:off x="3365615" y="3119664"/>
              <a:ext cx="1440160" cy="373706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69BC390-3F54-3933-7E6B-7E13DDFBBD13}"/>
                </a:ext>
              </a:extLst>
            </p:cNvPr>
            <p:cNvSpPr txBox="1"/>
            <p:nvPr/>
          </p:nvSpPr>
          <p:spPr>
            <a:xfrm>
              <a:off x="3646643" y="3140968"/>
              <a:ext cx="87810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/>
                <a:t>Request</a:t>
              </a:r>
              <a:endParaRPr lang="en-ID" sz="1500" b="1" dirty="0"/>
            </a:p>
          </p:txBody>
        </p:sp>
      </p:grpSp>
      <p:pic>
        <p:nvPicPr>
          <p:cNvPr id="29" name="Picture 8">
            <a:extLst>
              <a:ext uri="{FF2B5EF4-FFF2-40B4-BE49-F238E27FC236}">
                <a16:creationId xmlns:a16="http://schemas.microsoft.com/office/drawing/2014/main" id="{192B0263-0211-D5D3-C98A-B73CB2A78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7524" y="3945338"/>
            <a:ext cx="854452" cy="73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8EB00E3-7FBE-C415-4BA8-3DD144F5670D}"/>
              </a:ext>
            </a:extLst>
          </p:cNvPr>
          <p:cNvSpPr txBox="1"/>
          <p:nvPr/>
        </p:nvSpPr>
        <p:spPr>
          <a:xfrm>
            <a:off x="3768717" y="2339099"/>
            <a:ext cx="149593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192.168.10.0/24</a:t>
            </a:r>
            <a:endParaRPr lang="en-ID" sz="15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0199C9-A0B6-AD26-E4CC-61F601421A14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63017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980728"/>
            <a:ext cx="8640960" cy="4754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PHYSICAL SERVER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Server </a:t>
            </a:r>
            <a:r>
              <a:rPr lang="sv-SE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yang </a:t>
            </a:r>
            <a:r>
              <a:rPr lang="sv-SE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berdiri sendiri</a:t>
            </a:r>
            <a:r>
              <a:rPr lang="sv-SE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dirancang khusus untuk menjalankan aplikasi, layanan, atau menyimpan data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Dan 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semua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sumber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dayanya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(CPU, RAM, Storage)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digunakan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langsung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satu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operasi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342900" indent="-34290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VIRTUAL SERVER</a:t>
            </a: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200000"/>
              </a:lnSpc>
            </a:pP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Server yang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berjalan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atas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server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fisik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menggunakan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teknologi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virtualisasi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satu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server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fisik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menjalankan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beberapa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server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virtual yang masing-masing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beroperasi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secara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independen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75656" y="323945"/>
            <a:ext cx="3709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KLASIFIKASI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9CDB3C-15CE-713C-461B-668752AA24F0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3166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67158-3536-B5BE-02A3-CF6C501C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615C10-333A-AFBD-95AD-9D1A6CA8AB61}"/>
              </a:ext>
            </a:extLst>
          </p:cNvPr>
          <p:cNvSpPr txBox="1"/>
          <p:nvPr/>
        </p:nvSpPr>
        <p:spPr>
          <a:xfrm>
            <a:off x="1475656" y="323945"/>
            <a:ext cx="3709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KLASIFIKASI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80FB85F2-4119-3C58-164D-075AF3A7B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852936"/>
            <a:ext cx="1047801" cy="152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D38C5E0F-DBE1-4783-5121-3207D59A9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3772522"/>
            <a:ext cx="1047801" cy="1010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8182D44-9A1D-15CA-9B13-226A2A56A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265" y="1900314"/>
            <a:ext cx="1047801" cy="434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07A29E-8391-D70E-517F-1A97234A4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514" y="1900314"/>
            <a:ext cx="1047801" cy="434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12D20-A7D2-D5A3-0D4D-5B43A55C3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583" y="1900314"/>
            <a:ext cx="1047801" cy="434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2E7260-DCD6-B194-C17E-76DF51CB510F}"/>
              </a:ext>
            </a:extLst>
          </p:cNvPr>
          <p:cNvSpPr/>
          <p:nvPr/>
        </p:nvSpPr>
        <p:spPr>
          <a:xfrm>
            <a:off x="5388483" y="2972627"/>
            <a:ext cx="3011862" cy="2880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Hypervisor</a:t>
            </a:r>
            <a:endParaRPr lang="en-ID" dirty="0">
              <a:solidFill>
                <a:schemeClr val="tx1"/>
              </a:solidFill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B4C103D-BC84-5C8A-781D-C0731C34782A}"/>
              </a:ext>
            </a:extLst>
          </p:cNvPr>
          <p:cNvCxnSpPr>
            <a:stCxn id="9" idx="0"/>
            <a:endCxn id="8" idx="2"/>
          </p:cNvCxnSpPr>
          <p:nvPr/>
        </p:nvCxnSpPr>
        <p:spPr>
          <a:xfrm rot="16200000" flipV="1">
            <a:off x="5822640" y="1900853"/>
            <a:ext cx="637619" cy="150593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BECD4CF-5C6B-168D-EB57-3B2061E0AA1F}"/>
              </a:ext>
            </a:extLst>
          </p:cNvPr>
          <p:cNvCxnSpPr>
            <a:stCxn id="9" idx="0"/>
            <a:endCxn id="7" idx="2"/>
          </p:cNvCxnSpPr>
          <p:nvPr/>
        </p:nvCxnSpPr>
        <p:spPr>
          <a:xfrm rot="5400000" flipH="1" flipV="1">
            <a:off x="6575605" y="2653818"/>
            <a:ext cx="637619" cy="1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ED39AAD-6497-CFC4-B602-922C593FA003}"/>
              </a:ext>
            </a:extLst>
          </p:cNvPr>
          <p:cNvCxnSpPr>
            <a:stCxn id="9" idx="0"/>
            <a:endCxn id="6" idx="2"/>
          </p:cNvCxnSpPr>
          <p:nvPr/>
        </p:nvCxnSpPr>
        <p:spPr>
          <a:xfrm rot="5400000" flipH="1" flipV="1">
            <a:off x="7230481" y="1998942"/>
            <a:ext cx="637619" cy="1309752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1040702-8A0A-2676-1AE4-F50EF4CCA4FA}"/>
              </a:ext>
            </a:extLst>
          </p:cNvPr>
          <p:cNvCxnSpPr>
            <a:stCxn id="5" idx="0"/>
            <a:endCxn id="9" idx="2"/>
          </p:cNvCxnSpPr>
          <p:nvPr/>
        </p:nvCxnSpPr>
        <p:spPr>
          <a:xfrm rot="16200000" flipV="1">
            <a:off x="6639327" y="3515747"/>
            <a:ext cx="511863" cy="1687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15C084B-412D-72C9-91CE-9B7E4645ED09}"/>
              </a:ext>
            </a:extLst>
          </p:cNvPr>
          <p:cNvSpPr txBox="1"/>
          <p:nvPr/>
        </p:nvSpPr>
        <p:spPr>
          <a:xfrm>
            <a:off x="487388" y="998856"/>
            <a:ext cx="3024336" cy="56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PHYSICAL SERVER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8C5B89-A66B-0BBC-840F-52776BE1FD1C}"/>
              </a:ext>
            </a:extLst>
          </p:cNvPr>
          <p:cNvSpPr txBox="1"/>
          <p:nvPr/>
        </p:nvSpPr>
        <p:spPr>
          <a:xfrm>
            <a:off x="5632276" y="998855"/>
            <a:ext cx="3024336" cy="56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VIRTUAL SERVER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A4717F40-BE6D-7013-ABEA-309812BAFB61}"/>
              </a:ext>
            </a:extLst>
          </p:cNvPr>
          <p:cNvSpPr/>
          <p:nvPr/>
        </p:nvSpPr>
        <p:spPr>
          <a:xfrm>
            <a:off x="-684584" y="3691622"/>
            <a:ext cx="2160240" cy="353589"/>
          </a:xfrm>
          <a:prstGeom prst="arc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3D07A5E0-B86E-BCB4-3668-96AC549AAC69}"/>
              </a:ext>
            </a:extLst>
          </p:cNvPr>
          <p:cNvSpPr/>
          <p:nvPr/>
        </p:nvSpPr>
        <p:spPr>
          <a:xfrm>
            <a:off x="4210274" y="4169404"/>
            <a:ext cx="2160240" cy="353589"/>
          </a:xfrm>
          <a:prstGeom prst="arc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FCD590-DE49-FEA1-6EA2-AA20A0E95395}"/>
              </a:ext>
            </a:extLst>
          </p:cNvPr>
          <p:cNvSpPr txBox="1"/>
          <p:nvPr/>
        </p:nvSpPr>
        <p:spPr>
          <a:xfrm>
            <a:off x="374388" y="5013177"/>
            <a:ext cx="8353678" cy="129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Hypervisor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adalah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lapisan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perangkat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lunak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bertindak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sebagai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perantara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antara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perangkat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keras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fisik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server virtual,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mengalokasikan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sumber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daya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fisik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seperti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CPU, RAM, dan storage)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E5FE0D-05F5-0437-1F8A-465DA3AAB170}"/>
              </a:ext>
            </a:extLst>
          </p:cNvPr>
          <p:cNvSpPr txBox="1"/>
          <p:nvPr/>
        </p:nvSpPr>
        <p:spPr>
          <a:xfrm>
            <a:off x="326766" y="3361275"/>
            <a:ext cx="1119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Internet</a:t>
            </a:r>
            <a:endParaRPr lang="en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B29B45-49D3-BA43-2918-7DF88D3E0794}"/>
              </a:ext>
            </a:extLst>
          </p:cNvPr>
          <p:cNvSpPr txBox="1"/>
          <p:nvPr/>
        </p:nvSpPr>
        <p:spPr>
          <a:xfrm>
            <a:off x="5185326" y="3834264"/>
            <a:ext cx="1119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Internet</a:t>
            </a:r>
            <a:endParaRPr lang="en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8DDB39-6BA3-5EE1-870F-5B35D658CF99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037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6D14B-6CA5-F46A-901E-D29C9BD8C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80D698-8723-D153-6FEB-C73C3EE93ACB}"/>
              </a:ext>
            </a:extLst>
          </p:cNvPr>
          <p:cNvSpPr txBox="1"/>
          <p:nvPr/>
        </p:nvSpPr>
        <p:spPr>
          <a:xfrm>
            <a:off x="1475656" y="323945"/>
            <a:ext cx="2374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CAD4A6-4316-37E7-EC96-A6248F121E98}"/>
              </a:ext>
            </a:extLst>
          </p:cNvPr>
          <p:cNvSpPr txBox="1"/>
          <p:nvPr/>
        </p:nvSpPr>
        <p:spPr>
          <a:xfrm>
            <a:off x="251520" y="980728"/>
            <a:ext cx="8353678" cy="87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Server</a:t>
            </a:r>
            <a:r>
              <a:rPr lang="nb-NO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adalah sistem yang </a:t>
            </a:r>
            <a:r>
              <a:rPr lang="nb-NO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bertugas menerima, memproses, dan merespons permintaan</a:t>
            </a:r>
            <a:r>
              <a:rPr lang="nb-NO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dari klien melalui protokol HTTP atau HTTPS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</p:txBody>
      </p:sp>
      <p:pic>
        <p:nvPicPr>
          <p:cNvPr id="26" name="Picture 8">
            <a:extLst>
              <a:ext uri="{FF2B5EF4-FFF2-40B4-BE49-F238E27FC236}">
                <a16:creationId xmlns:a16="http://schemas.microsoft.com/office/drawing/2014/main" id="{2F04E708-5EC1-E48F-2D82-F20B5244A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505" y="3666156"/>
            <a:ext cx="854452" cy="73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26DCE1A-7C87-E6FA-9F93-493C22B45DB4}"/>
              </a:ext>
            </a:extLst>
          </p:cNvPr>
          <p:cNvSpPr txBox="1"/>
          <p:nvPr/>
        </p:nvSpPr>
        <p:spPr>
          <a:xfrm>
            <a:off x="3564231" y="4272944"/>
            <a:ext cx="24492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http://10.5.0.123:5260/beranda</a:t>
            </a:r>
            <a:endParaRPr lang="en-ID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35F13-DE5D-CB1A-5A26-154E321DA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98" y="2459050"/>
            <a:ext cx="808673" cy="3540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DE64C7-F9B2-784E-7B03-520AF5EEF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92" y="5537704"/>
            <a:ext cx="1472207" cy="417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06074A-3650-7C23-758C-10192EFC1EDF}"/>
              </a:ext>
            </a:extLst>
          </p:cNvPr>
          <p:cNvSpPr txBox="1"/>
          <p:nvPr/>
        </p:nvSpPr>
        <p:spPr>
          <a:xfrm>
            <a:off x="4056102" y="1918064"/>
            <a:ext cx="13870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http://10.5.0.123</a:t>
            </a:r>
            <a:endParaRPr lang="en-ID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3A8AC7-53AC-9DBC-32EA-3EC2A2E798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231" y="2251141"/>
            <a:ext cx="2370792" cy="1416725"/>
          </a:xfrm>
          <a:prstGeom prst="rect">
            <a:avLst/>
          </a:prstGeom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CA215A73-DBDB-DF3E-7A19-8928A7C25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2" y="3534492"/>
            <a:ext cx="1047801" cy="1064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E47242-7040-A302-0936-9442D7A074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3848" y="4623853"/>
            <a:ext cx="3324135" cy="1530487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2844868-FEE4-F3C6-54A7-99AB65642AB4}"/>
              </a:ext>
            </a:extLst>
          </p:cNvPr>
          <p:cNvCxnSpPr>
            <a:cxnSpLocks/>
            <a:stCxn id="26" idx="0"/>
            <a:endCxn id="11" idx="3"/>
          </p:cNvCxnSpPr>
          <p:nvPr/>
        </p:nvCxnSpPr>
        <p:spPr>
          <a:xfrm rot="16200000" flipV="1">
            <a:off x="6915051" y="1979476"/>
            <a:ext cx="706652" cy="266670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AA02C19-D06A-A937-56DC-0B2EFEB04AE7}"/>
              </a:ext>
            </a:extLst>
          </p:cNvPr>
          <p:cNvCxnSpPr>
            <a:cxnSpLocks/>
            <a:stCxn id="26" idx="2"/>
            <a:endCxn id="14" idx="3"/>
          </p:cNvCxnSpPr>
          <p:nvPr/>
        </p:nvCxnSpPr>
        <p:spPr>
          <a:xfrm rot="5400000">
            <a:off x="7069580" y="3856946"/>
            <a:ext cx="990554" cy="207374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1E7533A-BE77-0978-63E0-D9E0376AE362}"/>
              </a:ext>
            </a:extLst>
          </p:cNvPr>
          <p:cNvCxnSpPr>
            <a:cxnSpLocks/>
            <a:stCxn id="12" idx="0"/>
            <a:endCxn id="11" idx="1"/>
          </p:cNvCxnSpPr>
          <p:nvPr/>
        </p:nvCxnSpPr>
        <p:spPr>
          <a:xfrm rot="5400000" flipH="1" flipV="1">
            <a:off x="1891348" y="1861609"/>
            <a:ext cx="574988" cy="277077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F51AE2D-34B5-A242-92CB-0FC435CECB29}"/>
              </a:ext>
            </a:extLst>
          </p:cNvPr>
          <p:cNvCxnSpPr>
            <a:cxnSpLocks/>
            <a:stCxn id="12" idx="2"/>
            <a:endCxn id="14" idx="1"/>
          </p:cNvCxnSpPr>
          <p:nvPr/>
        </p:nvCxnSpPr>
        <p:spPr>
          <a:xfrm rot="16200000" flipH="1">
            <a:off x="1603559" y="3788807"/>
            <a:ext cx="790183" cy="241039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BC86B09-9D3B-67C6-EAA0-B4FD4F05A351}"/>
              </a:ext>
            </a:extLst>
          </p:cNvPr>
          <p:cNvSpPr txBox="1"/>
          <p:nvPr/>
        </p:nvSpPr>
        <p:spPr>
          <a:xfrm>
            <a:off x="6605846" y="2555463"/>
            <a:ext cx="11906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Request</a:t>
            </a:r>
            <a:endParaRPr lang="en-ID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F38F60-06C1-F0EA-C733-6B4AF40A44D1}"/>
              </a:ext>
            </a:extLst>
          </p:cNvPr>
          <p:cNvSpPr txBox="1"/>
          <p:nvPr/>
        </p:nvSpPr>
        <p:spPr>
          <a:xfrm>
            <a:off x="2097316" y="2592640"/>
            <a:ext cx="11906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Response</a:t>
            </a:r>
            <a:endParaRPr lang="en-ID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6F4498-5338-741D-7212-85694128A7D3}"/>
              </a:ext>
            </a:extLst>
          </p:cNvPr>
          <p:cNvSpPr txBox="1"/>
          <p:nvPr/>
        </p:nvSpPr>
        <p:spPr>
          <a:xfrm>
            <a:off x="6803433" y="5516138"/>
            <a:ext cx="7954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Request</a:t>
            </a:r>
            <a:endParaRPr lang="en-ID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30108B-3EC4-6396-C65F-65C441336F27}"/>
              </a:ext>
            </a:extLst>
          </p:cNvPr>
          <p:cNvSpPr txBox="1"/>
          <p:nvPr/>
        </p:nvSpPr>
        <p:spPr>
          <a:xfrm>
            <a:off x="2067524" y="5483651"/>
            <a:ext cx="11906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Response</a:t>
            </a:r>
            <a:endParaRPr lang="en-ID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7684FF8-4E56-C703-B8E6-5C3F1659B9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5007" y="2352715"/>
            <a:ext cx="528067" cy="522915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DCD2DBE-0095-64BD-3A58-6CC3560DC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7291" y="5474810"/>
            <a:ext cx="525784" cy="52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6815F7-F054-F69A-EBF4-CB642CF499D0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8652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87319-C3B1-FAA6-FFBE-225DD2B7A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F74661-E83A-D547-F274-835A2079D4E9}"/>
              </a:ext>
            </a:extLst>
          </p:cNvPr>
          <p:cNvSpPr txBox="1"/>
          <p:nvPr/>
        </p:nvSpPr>
        <p:spPr>
          <a:xfrm>
            <a:off x="1475656" y="323945"/>
            <a:ext cx="4325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TOPOLOGI WEB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06F77D97-6715-43E0-E7DE-46FAA25E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12" y="5124794"/>
            <a:ext cx="767365" cy="111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0FE8168-23FC-24CC-0453-CBE39FF314C2}"/>
              </a:ext>
            </a:extLst>
          </p:cNvPr>
          <p:cNvGrpSpPr/>
          <p:nvPr/>
        </p:nvGrpSpPr>
        <p:grpSpPr>
          <a:xfrm>
            <a:off x="357693" y="1559724"/>
            <a:ext cx="879964" cy="1006311"/>
            <a:chOff x="536058" y="1206562"/>
            <a:chExt cx="1066800" cy="121997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28DC6E9-4D0C-2ABD-6136-2C4FEDEE30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42" t="12414" r="21739" b="15322"/>
            <a:stretch/>
          </p:blipFill>
          <p:spPr>
            <a:xfrm>
              <a:off x="605066" y="1752600"/>
              <a:ext cx="928785" cy="673936"/>
            </a:xfrm>
            <a:prstGeom prst="rect">
              <a:avLst/>
            </a:prstGeom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3799DE7F-79E4-7404-FB82-16DACA7159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058" y="1206562"/>
              <a:ext cx="1066800" cy="950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2" name="Elbow Connector 73">
            <a:extLst>
              <a:ext uri="{FF2B5EF4-FFF2-40B4-BE49-F238E27FC236}">
                <a16:creationId xmlns:a16="http://schemas.microsoft.com/office/drawing/2014/main" id="{2E6D1332-60EE-47EA-9F64-E5747F3BA266}"/>
              </a:ext>
            </a:extLst>
          </p:cNvPr>
          <p:cNvCxnSpPr>
            <a:cxnSpLocks/>
            <a:stCxn id="17" idx="2"/>
            <a:endCxn id="10" idx="2"/>
          </p:cNvCxnSpPr>
          <p:nvPr/>
        </p:nvCxnSpPr>
        <p:spPr>
          <a:xfrm rot="10800000">
            <a:off x="797676" y="2566035"/>
            <a:ext cx="2613744" cy="1082274"/>
          </a:xfrm>
          <a:prstGeom prst="bentConnector2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648EBD2-3514-8696-7D69-C3F84BB1213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22192" r="20833" b="20557"/>
          <a:stretch/>
        </p:blipFill>
        <p:spPr>
          <a:xfrm>
            <a:off x="2945421" y="3058241"/>
            <a:ext cx="1524000" cy="75126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F9B1DB8-F14A-BDC7-C258-F68349183021}"/>
              </a:ext>
            </a:extLst>
          </p:cNvPr>
          <p:cNvSpPr/>
          <p:nvPr/>
        </p:nvSpPr>
        <p:spPr>
          <a:xfrm>
            <a:off x="3411420" y="2753387"/>
            <a:ext cx="592001" cy="4464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R1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69CAFB-34E7-B974-235B-2CCB1CE1169C}"/>
              </a:ext>
            </a:extLst>
          </p:cNvPr>
          <p:cNvSpPr/>
          <p:nvPr/>
        </p:nvSpPr>
        <p:spPr>
          <a:xfrm>
            <a:off x="1412980" y="1679697"/>
            <a:ext cx="2169857" cy="341313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796925" algn="l"/>
              </a:tabLst>
            </a:pPr>
            <a:r>
              <a:rPr lang="en-US" sz="1600" b="1" dirty="0">
                <a:solidFill>
                  <a:schemeClr val="tx1"/>
                </a:solidFill>
              </a:rPr>
              <a:t>Modem</a:t>
            </a:r>
            <a:r>
              <a:rPr lang="en-US" sz="1600" dirty="0">
                <a:solidFill>
                  <a:schemeClr val="tx1"/>
                </a:solidFill>
              </a:rPr>
              <a:t> 	: 10.12.0.1/16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B57ADF-D12C-B06B-15D1-67674B747FE0}"/>
              </a:ext>
            </a:extLst>
          </p:cNvPr>
          <p:cNvSpPr/>
          <p:nvPr/>
        </p:nvSpPr>
        <p:spPr>
          <a:xfrm>
            <a:off x="1412979" y="2093345"/>
            <a:ext cx="2169857" cy="341313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</a:rPr>
              <a:t>MikroTik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: DHCP Client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C77428E-E392-2520-3A79-82F179465FEE}"/>
              </a:ext>
            </a:extLst>
          </p:cNvPr>
          <p:cNvSpPr/>
          <p:nvPr/>
        </p:nvSpPr>
        <p:spPr>
          <a:xfrm>
            <a:off x="3411420" y="3525478"/>
            <a:ext cx="245662" cy="24566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2D5C0E-1677-9B7D-97FC-A4BF90429141}"/>
              </a:ext>
            </a:extLst>
          </p:cNvPr>
          <p:cNvSpPr txBox="1"/>
          <p:nvPr/>
        </p:nvSpPr>
        <p:spPr>
          <a:xfrm>
            <a:off x="2302183" y="3250330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53A3C3-4B2E-0384-6314-DF0D06A9127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001" t="21111" r="9999" b="21111"/>
          <a:stretch/>
        </p:blipFill>
        <p:spPr>
          <a:xfrm>
            <a:off x="5795932" y="1526333"/>
            <a:ext cx="1037833" cy="749546"/>
          </a:xfrm>
          <a:prstGeom prst="rect">
            <a:avLst/>
          </a:prstGeom>
        </p:spPr>
      </p:pic>
      <p:cxnSp>
        <p:nvCxnSpPr>
          <p:cNvPr id="24" name="Elbow Connector 63">
            <a:extLst>
              <a:ext uri="{FF2B5EF4-FFF2-40B4-BE49-F238E27FC236}">
                <a16:creationId xmlns:a16="http://schemas.microsoft.com/office/drawing/2014/main" id="{E1812254-4F64-4E61-88FF-7E73ECF0BA8F}"/>
              </a:ext>
            </a:extLst>
          </p:cNvPr>
          <p:cNvCxnSpPr>
            <a:cxnSpLocks/>
            <a:stCxn id="27" idx="6"/>
            <a:endCxn id="21" idx="2"/>
          </p:cNvCxnSpPr>
          <p:nvPr/>
        </p:nvCxnSpPr>
        <p:spPr>
          <a:xfrm flipV="1">
            <a:off x="3902744" y="2275879"/>
            <a:ext cx="2412105" cy="1381344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A95B3811-0106-F0FD-37D5-14E47838042F}"/>
              </a:ext>
            </a:extLst>
          </p:cNvPr>
          <p:cNvSpPr/>
          <p:nvPr/>
        </p:nvSpPr>
        <p:spPr>
          <a:xfrm>
            <a:off x="3657082" y="3534392"/>
            <a:ext cx="245662" cy="24566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548308-E237-82D9-14EE-134AFB27758D}"/>
              </a:ext>
            </a:extLst>
          </p:cNvPr>
          <p:cNvSpPr txBox="1"/>
          <p:nvPr/>
        </p:nvSpPr>
        <p:spPr>
          <a:xfrm>
            <a:off x="5508104" y="1137522"/>
            <a:ext cx="17451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192.168.10.1/24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F02DD0-BF87-320C-B61E-ADED3E794156}"/>
              </a:ext>
            </a:extLst>
          </p:cNvPr>
          <p:cNvSpPr txBox="1"/>
          <p:nvPr/>
        </p:nvSpPr>
        <p:spPr>
          <a:xfrm>
            <a:off x="4469421" y="3701738"/>
            <a:ext cx="585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Eth2</a:t>
            </a:r>
          </a:p>
        </p:txBody>
      </p:sp>
      <p:cxnSp>
        <p:nvCxnSpPr>
          <p:cNvPr id="39" name="Elbow Connector 51">
            <a:extLst>
              <a:ext uri="{FF2B5EF4-FFF2-40B4-BE49-F238E27FC236}">
                <a16:creationId xmlns:a16="http://schemas.microsoft.com/office/drawing/2014/main" id="{ADA5108D-B5BE-6856-A650-2516924B0ECF}"/>
              </a:ext>
            </a:extLst>
          </p:cNvPr>
          <p:cNvCxnSpPr>
            <a:cxnSpLocks/>
            <a:stCxn id="21" idx="3"/>
            <a:endCxn id="8" idx="3"/>
          </p:cNvCxnSpPr>
          <p:nvPr/>
        </p:nvCxnSpPr>
        <p:spPr>
          <a:xfrm flipH="1">
            <a:off x="5765677" y="1901106"/>
            <a:ext cx="1068088" cy="3781240"/>
          </a:xfrm>
          <a:prstGeom prst="bentConnector3">
            <a:avLst>
              <a:gd name="adj1" fmla="val -166147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70A1EA1-E0C8-B3CC-2611-D651543682B1}"/>
              </a:ext>
            </a:extLst>
          </p:cNvPr>
          <p:cNvSpPr txBox="1"/>
          <p:nvPr/>
        </p:nvSpPr>
        <p:spPr>
          <a:xfrm>
            <a:off x="1913249" y="4509120"/>
            <a:ext cx="2730759" cy="17660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Server                              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           : Win Server 2012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Network : Bridge Adapter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Server : IIS port 80,443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   Apache port 8080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17AE1A6-1646-68DA-7E74-9D56AC0C7EA5}"/>
              </a:ext>
            </a:extLst>
          </p:cNvPr>
          <p:cNvSpPr txBox="1"/>
          <p:nvPr/>
        </p:nvSpPr>
        <p:spPr>
          <a:xfrm>
            <a:off x="6844138" y="1526333"/>
            <a:ext cx="11236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Virtualbox</a:t>
            </a:r>
            <a:endParaRPr lang="en-US" sz="1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960446-E9AF-0368-E41F-1B2DBECD4C1B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2642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1DB9-FC61-EFB7-A91A-F3A1D4603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75AEB5-8E64-1B0B-1D93-186BD571719A}"/>
              </a:ext>
            </a:extLst>
          </p:cNvPr>
          <p:cNvSpPr txBox="1"/>
          <p:nvPr/>
        </p:nvSpPr>
        <p:spPr>
          <a:xfrm>
            <a:off x="1475656" y="323945"/>
            <a:ext cx="4200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CREATING WEB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1A020A-E4BF-9A82-BB5B-5AA56D27A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93" y="1771686"/>
            <a:ext cx="5027721" cy="36735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571607-E1D4-0E7F-B18C-873ECF1BBF59}"/>
              </a:ext>
            </a:extLst>
          </p:cNvPr>
          <p:cNvSpPr txBox="1"/>
          <p:nvPr/>
        </p:nvSpPr>
        <p:spPr>
          <a:xfrm>
            <a:off x="362264" y="1013140"/>
            <a:ext cx="3345640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Membuka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Server Manager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DE162D-807E-7D99-E94A-2BFE7A514D77}"/>
              </a:ext>
            </a:extLst>
          </p:cNvPr>
          <p:cNvSpPr txBox="1"/>
          <p:nvPr/>
        </p:nvSpPr>
        <p:spPr>
          <a:xfrm>
            <a:off x="6104648" y="1771686"/>
            <a:ext cx="2931848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Add roles and features.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3FA28C0-D7A8-9115-CBD7-9723C0B0059F}"/>
              </a:ext>
            </a:extLst>
          </p:cNvPr>
          <p:cNvCxnSpPr>
            <a:cxnSpLocks/>
          </p:cNvCxnSpPr>
          <p:nvPr/>
        </p:nvCxnSpPr>
        <p:spPr>
          <a:xfrm flipV="1">
            <a:off x="3707904" y="2060848"/>
            <a:ext cx="2396744" cy="833490"/>
          </a:xfrm>
          <a:prstGeom prst="bentConnector3">
            <a:avLst>
              <a:gd name="adj1" fmla="val 5159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4B23897-CFA8-3927-1B85-10B817667508}"/>
              </a:ext>
            </a:extLst>
          </p:cNvPr>
          <p:cNvCxnSpPr/>
          <p:nvPr/>
        </p:nvCxnSpPr>
        <p:spPr>
          <a:xfrm>
            <a:off x="1547664" y="1412776"/>
            <a:ext cx="0" cy="4401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59976ABA-355F-425B-93DE-7FD122596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335" y="3283948"/>
            <a:ext cx="4361550" cy="3085796"/>
          </a:xfrm>
          <a:prstGeom prst="rect">
            <a:avLst/>
          </a:prstGeom>
        </p:spPr>
      </p:pic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2E0B119-1878-0CEB-9FE6-2A17411CB9D7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1871700" y="3197206"/>
            <a:ext cx="4232948" cy="726029"/>
          </a:xfrm>
          <a:prstGeom prst="bentConnector3">
            <a:avLst>
              <a:gd name="adj1" fmla="val 84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21B0A64-E087-BCAD-5EE3-A9C27DCC2630}"/>
              </a:ext>
            </a:extLst>
          </p:cNvPr>
          <p:cNvSpPr txBox="1"/>
          <p:nvPr/>
        </p:nvSpPr>
        <p:spPr>
          <a:xfrm>
            <a:off x="6104648" y="2965412"/>
            <a:ext cx="1707712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“Next”.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6249085F-39F9-6328-5ED2-DAF47FC91CFB}"/>
              </a:ext>
            </a:extLst>
          </p:cNvPr>
          <p:cNvCxnSpPr>
            <a:cxnSpLocks/>
          </p:cNvCxnSpPr>
          <p:nvPr/>
        </p:nvCxnSpPr>
        <p:spPr>
          <a:xfrm>
            <a:off x="2118386" y="4106796"/>
            <a:ext cx="3954728" cy="1225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0CE4374-7A9A-3A69-7660-6EB5148EC9C8}"/>
              </a:ext>
            </a:extLst>
          </p:cNvPr>
          <p:cNvSpPr txBox="1"/>
          <p:nvPr/>
        </p:nvSpPr>
        <p:spPr>
          <a:xfrm>
            <a:off x="6073114" y="3636079"/>
            <a:ext cx="2931848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Role-Based or Feature-Base installation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197FFDAF-FF2F-A11B-55D0-2F99F0DD5C6F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1906016" y="4423412"/>
            <a:ext cx="4106144" cy="717036"/>
          </a:xfrm>
          <a:prstGeom prst="bentConnector3">
            <a:avLst>
              <a:gd name="adj1" fmla="val 182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27F6DB2-C3F8-BCFD-FA8C-E54923387D9C}"/>
              </a:ext>
            </a:extLst>
          </p:cNvPr>
          <p:cNvSpPr txBox="1"/>
          <p:nvPr/>
        </p:nvSpPr>
        <p:spPr>
          <a:xfrm>
            <a:off x="6012160" y="4908654"/>
            <a:ext cx="2931848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name server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070DDC-C3BD-D0B3-B52B-3F1D81AE03FD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12656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0360D-DE23-75CD-E45F-B51C6D7E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B55845-930A-EDB7-8599-27971627E7DC}"/>
              </a:ext>
            </a:extLst>
          </p:cNvPr>
          <p:cNvSpPr txBox="1"/>
          <p:nvPr/>
        </p:nvSpPr>
        <p:spPr>
          <a:xfrm>
            <a:off x="1475656" y="323945"/>
            <a:ext cx="4236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CREATING WEB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29001D-FA30-139B-7200-7EB3D847F469}"/>
              </a:ext>
            </a:extLst>
          </p:cNvPr>
          <p:cNvSpPr txBox="1"/>
          <p:nvPr/>
        </p:nvSpPr>
        <p:spPr>
          <a:xfrm>
            <a:off x="362264" y="1013140"/>
            <a:ext cx="3345640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Membuka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Server Manager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9AD4D-4674-6EAA-8509-4ADA7A8EA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08" y="1642703"/>
            <a:ext cx="6474296" cy="45643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268AF78-6B6C-4973-3B77-CDBB91650654}"/>
              </a:ext>
            </a:extLst>
          </p:cNvPr>
          <p:cNvSpPr/>
          <p:nvPr/>
        </p:nvSpPr>
        <p:spPr>
          <a:xfrm>
            <a:off x="2558627" y="4869160"/>
            <a:ext cx="100811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50519F6-BEC6-AE5C-F27E-A29213C41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3607341"/>
            <a:ext cx="2752584" cy="273966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6E327F3-033B-0569-08A7-C6B458CCA9FB}"/>
              </a:ext>
            </a:extLst>
          </p:cNvPr>
          <p:cNvSpPr/>
          <p:nvPr/>
        </p:nvSpPr>
        <p:spPr>
          <a:xfrm>
            <a:off x="6372200" y="5877272"/>
            <a:ext cx="648072" cy="3298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623B54-35E2-6282-E9A5-FBF84196ED0C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7254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4CF9B-C266-EA82-F1A0-19700B7A5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D2D3EA-6353-1A2C-1A69-E12B8F3BFFE3}"/>
              </a:ext>
            </a:extLst>
          </p:cNvPr>
          <p:cNvSpPr txBox="1"/>
          <p:nvPr/>
        </p:nvSpPr>
        <p:spPr>
          <a:xfrm>
            <a:off x="1475656" y="323945"/>
            <a:ext cx="4236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CREATING WEB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FCA6CC-F74D-CFA2-AE20-2CD7BAFEDBE3}"/>
              </a:ext>
            </a:extLst>
          </p:cNvPr>
          <p:cNvSpPr txBox="1"/>
          <p:nvPr/>
        </p:nvSpPr>
        <p:spPr>
          <a:xfrm>
            <a:off x="362264" y="1013140"/>
            <a:ext cx="5649896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Lanjutkan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tahapan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Next. 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E813F9-A0E1-ED17-7C4E-04528D044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53" y="1539169"/>
            <a:ext cx="6498644" cy="46095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42EF280-3166-DEA1-13E7-AD73E7ADB398}"/>
              </a:ext>
            </a:extLst>
          </p:cNvPr>
          <p:cNvSpPr/>
          <p:nvPr/>
        </p:nvSpPr>
        <p:spPr>
          <a:xfrm>
            <a:off x="4788024" y="5758216"/>
            <a:ext cx="720080" cy="263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130BE2FA-EA08-F244-6372-052A2A4A0B3F}"/>
              </a:ext>
            </a:extLst>
          </p:cNvPr>
          <p:cNvCxnSpPr>
            <a:cxnSpLocks/>
          </p:cNvCxnSpPr>
          <p:nvPr/>
        </p:nvCxnSpPr>
        <p:spPr>
          <a:xfrm flipV="1">
            <a:off x="2175256" y="2204864"/>
            <a:ext cx="5205056" cy="1296144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DC29E3FF-5173-A202-F175-0659995BD0CD}"/>
              </a:ext>
            </a:extLst>
          </p:cNvPr>
          <p:cNvCxnSpPr>
            <a:cxnSpLocks/>
          </p:cNvCxnSpPr>
          <p:nvPr/>
        </p:nvCxnSpPr>
        <p:spPr>
          <a:xfrm>
            <a:off x="2051720" y="3711043"/>
            <a:ext cx="5328592" cy="1041909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D038E16-1251-AF99-9740-DCA965E22496}"/>
              </a:ext>
            </a:extLst>
          </p:cNvPr>
          <p:cNvSpPr txBox="1"/>
          <p:nvPr/>
        </p:nvSpPr>
        <p:spPr>
          <a:xfrm>
            <a:off x="7382843" y="4499399"/>
            <a:ext cx="1707712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“Next”.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195F82-558C-4E55-E17E-3239104E1638}"/>
              </a:ext>
            </a:extLst>
          </p:cNvPr>
          <p:cNvSpPr txBox="1"/>
          <p:nvPr/>
        </p:nvSpPr>
        <p:spPr>
          <a:xfrm>
            <a:off x="7445076" y="1973070"/>
            <a:ext cx="1707712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“Next”.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DB7272-7D87-2AF4-E8BA-027A4B08C7DE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3319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6B258-0F15-62CA-825C-206D6B484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A4D296-57E6-71A8-24E0-3FF453F05DCD}"/>
              </a:ext>
            </a:extLst>
          </p:cNvPr>
          <p:cNvSpPr txBox="1"/>
          <p:nvPr/>
        </p:nvSpPr>
        <p:spPr>
          <a:xfrm>
            <a:off x="1475656" y="323945"/>
            <a:ext cx="4236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CREATING WEB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0D9599-DFC4-EBC7-7BB6-B6F8FAD0E764}"/>
              </a:ext>
            </a:extLst>
          </p:cNvPr>
          <p:cNvSpPr txBox="1"/>
          <p:nvPr/>
        </p:nvSpPr>
        <p:spPr>
          <a:xfrm>
            <a:off x="362264" y="1013140"/>
            <a:ext cx="5649896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10.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Install Web Server, 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3A5D91-224F-06AF-9CB0-A911E2002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505188"/>
            <a:ext cx="6552728" cy="46711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0F203D9-D729-91EB-9E3A-B9E93957E4E0}"/>
              </a:ext>
            </a:extLst>
          </p:cNvPr>
          <p:cNvSpPr/>
          <p:nvPr/>
        </p:nvSpPr>
        <p:spPr>
          <a:xfrm>
            <a:off x="5796136" y="5805264"/>
            <a:ext cx="648072" cy="255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FBC775-C704-9F63-A292-A66B58EBF515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55364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AECE9-25E7-ABA0-6BE1-EC1A7694A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E0629A-D447-BFF9-8541-BE540F269B74}"/>
              </a:ext>
            </a:extLst>
          </p:cNvPr>
          <p:cNvSpPr txBox="1"/>
          <p:nvPr/>
        </p:nvSpPr>
        <p:spPr>
          <a:xfrm>
            <a:off x="1475656" y="323945"/>
            <a:ext cx="4236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CREATING WEB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569DB-24FE-3455-08B8-D975DA2BE807}"/>
              </a:ext>
            </a:extLst>
          </p:cNvPr>
          <p:cNvSpPr txBox="1"/>
          <p:nvPr/>
        </p:nvSpPr>
        <p:spPr>
          <a:xfrm>
            <a:off x="362264" y="1013140"/>
            <a:ext cx="7666120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11.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Buka localhost untuk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memastikan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server sudah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berjalan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atau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bukalah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IIS Manager.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D2B7FC-381C-BE56-F487-97BDE318E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053527"/>
            <a:ext cx="5019375" cy="37890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898205-1B76-A568-7C2E-A71BF6120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780928"/>
            <a:ext cx="4752397" cy="355154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4E7A093-2B30-E71F-176D-BB767C6BF619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8164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D0F72-F24E-545B-D9C4-1E2897E8E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B63E29-998E-CC16-8A91-A38A1ECE62FF}"/>
              </a:ext>
            </a:extLst>
          </p:cNvPr>
          <p:cNvSpPr txBox="1"/>
          <p:nvPr/>
        </p:nvSpPr>
        <p:spPr>
          <a:xfrm>
            <a:off x="1475656" y="323945"/>
            <a:ext cx="3844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AN APLICATION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A4CDA-5F4F-0ECF-2F2B-076F68FF5DCC}"/>
              </a:ext>
            </a:extLst>
          </p:cNvPr>
          <p:cNvSpPr txBox="1"/>
          <p:nvPr/>
        </p:nvSpPr>
        <p:spPr>
          <a:xfrm>
            <a:off x="395536" y="923971"/>
            <a:ext cx="8568952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Buatlah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sebuah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folder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baru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 drive C dengan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“Web Hello World”,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kemudian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tambahkan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halaman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html yang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berisikan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“Hello World”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353F1B-8F9F-E8B6-A757-375394A96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879864"/>
            <a:ext cx="4711071" cy="353184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DA6360-81F9-C573-6024-58E8D1D406EB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4257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D9421-82E1-74B6-7C19-B7A2ED598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683936-1666-759C-22A3-721A995D776C}"/>
              </a:ext>
            </a:extLst>
          </p:cNvPr>
          <p:cNvSpPr txBox="1"/>
          <p:nvPr/>
        </p:nvSpPr>
        <p:spPr>
          <a:xfrm>
            <a:off x="1475656" y="323945"/>
            <a:ext cx="3844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AN APLICATION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8C34B-8A57-B813-BDC9-557F90B6AD1F}"/>
              </a:ext>
            </a:extLst>
          </p:cNvPr>
          <p:cNvSpPr txBox="1"/>
          <p:nvPr/>
        </p:nvSpPr>
        <p:spPr>
          <a:xfrm>
            <a:off x="395536" y="923971"/>
            <a:ext cx="8568952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Buka IIS Manager,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kemudian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klik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kanan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“Default Web Site”,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“Add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Aplication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”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1DB97A6-9B49-D9DF-0E3E-9668EE75D60F}"/>
              </a:ext>
            </a:extLst>
          </p:cNvPr>
          <p:cNvGrpSpPr/>
          <p:nvPr/>
        </p:nvGrpSpPr>
        <p:grpSpPr>
          <a:xfrm>
            <a:off x="539552" y="1879864"/>
            <a:ext cx="2016224" cy="3637368"/>
            <a:chOff x="611558" y="1556792"/>
            <a:chExt cx="2471999" cy="39761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7580713-76E0-974F-5C18-F19939A5C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558" y="1556792"/>
              <a:ext cx="2471999" cy="397612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0F6F61E-4C6F-F583-FAA3-5757EA6EBE90}"/>
                </a:ext>
              </a:extLst>
            </p:cNvPr>
            <p:cNvSpPr/>
            <p:nvPr/>
          </p:nvSpPr>
          <p:spPr>
            <a:xfrm>
              <a:off x="1847557" y="2564904"/>
              <a:ext cx="852233" cy="14401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D46AD84-3B75-C29F-4F0B-22CED0062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1879864"/>
            <a:ext cx="3528392" cy="2608229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00129BB-7B05-63C1-92EF-CC683B1999B9}"/>
              </a:ext>
            </a:extLst>
          </p:cNvPr>
          <p:cNvCxnSpPr>
            <a:cxnSpLocks/>
          </p:cNvCxnSpPr>
          <p:nvPr/>
        </p:nvCxnSpPr>
        <p:spPr>
          <a:xfrm flipV="1">
            <a:off x="3131840" y="2276872"/>
            <a:ext cx="3240360" cy="478278"/>
          </a:xfrm>
          <a:prstGeom prst="bentConnector3">
            <a:avLst>
              <a:gd name="adj1" fmla="val -329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184911D-F2E4-CDCC-E702-920EF8152059}"/>
              </a:ext>
            </a:extLst>
          </p:cNvPr>
          <p:cNvCxnSpPr>
            <a:cxnSpLocks/>
          </p:cNvCxnSpPr>
          <p:nvPr/>
        </p:nvCxnSpPr>
        <p:spPr>
          <a:xfrm>
            <a:off x="2843808" y="3525895"/>
            <a:ext cx="3384376" cy="1271257"/>
          </a:xfrm>
          <a:prstGeom prst="bentConnector3">
            <a:avLst>
              <a:gd name="adj1" fmla="val -13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595ED50-E357-6BF7-5ED8-4F660DA681C2}"/>
              </a:ext>
            </a:extLst>
          </p:cNvPr>
          <p:cNvSpPr txBox="1"/>
          <p:nvPr/>
        </p:nvSpPr>
        <p:spPr>
          <a:xfrm>
            <a:off x="6407696" y="1803058"/>
            <a:ext cx="2736304" cy="129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Berikan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alias,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pastikan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alias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bersifat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unik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E6C753-8D67-5091-9F65-AEB5251CFC10}"/>
              </a:ext>
            </a:extLst>
          </p:cNvPr>
          <p:cNvSpPr txBox="1"/>
          <p:nvPr/>
        </p:nvSpPr>
        <p:spPr>
          <a:xfrm>
            <a:off x="6372200" y="4488093"/>
            <a:ext cx="2736304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folder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applikasi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F6FE98-3BE7-C649-30C8-0ED80BE1B76C}"/>
              </a:ext>
            </a:extLst>
          </p:cNvPr>
          <p:cNvSpPr/>
          <p:nvPr/>
        </p:nvSpPr>
        <p:spPr>
          <a:xfrm>
            <a:off x="4788024" y="3227823"/>
            <a:ext cx="32403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22C383-A49A-5A73-B80E-1CF59DD5A3C3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2331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0CB14-8548-483A-D4DF-92C0C6584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8E325B-F14A-E7C0-95A9-964CCFDEDB49}"/>
              </a:ext>
            </a:extLst>
          </p:cNvPr>
          <p:cNvSpPr txBox="1"/>
          <p:nvPr/>
        </p:nvSpPr>
        <p:spPr>
          <a:xfrm>
            <a:off x="1475656" y="323945"/>
            <a:ext cx="3844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AN APLICATION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A3202-0AB7-043E-95F9-7D8017BE903B}"/>
              </a:ext>
            </a:extLst>
          </p:cNvPr>
          <p:cNvSpPr txBox="1"/>
          <p:nvPr/>
        </p:nvSpPr>
        <p:spPr>
          <a:xfrm>
            <a:off x="395536" y="923971"/>
            <a:ext cx="8568952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Akses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aplikasi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sudah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dibuat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04DF7A-45A6-C3FF-54BE-357B38B62E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744"/>
          <a:stretch/>
        </p:blipFill>
        <p:spPr>
          <a:xfrm>
            <a:off x="611560" y="1488376"/>
            <a:ext cx="6751051" cy="25886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70AFF81-F7A5-5AA8-1FFB-C200562B792E}"/>
              </a:ext>
            </a:extLst>
          </p:cNvPr>
          <p:cNvSpPr/>
          <p:nvPr/>
        </p:nvSpPr>
        <p:spPr>
          <a:xfrm>
            <a:off x="6012160" y="2924944"/>
            <a:ext cx="93610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2B5944-6D96-875F-F9CE-96656CC81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476569"/>
            <a:ext cx="7327631" cy="92365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D3B26C8-DE6F-5614-F771-A11540598A46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09018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8DE8C-F9BE-B0E4-6363-11E0624C6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D853A2-653F-4601-A1D7-4031F40198C7}"/>
              </a:ext>
            </a:extLst>
          </p:cNvPr>
          <p:cNvSpPr txBox="1"/>
          <p:nvPr/>
        </p:nvSpPr>
        <p:spPr>
          <a:xfrm>
            <a:off x="1475656" y="323945"/>
            <a:ext cx="39010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CREATING NEW SITES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AD7321-D9BC-D4A4-E09F-43915A4F1868}"/>
              </a:ext>
            </a:extLst>
          </p:cNvPr>
          <p:cNvSpPr txBox="1"/>
          <p:nvPr/>
        </p:nvSpPr>
        <p:spPr>
          <a:xfrm>
            <a:off x="395536" y="923971"/>
            <a:ext cx="8568952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Buka IIS Manager,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kemudian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klik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kanan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“Sites”,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“Add Websites”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8BE64-61C4-A6ED-5840-48D10F0DF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628800"/>
            <a:ext cx="3591426" cy="2381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BC4ED7-2224-216E-22DD-B67F7953B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243" y="2815884"/>
            <a:ext cx="3675664" cy="352839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EBC0618-07A2-1CDC-1219-24C2D8B04ECD}"/>
              </a:ext>
            </a:extLst>
          </p:cNvPr>
          <p:cNvSpPr/>
          <p:nvPr/>
        </p:nvSpPr>
        <p:spPr>
          <a:xfrm>
            <a:off x="1187624" y="2711579"/>
            <a:ext cx="187220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29E5B5-99F8-51CA-0AA4-48BB1D02013A}"/>
              </a:ext>
            </a:extLst>
          </p:cNvPr>
          <p:cNvSpPr/>
          <p:nvPr/>
        </p:nvSpPr>
        <p:spPr>
          <a:xfrm>
            <a:off x="3194874" y="3068960"/>
            <a:ext cx="260126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FD05F6-11A4-2BC4-40CD-7ADB343F6E3D}"/>
              </a:ext>
            </a:extLst>
          </p:cNvPr>
          <p:cNvSpPr/>
          <p:nvPr/>
        </p:nvSpPr>
        <p:spPr>
          <a:xfrm>
            <a:off x="5235475" y="3610067"/>
            <a:ext cx="200621" cy="217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F5B746-6D31-14FA-38A9-BF4B95855273}"/>
              </a:ext>
            </a:extLst>
          </p:cNvPr>
          <p:cNvSpPr/>
          <p:nvPr/>
        </p:nvSpPr>
        <p:spPr>
          <a:xfrm>
            <a:off x="3271369" y="4418586"/>
            <a:ext cx="260126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AA46426-CF25-BAB9-7C87-A48EE3422C14}"/>
              </a:ext>
            </a:extLst>
          </p:cNvPr>
          <p:cNvCxnSpPr>
            <a:cxnSpLocks/>
            <a:stCxn id="10" idx="0"/>
          </p:cNvCxnSpPr>
          <p:nvPr/>
        </p:nvCxnSpPr>
        <p:spPr>
          <a:xfrm rot="5400000" flipH="1" flipV="1">
            <a:off x="5037808" y="1734569"/>
            <a:ext cx="792088" cy="1876694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B3A711B-6A3E-751A-3F90-C5D6AE842983}"/>
              </a:ext>
            </a:extLst>
          </p:cNvPr>
          <p:cNvSpPr txBox="1"/>
          <p:nvPr/>
        </p:nvSpPr>
        <p:spPr>
          <a:xfrm>
            <a:off x="6516216" y="1387559"/>
            <a:ext cx="2736304" cy="129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Berikan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site name, dan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application pool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B2E7104-0A2F-CB46-CD16-DF18E6E43AC3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436096" y="3569678"/>
            <a:ext cx="1313945" cy="149207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733F35-29CD-0E7A-0FA4-51BBBFC90287}"/>
              </a:ext>
            </a:extLst>
          </p:cNvPr>
          <p:cNvSpPr txBox="1"/>
          <p:nvPr/>
        </p:nvSpPr>
        <p:spPr>
          <a:xfrm>
            <a:off x="6927979" y="2972660"/>
            <a:ext cx="2016224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folder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applikasi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A996879-D195-C3AD-633B-33E7525BA925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 flipH="1" flipV="1">
            <a:off x="5539438" y="3451147"/>
            <a:ext cx="288032" cy="2222909"/>
          </a:xfrm>
          <a:prstGeom prst="bentConnector4">
            <a:avLst>
              <a:gd name="adj1" fmla="val -79366"/>
              <a:gd name="adj2" fmla="val 79255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D90FF11-E73B-9507-D787-6E873E7F6E78}"/>
              </a:ext>
            </a:extLst>
          </p:cNvPr>
          <p:cNvSpPr txBox="1"/>
          <p:nvPr/>
        </p:nvSpPr>
        <p:spPr>
          <a:xfrm>
            <a:off x="6948264" y="4155680"/>
            <a:ext cx="2016224" cy="2125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Jenis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protocol,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ip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port yang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digunakan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pada site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tersebut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59BA5E-7DDA-471B-1FDF-A6E1C111B72E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9723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69A66-A770-E2D7-8540-6E69D1C3E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2CF349-0EF2-8B25-C5BC-1ABA65DDC95D}"/>
              </a:ext>
            </a:extLst>
          </p:cNvPr>
          <p:cNvSpPr txBox="1"/>
          <p:nvPr/>
        </p:nvSpPr>
        <p:spPr>
          <a:xfrm>
            <a:off x="1475656" y="323945"/>
            <a:ext cx="20511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LATIHAN 1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0AB6FA-C951-D3AC-A881-219B286FE8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22192" r="20833" b="20557"/>
          <a:stretch/>
        </p:blipFill>
        <p:spPr>
          <a:xfrm>
            <a:off x="2620817" y="2154390"/>
            <a:ext cx="1524000" cy="75126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8CECC33-2EA8-C61A-E710-082479ABC6E4}"/>
              </a:ext>
            </a:extLst>
          </p:cNvPr>
          <p:cNvSpPr/>
          <p:nvPr/>
        </p:nvSpPr>
        <p:spPr>
          <a:xfrm>
            <a:off x="3302031" y="2629447"/>
            <a:ext cx="245662" cy="245662"/>
          </a:xfrm>
          <a:prstGeom prst="ellipse">
            <a:avLst/>
          </a:prstGeom>
          <a:solidFill>
            <a:schemeClr val="tx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1F2E208-EDCF-A273-9E80-8D4AC7E74182}"/>
              </a:ext>
            </a:extLst>
          </p:cNvPr>
          <p:cNvGrpSpPr/>
          <p:nvPr/>
        </p:nvGrpSpPr>
        <p:grpSpPr>
          <a:xfrm>
            <a:off x="132338" y="795177"/>
            <a:ext cx="879964" cy="1006311"/>
            <a:chOff x="536058" y="1206562"/>
            <a:chExt cx="1066800" cy="121997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9CECC85-B916-AF1C-B987-B941190E4B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42" t="12414" r="21739" b="15322"/>
            <a:stretch/>
          </p:blipFill>
          <p:spPr>
            <a:xfrm>
              <a:off x="605066" y="1752600"/>
              <a:ext cx="928785" cy="673936"/>
            </a:xfrm>
            <a:prstGeom prst="rect">
              <a:avLst/>
            </a:prstGeom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FBA5CC79-1683-C315-5184-07D4D8D10A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058" y="1206562"/>
              <a:ext cx="1066800" cy="950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7C8350E-38FF-9576-0F92-3C7643A4F404}"/>
              </a:ext>
            </a:extLst>
          </p:cNvPr>
          <p:cNvSpPr/>
          <p:nvPr/>
        </p:nvSpPr>
        <p:spPr>
          <a:xfrm>
            <a:off x="3072065" y="2637470"/>
            <a:ext cx="245662" cy="24566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73">
            <a:extLst>
              <a:ext uri="{FF2B5EF4-FFF2-40B4-BE49-F238E27FC236}">
                <a16:creationId xmlns:a16="http://schemas.microsoft.com/office/drawing/2014/main" id="{8FB71D91-335D-B845-1D1C-A06CA05198EC}"/>
              </a:ext>
            </a:extLst>
          </p:cNvPr>
          <p:cNvCxnSpPr>
            <a:stCxn id="18" idx="2"/>
            <a:endCxn id="16" idx="2"/>
          </p:cNvCxnSpPr>
          <p:nvPr/>
        </p:nvCxnSpPr>
        <p:spPr>
          <a:xfrm rot="10800000">
            <a:off x="572321" y="1801489"/>
            <a:ext cx="2499744" cy="958813"/>
          </a:xfrm>
          <a:prstGeom prst="bentConnector2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F1C6FB7-3C7F-F496-C3EE-4C41AFDA0B73}"/>
              </a:ext>
            </a:extLst>
          </p:cNvPr>
          <p:cNvSpPr/>
          <p:nvPr/>
        </p:nvSpPr>
        <p:spPr>
          <a:xfrm>
            <a:off x="1148619" y="793831"/>
            <a:ext cx="2169857" cy="341313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796925" algn="l"/>
              </a:tabLst>
            </a:pPr>
            <a:r>
              <a:rPr lang="en-US" sz="1600" b="1" dirty="0">
                <a:solidFill>
                  <a:schemeClr val="tx1"/>
                </a:solidFill>
              </a:rPr>
              <a:t>Modem</a:t>
            </a:r>
            <a:r>
              <a:rPr lang="en-US" sz="1600" dirty="0">
                <a:solidFill>
                  <a:schemeClr val="tx1"/>
                </a:solidFill>
              </a:rPr>
              <a:t> 	: 10.12.0.1/16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94CA57-9775-D081-8D65-83798EBD020C}"/>
              </a:ext>
            </a:extLst>
          </p:cNvPr>
          <p:cNvSpPr/>
          <p:nvPr/>
        </p:nvSpPr>
        <p:spPr>
          <a:xfrm>
            <a:off x="1148618" y="1207479"/>
            <a:ext cx="2169857" cy="341313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</a:rPr>
              <a:t>MikroTik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US" sz="1600" b="1" dirty="0">
                <a:solidFill>
                  <a:schemeClr val="tx1"/>
                </a:solidFill>
              </a:rPr>
              <a:t>DHCP Client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6EC08A-C57D-CC32-DCFD-05E7D9BE83CB}"/>
              </a:ext>
            </a:extLst>
          </p:cNvPr>
          <p:cNvSpPr txBox="1"/>
          <p:nvPr/>
        </p:nvSpPr>
        <p:spPr>
          <a:xfrm>
            <a:off x="2076828" y="2485783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D0606B-FDF7-50A0-E5D1-AC8F3CC9EF81}"/>
              </a:ext>
            </a:extLst>
          </p:cNvPr>
          <p:cNvSpPr txBox="1"/>
          <p:nvPr/>
        </p:nvSpPr>
        <p:spPr>
          <a:xfrm>
            <a:off x="3586942" y="3721403"/>
            <a:ext cx="1335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Eth2 : </a:t>
            </a:r>
          </a:p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10.10.10.1/30</a:t>
            </a:r>
          </a:p>
        </p:txBody>
      </p:sp>
      <p:cxnSp>
        <p:nvCxnSpPr>
          <p:cNvPr id="53" name="Elbow Connector 51">
            <a:extLst>
              <a:ext uri="{FF2B5EF4-FFF2-40B4-BE49-F238E27FC236}">
                <a16:creationId xmlns:a16="http://schemas.microsoft.com/office/drawing/2014/main" id="{A38AB574-A3B3-732E-4AC8-BB2E2C504CD3}"/>
              </a:ext>
            </a:extLst>
          </p:cNvPr>
          <p:cNvCxnSpPr>
            <a:cxnSpLocks/>
            <a:stCxn id="9" idx="4"/>
            <a:endCxn id="52" idx="0"/>
          </p:cNvCxnSpPr>
          <p:nvPr/>
        </p:nvCxnSpPr>
        <p:spPr>
          <a:xfrm rot="5400000">
            <a:off x="2386271" y="3729630"/>
            <a:ext cx="1893113" cy="18407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CB29C4-3B6A-93D0-592D-5F099E3EB608}"/>
              </a:ext>
            </a:extLst>
          </p:cNvPr>
          <p:cNvGrpSpPr/>
          <p:nvPr/>
        </p:nvGrpSpPr>
        <p:grpSpPr>
          <a:xfrm>
            <a:off x="2690187" y="4768222"/>
            <a:ext cx="1101210" cy="1600235"/>
            <a:chOff x="7283959" y="1845700"/>
            <a:chExt cx="1101210" cy="1600235"/>
          </a:xfrm>
        </p:grpSpPr>
        <p:pic>
          <p:nvPicPr>
            <p:cNvPr id="52" name="Picture 6">
              <a:extLst>
                <a:ext uri="{FF2B5EF4-FFF2-40B4-BE49-F238E27FC236}">
                  <a16:creationId xmlns:a16="http://schemas.microsoft.com/office/drawing/2014/main" id="{17BF77CD-8887-31C7-5B89-1B0CC38BAA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3959" y="1845700"/>
              <a:ext cx="1101210" cy="1600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FDA288E-DDB3-DB3A-17AD-C160F25FE5DE}"/>
                </a:ext>
              </a:extLst>
            </p:cNvPr>
            <p:cNvSpPr/>
            <p:nvPr/>
          </p:nvSpPr>
          <p:spPr>
            <a:xfrm>
              <a:off x="7515120" y="2586097"/>
              <a:ext cx="671226" cy="4464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VB</a:t>
              </a:r>
              <a:endParaRPr lang="en-US" b="1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7ECF401-7785-5B05-BF10-8B36D7BF0467}"/>
              </a:ext>
            </a:extLst>
          </p:cNvPr>
          <p:cNvSpPr txBox="1"/>
          <p:nvPr/>
        </p:nvSpPr>
        <p:spPr>
          <a:xfrm>
            <a:off x="189260" y="2953909"/>
            <a:ext cx="2730759" cy="17660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Server                              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           : Win Server 2012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Network : Bridge Adapter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Server : IIS port 80,443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   Apache port 8080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45B68B7-00B2-CE9C-B87A-4588A9B4903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001" t="21111" r="9999" b="21111"/>
          <a:stretch/>
        </p:blipFill>
        <p:spPr>
          <a:xfrm>
            <a:off x="5445921" y="3970424"/>
            <a:ext cx="1037833" cy="749546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B1909C2-508E-FEE6-AD11-5088E2C31D77}"/>
              </a:ext>
            </a:extLst>
          </p:cNvPr>
          <p:cNvSpPr/>
          <p:nvPr/>
        </p:nvSpPr>
        <p:spPr>
          <a:xfrm>
            <a:off x="3547693" y="2637472"/>
            <a:ext cx="245662" cy="2456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Elbow Connector 90">
            <a:extLst>
              <a:ext uri="{FF2B5EF4-FFF2-40B4-BE49-F238E27FC236}">
                <a16:creationId xmlns:a16="http://schemas.microsoft.com/office/drawing/2014/main" id="{8F421627-99FF-3979-491B-FEF223CB4FC1}"/>
              </a:ext>
            </a:extLst>
          </p:cNvPr>
          <p:cNvCxnSpPr>
            <a:cxnSpLocks/>
            <a:stCxn id="35" idx="6"/>
            <a:endCxn id="29" idx="0"/>
          </p:cNvCxnSpPr>
          <p:nvPr/>
        </p:nvCxnSpPr>
        <p:spPr>
          <a:xfrm>
            <a:off x="3793355" y="2760303"/>
            <a:ext cx="2171483" cy="1210121"/>
          </a:xfrm>
          <a:prstGeom prst="bentConnector2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74998E3F-4E34-3D8B-FA24-0237B6035D86}"/>
              </a:ext>
            </a:extLst>
          </p:cNvPr>
          <p:cNvSpPr/>
          <p:nvPr/>
        </p:nvSpPr>
        <p:spPr>
          <a:xfrm>
            <a:off x="3099004" y="2012176"/>
            <a:ext cx="592001" cy="4464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R1</a:t>
            </a:r>
            <a:endParaRPr lang="en-US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85E30E3-327F-1BA2-ACA1-BE65CC5B392F}"/>
              </a:ext>
            </a:extLst>
          </p:cNvPr>
          <p:cNvSpPr txBox="1"/>
          <p:nvPr/>
        </p:nvSpPr>
        <p:spPr>
          <a:xfrm>
            <a:off x="4355303" y="2841049"/>
            <a:ext cx="1335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Eth2 : </a:t>
            </a:r>
          </a:p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10.10.11.1/24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FB31B3-C145-560C-410D-38277EF68C9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248348">
            <a:off x="3836623" y="1950606"/>
            <a:ext cx="738840" cy="6652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770AE7-0A70-95B0-F21E-7A9C1AC5A604}"/>
              </a:ext>
            </a:extLst>
          </p:cNvPr>
          <p:cNvSpPr txBox="1"/>
          <p:nvPr/>
        </p:nvSpPr>
        <p:spPr>
          <a:xfrm>
            <a:off x="3732937" y="556341"/>
            <a:ext cx="2709227" cy="121571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688975" algn="l"/>
                <a:tab pos="860425" algn="l"/>
              </a:tabLst>
            </a:pPr>
            <a:r>
              <a:rPr lang="en-US" sz="1700" b="1" u="sng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WLAN 1 Access Point</a:t>
            </a:r>
          </a:p>
          <a:p>
            <a:pPr>
              <a:tabLst>
                <a:tab pos="684213" algn="l"/>
                <a:tab pos="739775" algn="l"/>
              </a:tabLst>
            </a:pP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SSID	:	NAMA_ANDA</a:t>
            </a:r>
          </a:p>
          <a:p>
            <a:pPr>
              <a:tabLst>
                <a:tab pos="684213" algn="l"/>
                <a:tab pos="739775" algn="l"/>
              </a:tabLst>
            </a:pP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Pass	:	12345678</a:t>
            </a:r>
          </a:p>
          <a:p>
            <a:pPr>
              <a:tabLst>
                <a:tab pos="684213" algn="l"/>
                <a:tab pos="739775" algn="l"/>
              </a:tabLst>
            </a:pP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IP	:	10.10.100.1/24</a:t>
            </a:r>
          </a:p>
          <a:p>
            <a:pPr>
              <a:tabLst>
                <a:tab pos="684213" algn="l"/>
                <a:tab pos="739775" algn="l"/>
              </a:tabLst>
            </a:pP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DHCP	:	10.10.100.2 - 5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D5DF73B-3F45-D811-147C-3900A4AE9504}"/>
              </a:ext>
            </a:extLst>
          </p:cNvPr>
          <p:cNvGrpSpPr/>
          <p:nvPr/>
        </p:nvGrpSpPr>
        <p:grpSpPr>
          <a:xfrm>
            <a:off x="7308304" y="4813704"/>
            <a:ext cx="1037833" cy="1141379"/>
            <a:chOff x="7533847" y="1870864"/>
            <a:chExt cx="1037833" cy="114137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59C6945-1DCF-F2A6-1FBA-C5B7FA1CD7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0001" t="21111" r="9999" b="21111"/>
            <a:stretch/>
          </p:blipFill>
          <p:spPr>
            <a:xfrm>
              <a:off x="7533847" y="2262697"/>
              <a:ext cx="1037833" cy="74954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7BF84A9-7DEA-475D-3CD8-205691785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522998">
              <a:off x="7565068" y="1870864"/>
              <a:ext cx="738840" cy="665252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48BEB0D-46DD-D621-B4E3-7F6F9B3CC505}"/>
              </a:ext>
            </a:extLst>
          </p:cNvPr>
          <p:cNvSpPr txBox="1"/>
          <p:nvPr/>
        </p:nvSpPr>
        <p:spPr>
          <a:xfrm>
            <a:off x="6611573" y="559978"/>
            <a:ext cx="2400089" cy="20774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688975" algn="l"/>
                <a:tab pos="860425" algn="l"/>
              </a:tabLst>
            </a:pPr>
            <a:r>
              <a:rPr lang="en-US" sz="1700" b="1" u="sng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FIREWALL</a:t>
            </a:r>
          </a:p>
          <a:p>
            <a:pPr>
              <a:tabLst>
                <a:tab pos="684213" algn="l"/>
                <a:tab pos="739775" algn="l"/>
              </a:tabLst>
            </a:pP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[1] </a:t>
            </a:r>
            <a:r>
              <a:rPr lang="en-US" sz="1400" dirty="0" err="1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setiap</a:t>
            </a: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 client dengan network 10.10.100.0/24 </a:t>
            </a:r>
            <a:r>
              <a:rPr lang="en-US" sz="1400" dirty="0" err="1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tidak</a:t>
            </a: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1400" dirty="0" err="1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bisa</a:t>
            </a: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1400" dirty="0" err="1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terhubung</a:t>
            </a: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1400" dirty="0" err="1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ke</a:t>
            </a: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 web server</a:t>
            </a:r>
          </a:p>
          <a:p>
            <a:pPr>
              <a:tabLst>
                <a:tab pos="684213" algn="l"/>
                <a:tab pos="739775" algn="l"/>
              </a:tabLst>
            </a:pP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[2] </a:t>
            </a:r>
            <a:r>
              <a:rPr lang="en-US" sz="1400" dirty="0" err="1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setiap</a:t>
            </a: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 client dengan network 10.10.11.0/24 </a:t>
            </a:r>
            <a:r>
              <a:rPr lang="en-US" sz="1400" dirty="0" err="1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tidak</a:t>
            </a: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1400" dirty="0" err="1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bisa</a:t>
            </a: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1400" dirty="0" err="1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ngeping</a:t>
            </a: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1400" dirty="0" err="1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ke</a:t>
            </a: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 router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FE6D23-7096-2F0D-9CDE-4EE3558E6A11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92938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0321-B804-1BBB-B159-88D2423C3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E1049E-373D-9107-8145-047E8DFCE554}"/>
              </a:ext>
            </a:extLst>
          </p:cNvPr>
          <p:cNvSpPr txBox="1"/>
          <p:nvPr/>
        </p:nvSpPr>
        <p:spPr>
          <a:xfrm>
            <a:off x="1475656" y="323945"/>
            <a:ext cx="20511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LATIHAN 2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53185E-4D69-3025-EA78-9758A6BE66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22192" r="20833" b="20557"/>
          <a:stretch/>
        </p:blipFill>
        <p:spPr>
          <a:xfrm>
            <a:off x="2620817" y="2154390"/>
            <a:ext cx="1524000" cy="75126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8D69E5A-BDCB-EEBD-AF67-0EF80AC69E66}"/>
              </a:ext>
            </a:extLst>
          </p:cNvPr>
          <p:cNvSpPr/>
          <p:nvPr/>
        </p:nvSpPr>
        <p:spPr>
          <a:xfrm>
            <a:off x="3302031" y="2629447"/>
            <a:ext cx="245662" cy="245662"/>
          </a:xfrm>
          <a:prstGeom prst="ellipse">
            <a:avLst/>
          </a:prstGeom>
          <a:solidFill>
            <a:schemeClr val="tx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006650A-54A4-BAA1-0759-6300D35DCA53}"/>
              </a:ext>
            </a:extLst>
          </p:cNvPr>
          <p:cNvGrpSpPr/>
          <p:nvPr/>
        </p:nvGrpSpPr>
        <p:grpSpPr>
          <a:xfrm>
            <a:off x="132338" y="795177"/>
            <a:ext cx="879964" cy="1006311"/>
            <a:chOff x="536058" y="1206562"/>
            <a:chExt cx="1066800" cy="121997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6B3260E-59E5-48F8-3FEA-E488D65A96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42" t="12414" r="21739" b="15322"/>
            <a:stretch/>
          </p:blipFill>
          <p:spPr>
            <a:xfrm>
              <a:off x="605066" y="1752600"/>
              <a:ext cx="928785" cy="673936"/>
            </a:xfrm>
            <a:prstGeom prst="rect">
              <a:avLst/>
            </a:prstGeom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351315D8-B3F5-5F12-B28C-05AA2CB067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058" y="1206562"/>
              <a:ext cx="1066800" cy="950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7A1AC05-EF95-E42B-B833-876BD9E6E45B}"/>
              </a:ext>
            </a:extLst>
          </p:cNvPr>
          <p:cNvSpPr/>
          <p:nvPr/>
        </p:nvSpPr>
        <p:spPr>
          <a:xfrm>
            <a:off x="3072065" y="2637470"/>
            <a:ext cx="245662" cy="24566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73">
            <a:extLst>
              <a:ext uri="{FF2B5EF4-FFF2-40B4-BE49-F238E27FC236}">
                <a16:creationId xmlns:a16="http://schemas.microsoft.com/office/drawing/2014/main" id="{7CF1B51A-E4BB-A9E7-6AC7-CB4196B56347}"/>
              </a:ext>
            </a:extLst>
          </p:cNvPr>
          <p:cNvCxnSpPr>
            <a:stCxn id="18" idx="2"/>
            <a:endCxn id="16" idx="2"/>
          </p:cNvCxnSpPr>
          <p:nvPr/>
        </p:nvCxnSpPr>
        <p:spPr>
          <a:xfrm rot="10800000">
            <a:off x="572321" y="1801489"/>
            <a:ext cx="2499744" cy="958813"/>
          </a:xfrm>
          <a:prstGeom prst="bentConnector2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D0827B3-67F9-0A3D-4B4F-7F37A7DB4206}"/>
              </a:ext>
            </a:extLst>
          </p:cNvPr>
          <p:cNvSpPr/>
          <p:nvPr/>
        </p:nvSpPr>
        <p:spPr>
          <a:xfrm>
            <a:off x="1148619" y="793831"/>
            <a:ext cx="2169857" cy="341313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796925" algn="l"/>
              </a:tabLst>
            </a:pPr>
            <a:r>
              <a:rPr lang="en-US" sz="1600" b="1" dirty="0">
                <a:solidFill>
                  <a:schemeClr val="tx1"/>
                </a:solidFill>
              </a:rPr>
              <a:t>Modem</a:t>
            </a:r>
            <a:r>
              <a:rPr lang="en-US" sz="1600" dirty="0">
                <a:solidFill>
                  <a:schemeClr val="tx1"/>
                </a:solidFill>
              </a:rPr>
              <a:t> 	: 10.12.0.1/16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F1A086-66C5-DDAD-BBA7-A2F1BF3417BA}"/>
              </a:ext>
            </a:extLst>
          </p:cNvPr>
          <p:cNvSpPr/>
          <p:nvPr/>
        </p:nvSpPr>
        <p:spPr>
          <a:xfrm>
            <a:off x="1148618" y="1207479"/>
            <a:ext cx="2169857" cy="341313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</a:rPr>
              <a:t>MikroTik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US" sz="1600" b="1" dirty="0">
                <a:solidFill>
                  <a:schemeClr val="tx1"/>
                </a:solidFill>
              </a:rPr>
              <a:t>DHCP Client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B17184-3362-B4CC-8DEF-501028EA669A}"/>
              </a:ext>
            </a:extLst>
          </p:cNvPr>
          <p:cNvSpPr txBox="1"/>
          <p:nvPr/>
        </p:nvSpPr>
        <p:spPr>
          <a:xfrm>
            <a:off x="2076828" y="2485783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E1ED57-C072-9BDD-A8EF-FA7CFD507918}"/>
              </a:ext>
            </a:extLst>
          </p:cNvPr>
          <p:cNvSpPr txBox="1"/>
          <p:nvPr/>
        </p:nvSpPr>
        <p:spPr>
          <a:xfrm>
            <a:off x="3586942" y="3721403"/>
            <a:ext cx="1335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Eth2 : </a:t>
            </a:r>
          </a:p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10.10.10.1/30</a:t>
            </a:r>
          </a:p>
        </p:txBody>
      </p:sp>
      <p:cxnSp>
        <p:nvCxnSpPr>
          <p:cNvPr id="53" name="Elbow Connector 51">
            <a:extLst>
              <a:ext uri="{FF2B5EF4-FFF2-40B4-BE49-F238E27FC236}">
                <a16:creationId xmlns:a16="http://schemas.microsoft.com/office/drawing/2014/main" id="{8E75670C-F7A3-642D-9335-430A93395027}"/>
              </a:ext>
            </a:extLst>
          </p:cNvPr>
          <p:cNvCxnSpPr>
            <a:cxnSpLocks/>
            <a:stCxn id="9" idx="4"/>
            <a:endCxn id="52" idx="0"/>
          </p:cNvCxnSpPr>
          <p:nvPr/>
        </p:nvCxnSpPr>
        <p:spPr>
          <a:xfrm rot="5400000">
            <a:off x="2386271" y="3729630"/>
            <a:ext cx="1893113" cy="18407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1940F78-87C5-BF04-59E3-8AAB71929EF1}"/>
              </a:ext>
            </a:extLst>
          </p:cNvPr>
          <p:cNvGrpSpPr/>
          <p:nvPr/>
        </p:nvGrpSpPr>
        <p:grpSpPr>
          <a:xfrm>
            <a:off x="2690187" y="4768222"/>
            <a:ext cx="1101210" cy="1600235"/>
            <a:chOff x="7283959" y="1845700"/>
            <a:chExt cx="1101210" cy="1600235"/>
          </a:xfrm>
        </p:grpSpPr>
        <p:pic>
          <p:nvPicPr>
            <p:cNvPr id="52" name="Picture 6">
              <a:extLst>
                <a:ext uri="{FF2B5EF4-FFF2-40B4-BE49-F238E27FC236}">
                  <a16:creationId xmlns:a16="http://schemas.microsoft.com/office/drawing/2014/main" id="{E202C5A2-95E7-AEBA-CDA1-B7E8D60190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3959" y="1845700"/>
              <a:ext cx="1101210" cy="1600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1FC74DC-C064-DA42-135B-2655DDF5D406}"/>
                </a:ext>
              </a:extLst>
            </p:cNvPr>
            <p:cNvSpPr/>
            <p:nvPr/>
          </p:nvSpPr>
          <p:spPr>
            <a:xfrm>
              <a:off x="7515120" y="2586097"/>
              <a:ext cx="671226" cy="4464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VB</a:t>
              </a:r>
              <a:endParaRPr lang="en-US" b="1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FE6201-7318-46CB-125F-9A6A1F9A5E54}"/>
              </a:ext>
            </a:extLst>
          </p:cNvPr>
          <p:cNvSpPr txBox="1"/>
          <p:nvPr/>
        </p:nvSpPr>
        <p:spPr>
          <a:xfrm>
            <a:off x="189260" y="2953909"/>
            <a:ext cx="2730759" cy="17660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Server                              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           : Win Server 2012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Network : Bridge Adapter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Server : IIS port 80,443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   Apache port 8080</a:t>
            </a:r>
          </a:p>
        </p:txBody>
      </p:sp>
      <p:cxnSp>
        <p:nvCxnSpPr>
          <p:cNvPr id="27" name="Elbow Connector 91">
            <a:extLst>
              <a:ext uri="{FF2B5EF4-FFF2-40B4-BE49-F238E27FC236}">
                <a16:creationId xmlns:a16="http://schemas.microsoft.com/office/drawing/2014/main" id="{06C80C68-7B65-C8A3-60AD-FD570951B28F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rot="5400000" flipH="1" flipV="1">
            <a:off x="7035727" y="3292312"/>
            <a:ext cx="1292988" cy="528672"/>
          </a:xfrm>
          <a:prstGeom prst="bentConnector3">
            <a:avLst>
              <a:gd name="adj1" fmla="val 50000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F9A1DEF9-6736-FCBC-C2A4-D100B06081A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001" t="21111" r="9999" b="21111"/>
          <a:stretch/>
        </p:blipFill>
        <p:spPr>
          <a:xfrm>
            <a:off x="6898968" y="4203142"/>
            <a:ext cx="1037833" cy="749546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09EBB15-BDDD-49B8-A920-A98953642000}"/>
              </a:ext>
            </a:extLst>
          </p:cNvPr>
          <p:cNvSpPr/>
          <p:nvPr/>
        </p:nvSpPr>
        <p:spPr>
          <a:xfrm>
            <a:off x="3547693" y="2637472"/>
            <a:ext cx="245662" cy="2456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4F9DB1A-837F-8847-E4FA-7F06E81FA913}"/>
              </a:ext>
            </a:extLst>
          </p:cNvPr>
          <p:cNvGrpSpPr/>
          <p:nvPr/>
        </p:nvGrpSpPr>
        <p:grpSpPr>
          <a:xfrm>
            <a:off x="7127830" y="2148745"/>
            <a:ext cx="1524000" cy="769977"/>
            <a:chOff x="6395849" y="2099236"/>
            <a:chExt cx="1524000" cy="75126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A19A19A-F76D-AA9C-EBF0-7C56D380CEBB}"/>
                </a:ext>
              </a:extLst>
            </p:cNvPr>
            <p:cNvGrpSpPr/>
            <p:nvPr/>
          </p:nvGrpSpPr>
          <p:grpSpPr>
            <a:xfrm>
              <a:off x="6395849" y="2099236"/>
              <a:ext cx="1524000" cy="751267"/>
              <a:chOff x="7442007" y="2605313"/>
              <a:chExt cx="1524000" cy="751267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F7238C92-466A-C1CB-B488-9E59A6F8AA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000" t="22192" r="20833" b="20557"/>
              <a:stretch/>
            </p:blipFill>
            <p:spPr>
              <a:xfrm>
                <a:off x="7442007" y="2605313"/>
                <a:ext cx="1524000" cy="751267"/>
              </a:xfrm>
              <a:prstGeom prst="rect">
                <a:avLst/>
              </a:prstGeom>
            </p:spPr>
          </p:pic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14C41FAA-E38E-ECA1-E688-CD9319DEE04F}"/>
                  </a:ext>
                </a:extLst>
              </p:cNvPr>
              <p:cNvSpPr/>
              <p:nvPr/>
            </p:nvSpPr>
            <p:spPr>
              <a:xfrm>
                <a:off x="8137903" y="3102558"/>
                <a:ext cx="245662" cy="245662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76F1EEA-4473-4B89-6542-C1AAEED552CD}"/>
                </a:ext>
              </a:extLst>
            </p:cNvPr>
            <p:cNvSpPr/>
            <p:nvPr/>
          </p:nvSpPr>
          <p:spPr>
            <a:xfrm>
              <a:off x="6826224" y="2593051"/>
              <a:ext cx="245662" cy="24566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6" name="Elbow Connector 90">
            <a:extLst>
              <a:ext uri="{FF2B5EF4-FFF2-40B4-BE49-F238E27FC236}">
                <a16:creationId xmlns:a16="http://schemas.microsoft.com/office/drawing/2014/main" id="{E60247BA-6969-E0A0-2C61-B13BA5A58433}"/>
              </a:ext>
            </a:extLst>
          </p:cNvPr>
          <p:cNvCxnSpPr>
            <a:cxnSpLocks/>
            <a:stCxn id="35" idx="0"/>
            <a:endCxn id="42" idx="0"/>
          </p:cNvCxnSpPr>
          <p:nvPr/>
        </p:nvCxnSpPr>
        <p:spPr>
          <a:xfrm rot="16200000" flipH="1">
            <a:off x="5667086" y="640909"/>
            <a:ext cx="17387" cy="4010512"/>
          </a:xfrm>
          <a:prstGeom prst="bentConnector3">
            <a:avLst>
              <a:gd name="adj1" fmla="val -1314775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99C049AC-D28C-7976-BDCC-CCAD1F793832}"/>
              </a:ext>
            </a:extLst>
          </p:cNvPr>
          <p:cNvSpPr/>
          <p:nvPr/>
        </p:nvSpPr>
        <p:spPr>
          <a:xfrm>
            <a:off x="7620489" y="1959909"/>
            <a:ext cx="592001" cy="4575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R2</a:t>
            </a:r>
            <a:endParaRPr lang="en-US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C56EC70-3650-86C1-DF44-72006B3052C9}"/>
              </a:ext>
            </a:extLst>
          </p:cNvPr>
          <p:cNvSpPr/>
          <p:nvPr/>
        </p:nvSpPr>
        <p:spPr>
          <a:xfrm>
            <a:off x="3099004" y="2012176"/>
            <a:ext cx="592001" cy="4464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R1</a:t>
            </a:r>
            <a:endParaRPr lang="en-US" b="1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1E21766-5B97-E7C6-E05D-9578AEF53F29}"/>
              </a:ext>
            </a:extLst>
          </p:cNvPr>
          <p:cNvSpPr/>
          <p:nvPr/>
        </p:nvSpPr>
        <p:spPr>
          <a:xfrm>
            <a:off x="4752386" y="2073123"/>
            <a:ext cx="1864227" cy="6009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OSPF</a:t>
            </a:r>
            <a:endParaRPr lang="en-US" sz="14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FB12FA-70FB-8E34-799D-D525CE032B8A}"/>
              </a:ext>
            </a:extLst>
          </p:cNvPr>
          <p:cNvSpPr txBox="1"/>
          <p:nvPr/>
        </p:nvSpPr>
        <p:spPr>
          <a:xfrm>
            <a:off x="6088777" y="1539878"/>
            <a:ext cx="1438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Eth1 : </a:t>
            </a:r>
          </a:p>
          <a:p>
            <a:pPr algn="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172.16.30.2/30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521BD1-E4D9-FF59-6FC6-CD39DE89A63D}"/>
              </a:ext>
            </a:extLst>
          </p:cNvPr>
          <p:cNvSpPr txBox="1"/>
          <p:nvPr/>
        </p:nvSpPr>
        <p:spPr>
          <a:xfrm>
            <a:off x="3861314" y="1502083"/>
            <a:ext cx="1438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Eth3 : </a:t>
            </a:r>
          </a:p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172.16.30.1/30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9D91D34-189F-8111-CC78-D63B07A17080}"/>
              </a:ext>
            </a:extLst>
          </p:cNvPr>
          <p:cNvSpPr/>
          <p:nvPr/>
        </p:nvSpPr>
        <p:spPr>
          <a:xfrm>
            <a:off x="8089659" y="2642316"/>
            <a:ext cx="245662" cy="24566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D60E679-5C7B-8E59-FF3E-C6AAC83083D1}"/>
              </a:ext>
            </a:extLst>
          </p:cNvPr>
          <p:cNvSpPr txBox="1"/>
          <p:nvPr/>
        </p:nvSpPr>
        <p:spPr>
          <a:xfrm>
            <a:off x="6839098" y="5045119"/>
            <a:ext cx="1438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Eth2 : </a:t>
            </a:r>
          </a:p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172.16.40.1/24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8872DC-7180-783B-3041-A15FCB6C967F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7193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F57D8-E12A-B140-D203-C8DA2E2CA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76A351-72EA-EE6F-0E52-8154EE16F511}"/>
              </a:ext>
            </a:extLst>
          </p:cNvPr>
          <p:cNvSpPr txBox="1"/>
          <p:nvPr/>
        </p:nvSpPr>
        <p:spPr>
          <a:xfrm>
            <a:off x="1475656" y="323945"/>
            <a:ext cx="22156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FTP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688DA6-0D95-9E5C-36DB-102EC20E4A4E}"/>
              </a:ext>
            </a:extLst>
          </p:cNvPr>
          <p:cNvSpPr txBox="1"/>
          <p:nvPr/>
        </p:nvSpPr>
        <p:spPr>
          <a:xfrm>
            <a:off x="251520" y="980728"/>
            <a:ext cx="8353678" cy="129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FTP Server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adalah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layanan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jaringan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memungkinkan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transfer file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antara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klien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server.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Biasanya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digunakan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mengunggah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mengunduh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dan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mengelola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 di server.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0060E0-5FC4-5597-F6EE-393400F6B2C2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D8352CAF-E769-05F5-0E8F-A39E02951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3520597"/>
            <a:ext cx="854452" cy="73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BE6263E-E901-10CB-FD51-60849E17E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49" y="3510004"/>
            <a:ext cx="1047801" cy="1064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018F6FE-778B-8A27-EC29-865D762F1619}"/>
              </a:ext>
            </a:extLst>
          </p:cNvPr>
          <p:cNvCxnSpPr>
            <a:cxnSpLocks/>
            <a:stCxn id="5" idx="0"/>
            <a:endCxn id="6" idx="0"/>
          </p:cNvCxnSpPr>
          <p:nvPr/>
        </p:nvCxnSpPr>
        <p:spPr>
          <a:xfrm rot="16200000" flipV="1">
            <a:off x="4708310" y="205345"/>
            <a:ext cx="10593" cy="6619912"/>
          </a:xfrm>
          <a:prstGeom prst="bentConnector3">
            <a:avLst>
              <a:gd name="adj1" fmla="val 225802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A7E034-7C42-07E2-9183-EFEFB52A9E70}"/>
              </a:ext>
            </a:extLst>
          </p:cNvPr>
          <p:cNvSpPr txBox="1"/>
          <p:nvPr/>
        </p:nvSpPr>
        <p:spPr>
          <a:xfrm>
            <a:off x="7020272" y="2875809"/>
            <a:ext cx="18330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ftp://ipaddress:port</a:t>
            </a:r>
            <a:endParaRPr lang="en-ID" sz="1200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C01B882-D2E9-5174-A1FE-074D51D8E34B}"/>
              </a:ext>
            </a:extLst>
          </p:cNvPr>
          <p:cNvCxnSpPr>
            <a:cxnSpLocks/>
            <a:stCxn id="6" idx="2"/>
            <a:endCxn id="5" idx="2"/>
          </p:cNvCxnSpPr>
          <p:nvPr/>
        </p:nvCxnSpPr>
        <p:spPr>
          <a:xfrm rot="5400000" flipH="1" flipV="1">
            <a:off x="4552885" y="1103749"/>
            <a:ext cx="321442" cy="6619912"/>
          </a:xfrm>
          <a:prstGeom prst="bentConnector3">
            <a:avLst>
              <a:gd name="adj1" fmla="val -7111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ABA7394B-C881-FFAB-76F9-EA6812E02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6876" y="2421250"/>
            <a:ext cx="4090246" cy="305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287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3E33A-C69A-8A06-2D35-28BFE3AC3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883E67-990E-1364-D065-FABD976ADB84}"/>
              </a:ext>
            </a:extLst>
          </p:cNvPr>
          <p:cNvSpPr txBox="1"/>
          <p:nvPr/>
        </p:nvSpPr>
        <p:spPr>
          <a:xfrm>
            <a:off x="1475656" y="323945"/>
            <a:ext cx="4077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CREATING FTP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C20AB8-00F0-6692-9A64-7DC91BBEF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93" y="1771686"/>
            <a:ext cx="5027721" cy="36735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B1DF26-A04E-883C-63DE-275B1887A36F}"/>
              </a:ext>
            </a:extLst>
          </p:cNvPr>
          <p:cNvSpPr txBox="1"/>
          <p:nvPr/>
        </p:nvSpPr>
        <p:spPr>
          <a:xfrm>
            <a:off x="362264" y="1013140"/>
            <a:ext cx="3345640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Bukalah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Server Manager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5EC6B0-B872-882C-8708-2388F32AA4A9}"/>
              </a:ext>
            </a:extLst>
          </p:cNvPr>
          <p:cNvSpPr txBox="1"/>
          <p:nvPr/>
        </p:nvSpPr>
        <p:spPr>
          <a:xfrm>
            <a:off x="6104648" y="1771686"/>
            <a:ext cx="2931848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Add roles and features.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6FCA320-9BC3-D177-4E04-99A8DB8285B9}"/>
              </a:ext>
            </a:extLst>
          </p:cNvPr>
          <p:cNvCxnSpPr>
            <a:cxnSpLocks/>
          </p:cNvCxnSpPr>
          <p:nvPr/>
        </p:nvCxnSpPr>
        <p:spPr>
          <a:xfrm flipV="1">
            <a:off x="3707904" y="2060848"/>
            <a:ext cx="2396744" cy="833490"/>
          </a:xfrm>
          <a:prstGeom prst="bentConnector3">
            <a:avLst>
              <a:gd name="adj1" fmla="val 5159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040D9CA-34E8-A5C6-65A5-77D0722C6B8E}"/>
              </a:ext>
            </a:extLst>
          </p:cNvPr>
          <p:cNvCxnSpPr/>
          <p:nvPr/>
        </p:nvCxnSpPr>
        <p:spPr>
          <a:xfrm>
            <a:off x="1547664" y="1412776"/>
            <a:ext cx="0" cy="4401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7A5E8F09-BAF3-38AA-B5C1-98E38FBB2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335" y="3283948"/>
            <a:ext cx="4361550" cy="3085796"/>
          </a:xfrm>
          <a:prstGeom prst="rect">
            <a:avLst/>
          </a:prstGeom>
        </p:spPr>
      </p:pic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5A71390-FE7B-9BE6-B974-4B5161557A11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1871700" y="3197206"/>
            <a:ext cx="4232948" cy="726029"/>
          </a:xfrm>
          <a:prstGeom prst="bentConnector3">
            <a:avLst>
              <a:gd name="adj1" fmla="val 84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FE9603B-FD17-74D0-F98A-D7A9E01088E4}"/>
              </a:ext>
            </a:extLst>
          </p:cNvPr>
          <p:cNvSpPr txBox="1"/>
          <p:nvPr/>
        </p:nvSpPr>
        <p:spPr>
          <a:xfrm>
            <a:off x="6104648" y="2965412"/>
            <a:ext cx="1707712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“Next”.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1D74B2E0-DFB3-9631-F907-4E171C3F9435}"/>
              </a:ext>
            </a:extLst>
          </p:cNvPr>
          <p:cNvCxnSpPr>
            <a:cxnSpLocks/>
          </p:cNvCxnSpPr>
          <p:nvPr/>
        </p:nvCxnSpPr>
        <p:spPr>
          <a:xfrm>
            <a:off x="2118386" y="4106796"/>
            <a:ext cx="3954728" cy="1225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9EB5BC7-2450-4797-8C61-32D266F3D476}"/>
              </a:ext>
            </a:extLst>
          </p:cNvPr>
          <p:cNvSpPr txBox="1"/>
          <p:nvPr/>
        </p:nvSpPr>
        <p:spPr>
          <a:xfrm>
            <a:off x="6073114" y="3636079"/>
            <a:ext cx="2931848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Role-Based or Feature-Base installation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EEE34DAD-DF02-9401-B06D-D03ADB0A81A3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1906016" y="4423412"/>
            <a:ext cx="4106144" cy="717036"/>
          </a:xfrm>
          <a:prstGeom prst="bentConnector3">
            <a:avLst>
              <a:gd name="adj1" fmla="val 182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D62D4EE-19AF-EAE3-B43D-F5597345DD37}"/>
              </a:ext>
            </a:extLst>
          </p:cNvPr>
          <p:cNvSpPr txBox="1"/>
          <p:nvPr/>
        </p:nvSpPr>
        <p:spPr>
          <a:xfrm>
            <a:off x="6012160" y="4908654"/>
            <a:ext cx="2931848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name server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1D6F4C-3B03-AD88-54E6-9FDE9BF15AF7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59905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DAF61-DC60-E984-AFDB-C609A2AF9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9C4AB1-BC81-D4F1-4665-E8B85DFBE5C0}"/>
              </a:ext>
            </a:extLst>
          </p:cNvPr>
          <p:cNvSpPr txBox="1"/>
          <p:nvPr/>
        </p:nvSpPr>
        <p:spPr>
          <a:xfrm>
            <a:off x="1475656" y="323945"/>
            <a:ext cx="4077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CREATING FTP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50786C-46A4-3330-9AEA-223840825C35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C2656E-66A4-903A-00B9-2287846E0EAB}"/>
              </a:ext>
            </a:extLst>
          </p:cNvPr>
          <p:cNvSpPr txBox="1"/>
          <p:nvPr/>
        </p:nvSpPr>
        <p:spPr>
          <a:xfrm>
            <a:off x="362264" y="1013140"/>
            <a:ext cx="9034272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Server (IIS),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Kemudian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centang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FTP Server,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Next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kemudian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install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372BE2-A948-ABC6-1FD4-B367ABF83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29" y="1670768"/>
            <a:ext cx="5994588" cy="423716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E5EF5F-EF1A-9BF4-3EBF-81E51B1F9DC6}"/>
              </a:ext>
            </a:extLst>
          </p:cNvPr>
          <p:cNvSpPr/>
          <p:nvPr/>
        </p:nvSpPr>
        <p:spPr>
          <a:xfrm>
            <a:off x="2267744" y="4509120"/>
            <a:ext cx="86409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30A27C4-CD1B-6D81-3BBE-2670C3719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141" y="2458300"/>
            <a:ext cx="5633489" cy="399503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6CD54F6-2ADA-F610-06CA-C7009F1A1F7B}"/>
              </a:ext>
            </a:extLst>
          </p:cNvPr>
          <p:cNvSpPr/>
          <p:nvPr/>
        </p:nvSpPr>
        <p:spPr>
          <a:xfrm>
            <a:off x="7596336" y="6072624"/>
            <a:ext cx="648072" cy="308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3166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2EB64-5155-EB9A-2375-DC890FF6C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1E0E34-18A4-EF7E-5061-9D0B257F286B}"/>
              </a:ext>
            </a:extLst>
          </p:cNvPr>
          <p:cNvSpPr txBox="1"/>
          <p:nvPr/>
        </p:nvSpPr>
        <p:spPr>
          <a:xfrm>
            <a:off x="1475656" y="323945"/>
            <a:ext cx="3089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FTP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1BF27B-658C-C413-4E6A-08EBC9560EAE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70B1F-521E-F4D6-6F61-98B7D6BD4DE5}"/>
              </a:ext>
            </a:extLst>
          </p:cNvPr>
          <p:cNvSpPr txBox="1"/>
          <p:nvPr/>
        </p:nvSpPr>
        <p:spPr>
          <a:xfrm>
            <a:off x="362264" y="1013140"/>
            <a:ext cx="7738128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Buatlah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folder untuk FTP Server pada disk C,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kemudian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tambahkan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beberapa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notepad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ataupun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apapun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dari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laptop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FD912F-4EFD-B730-2DE5-6823E50B4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892227"/>
            <a:ext cx="7738128" cy="293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74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9462A-E2C1-30ED-3F0F-3259E6C1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C930D3-8CFD-E857-FC19-6F53237753EF}"/>
              </a:ext>
            </a:extLst>
          </p:cNvPr>
          <p:cNvSpPr txBox="1"/>
          <p:nvPr/>
        </p:nvSpPr>
        <p:spPr>
          <a:xfrm>
            <a:off x="1475656" y="323945"/>
            <a:ext cx="3089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FTP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AA6B44-7089-8995-DECC-9CDF85FB1475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1487BA-CC34-FDCA-E7CD-6DDBEDF77EDB}"/>
              </a:ext>
            </a:extLst>
          </p:cNvPr>
          <p:cNvSpPr txBox="1"/>
          <p:nvPr/>
        </p:nvSpPr>
        <p:spPr>
          <a:xfrm>
            <a:off x="362264" y="1013140"/>
            <a:ext cx="7738128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Buka IIS Manager,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kemudian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klik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kanan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sites,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Add FTP Server!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0D2110-8678-4B49-D2F7-ADA67EEAF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0" y="1642703"/>
            <a:ext cx="2440083" cy="28664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4EF84A-611E-3F2C-AFE5-730E534FC3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882"/>
          <a:stretch/>
        </p:blipFill>
        <p:spPr>
          <a:xfrm>
            <a:off x="2123727" y="2371506"/>
            <a:ext cx="3384378" cy="3707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158658-8319-F971-F18D-173EB096B99E}"/>
              </a:ext>
            </a:extLst>
          </p:cNvPr>
          <p:cNvSpPr txBox="1"/>
          <p:nvPr/>
        </p:nvSpPr>
        <p:spPr>
          <a:xfrm>
            <a:off x="6104053" y="2371506"/>
            <a:ext cx="2618684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Beri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FTP Site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3D2C28A-E544-DB49-B0E7-C50D9D0E412C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491880" y="2603300"/>
            <a:ext cx="2612173" cy="848601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AA74FEB-D062-CD6E-8184-AB56B405C10E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4355976" y="3825826"/>
            <a:ext cx="1928686" cy="17901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D9CA7C3-0EF5-A088-5342-DB8CAA8D500A}"/>
              </a:ext>
            </a:extLst>
          </p:cNvPr>
          <p:cNvSpPr txBox="1"/>
          <p:nvPr/>
        </p:nvSpPr>
        <p:spPr>
          <a:xfrm>
            <a:off x="6284662" y="3594032"/>
            <a:ext cx="2618684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folder FTP</a:t>
            </a:r>
          </a:p>
        </p:txBody>
      </p:sp>
    </p:spTree>
    <p:extLst>
      <p:ext uri="{BB962C8B-B14F-4D97-AF65-F5344CB8AC3E}">
        <p14:creationId xmlns:p14="http://schemas.microsoft.com/office/powerpoint/2010/main" val="1133857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2323-6007-B555-253A-4166010C9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A05A99-9738-3553-AA7B-05B063865BE6}"/>
              </a:ext>
            </a:extLst>
          </p:cNvPr>
          <p:cNvSpPr txBox="1"/>
          <p:nvPr/>
        </p:nvSpPr>
        <p:spPr>
          <a:xfrm>
            <a:off x="1475656" y="323945"/>
            <a:ext cx="3089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FTP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6598ED-8F84-C089-6812-1217467F22E3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19751B-7C54-CEE7-9767-4AC09CB9E1A8}"/>
              </a:ext>
            </a:extLst>
          </p:cNvPr>
          <p:cNvSpPr txBox="1"/>
          <p:nvPr/>
        </p:nvSpPr>
        <p:spPr>
          <a:xfrm>
            <a:off x="362264" y="1013140"/>
            <a:ext cx="7738128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Tambahkan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IP address dan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sertifikat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ssl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41AABF-42B0-2CA2-F509-AB079EF03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612067"/>
            <a:ext cx="4297121" cy="32570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E8CF91-E012-FC71-E577-DA7FFAD41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2564904"/>
            <a:ext cx="4551344" cy="345638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7553301-73C4-78B4-4353-F30ACC371AAE}"/>
              </a:ext>
            </a:extLst>
          </p:cNvPr>
          <p:cNvSpPr/>
          <p:nvPr/>
        </p:nvSpPr>
        <p:spPr>
          <a:xfrm>
            <a:off x="611560" y="3645024"/>
            <a:ext cx="504056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F32C36-B0CE-E158-A3B3-0C6C08F11275}"/>
              </a:ext>
            </a:extLst>
          </p:cNvPr>
          <p:cNvSpPr/>
          <p:nvPr/>
        </p:nvSpPr>
        <p:spPr>
          <a:xfrm>
            <a:off x="628626" y="2484530"/>
            <a:ext cx="2143174" cy="2963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73A3EE-58FD-DD66-D6B4-DE94EC654F0B}"/>
              </a:ext>
            </a:extLst>
          </p:cNvPr>
          <p:cNvSpPr/>
          <p:nvPr/>
        </p:nvSpPr>
        <p:spPr>
          <a:xfrm>
            <a:off x="2904298" y="3341904"/>
            <a:ext cx="803606" cy="519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746C18-7E39-5FD8-36E6-128BB294DE89}"/>
              </a:ext>
            </a:extLst>
          </p:cNvPr>
          <p:cNvSpPr/>
          <p:nvPr/>
        </p:nvSpPr>
        <p:spPr>
          <a:xfrm>
            <a:off x="2904298" y="3996386"/>
            <a:ext cx="1955734" cy="13048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1E8098-0E8C-8F4F-6D56-5275F32CC73F}"/>
              </a:ext>
            </a:extLst>
          </p:cNvPr>
          <p:cNvSpPr/>
          <p:nvPr/>
        </p:nvSpPr>
        <p:spPr>
          <a:xfrm>
            <a:off x="5940152" y="5661248"/>
            <a:ext cx="576064" cy="2595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A5158658-8319-F971-F18D-173EB096B99E}"/>
              </a:ext>
            </a:extLst>
          </p:cNvPr>
          <p:cNvSpPr txBox="1"/>
          <p:nvPr/>
        </p:nvSpPr>
        <p:spPr>
          <a:xfrm>
            <a:off x="6228184" y="1333273"/>
            <a:ext cx="2618684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Atur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authentikasi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authorisasi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FTP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3D2C28A-E544-DB49-B0E7-C50D9D0E412C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 flipV="1">
            <a:off x="3707904" y="1772817"/>
            <a:ext cx="2520280" cy="1828659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40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D3E22-6F11-7E7E-51CA-24473F018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7552C3-3A82-DB30-E9FA-5A3276E3F6E1}"/>
              </a:ext>
            </a:extLst>
          </p:cNvPr>
          <p:cNvSpPr txBox="1"/>
          <p:nvPr/>
        </p:nvSpPr>
        <p:spPr>
          <a:xfrm>
            <a:off x="1475656" y="323945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DNS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AA64A5-DD67-7C4F-2D74-1260342B060D}"/>
              </a:ext>
            </a:extLst>
          </p:cNvPr>
          <p:cNvSpPr txBox="1"/>
          <p:nvPr/>
        </p:nvSpPr>
        <p:spPr>
          <a:xfrm>
            <a:off x="251520" y="980728"/>
            <a:ext cx="8353678" cy="129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DNS Server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adalah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menerjemahkan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domain 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misalnya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www.google.com)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menjadi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alamat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IP 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misalnya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192.168.10.1) yang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dimengerti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oleh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komputer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</p:txBody>
      </p:sp>
      <p:pic>
        <p:nvPicPr>
          <p:cNvPr id="25" name="Picture 6">
            <a:extLst>
              <a:ext uri="{FF2B5EF4-FFF2-40B4-BE49-F238E27FC236}">
                <a16:creationId xmlns:a16="http://schemas.microsoft.com/office/drawing/2014/main" id="{765BB0C8-F6FE-5D8A-2355-73E7C65ED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852" y="4763165"/>
            <a:ext cx="1047801" cy="152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8">
            <a:extLst>
              <a:ext uri="{FF2B5EF4-FFF2-40B4-BE49-F238E27FC236}">
                <a16:creationId xmlns:a16="http://schemas.microsoft.com/office/drawing/2014/main" id="{2EB5239A-DF04-0C43-FDCD-157C2126F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156" y="3062805"/>
            <a:ext cx="854452" cy="73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BB711E3B-6A58-4F72-F5F3-EF1518267478}"/>
              </a:ext>
            </a:extLst>
          </p:cNvPr>
          <p:cNvGrpSpPr/>
          <p:nvPr/>
        </p:nvGrpSpPr>
        <p:grpSpPr>
          <a:xfrm>
            <a:off x="709692" y="2553222"/>
            <a:ext cx="2632057" cy="1392483"/>
            <a:chOff x="557418" y="2541892"/>
            <a:chExt cx="2632057" cy="1392483"/>
          </a:xfrm>
        </p:grpSpPr>
        <p:pic>
          <p:nvPicPr>
            <p:cNvPr id="18" name="Picture 8">
              <a:extLst>
                <a:ext uri="{FF2B5EF4-FFF2-40B4-BE49-F238E27FC236}">
                  <a16:creationId xmlns:a16="http://schemas.microsoft.com/office/drawing/2014/main" id="{751B92BA-E58D-F9EB-0788-710BA65481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5114" y="2847964"/>
              <a:ext cx="854452" cy="7323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>
              <a:extLst>
                <a:ext uri="{FF2B5EF4-FFF2-40B4-BE49-F238E27FC236}">
                  <a16:creationId xmlns:a16="http://schemas.microsoft.com/office/drawing/2014/main" id="{45646C77-8B3E-6FA8-1089-90D4AECA1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872" y="2847964"/>
              <a:ext cx="854452" cy="7323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EC71071-63E8-05F7-F001-AC5F970CE8D3}"/>
                </a:ext>
              </a:extLst>
            </p:cNvPr>
            <p:cNvSpPr txBox="1"/>
            <p:nvPr/>
          </p:nvSpPr>
          <p:spPr>
            <a:xfrm>
              <a:off x="557418" y="3654208"/>
              <a:ext cx="128361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</a:t>
              </a:r>
              <a:r>
                <a:rPr lang="en-ID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stratech.com</a:t>
              </a:r>
              <a:endParaRPr lang="en-ID" sz="12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A542198-BA46-9882-5284-3641233607DD}"/>
                </a:ext>
              </a:extLst>
            </p:cNvPr>
            <p:cNvSpPr txBox="1"/>
            <p:nvPr/>
          </p:nvSpPr>
          <p:spPr>
            <a:xfrm>
              <a:off x="1806106" y="3657376"/>
              <a:ext cx="1348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informatics</a:t>
              </a:r>
              <a:r>
                <a:rPr lang="en-ID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  <a:endParaRPr lang="en-ID" sz="12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C70ECF6-EE66-6338-9FAE-A2DC8C4AFC51}"/>
                </a:ext>
              </a:extLst>
            </p:cNvPr>
            <p:cNvSpPr txBox="1"/>
            <p:nvPr/>
          </p:nvSpPr>
          <p:spPr>
            <a:xfrm>
              <a:off x="557418" y="2543247"/>
              <a:ext cx="130121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D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192.168.10.1</a:t>
              </a:r>
              <a:endParaRPr lang="en-ID" sz="1200" dirty="0"/>
            </a:p>
            <a:p>
              <a:pPr algn="ctr"/>
              <a:endParaRPr lang="en-ID" sz="1200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FEC95AE-9132-EBBA-CBBB-7B51D1FB6BAE}"/>
                </a:ext>
              </a:extLst>
            </p:cNvPr>
            <p:cNvSpPr txBox="1"/>
            <p:nvPr/>
          </p:nvSpPr>
          <p:spPr>
            <a:xfrm>
              <a:off x="1841034" y="2541892"/>
              <a:ext cx="1348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D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192.168.10.2</a:t>
              </a:r>
              <a:endParaRPr lang="en-ID" sz="120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C1F8C20-8E9B-6EE7-4C9A-BB066F75FEA1}"/>
              </a:ext>
            </a:extLst>
          </p:cNvPr>
          <p:cNvSpPr txBox="1"/>
          <p:nvPr/>
        </p:nvSpPr>
        <p:spPr>
          <a:xfrm>
            <a:off x="7178446" y="3843554"/>
            <a:ext cx="11338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192.168.10.3</a:t>
            </a:r>
            <a:endParaRPr lang="en-ID" sz="1200" dirty="0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C5B4E771-970E-4518-F5FE-68A87B5DA4E5}"/>
              </a:ext>
            </a:extLst>
          </p:cNvPr>
          <p:cNvCxnSpPr>
            <a:cxnSpLocks/>
            <a:stCxn id="26" idx="1"/>
            <a:endCxn id="18" idx="3"/>
          </p:cNvCxnSpPr>
          <p:nvPr/>
        </p:nvCxnSpPr>
        <p:spPr>
          <a:xfrm rot="10800000">
            <a:off x="3131840" y="3225489"/>
            <a:ext cx="4186316" cy="203511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5F52FA59-FC6B-D3AD-DFC8-4BD907CEB3AC}"/>
              </a:ext>
            </a:extLst>
          </p:cNvPr>
          <p:cNvCxnSpPr>
            <a:cxnSpLocks/>
            <a:stCxn id="36" idx="2"/>
            <a:endCxn id="25" idx="3"/>
          </p:cNvCxnSpPr>
          <p:nvPr/>
        </p:nvCxnSpPr>
        <p:spPr>
          <a:xfrm rot="5400000">
            <a:off x="5985557" y="3764650"/>
            <a:ext cx="1403923" cy="211572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BED0E696-6729-A61D-FADF-D6C5788438E5}"/>
              </a:ext>
            </a:extLst>
          </p:cNvPr>
          <p:cNvCxnSpPr>
            <a:cxnSpLocks/>
            <a:stCxn id="25" idx="1"/>
            <a:endCxn id="28" idx="2"/>
          </p:cNvCxnSpPr>
          <p:nvPr/>
        </p:nvCxnSpPr>
        <p:spPr>
          <a:xfrm rot="10800000">
            <a:off x="1351500" y="3942538"/>
            <a:ext cx="3230352" cy="158193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2EB0174-D450-0921-73C4-FDE2EF813C97}"/>
              </a:ext>
            </a:extLst>
          </p:cNvPr>
          <p:cNvSpPr txBox="1"/>
          <p:nvPr/>
        </p:nvSpPr>
        <p:spPr>
          <a:xfrm>
            <a:off x="5969715" y="3094843"/>
            <a:ext cx="1348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IP Address</a:t>
            </a:r>
            <a:endParaRPr lang="en-ID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D5FC4B-ACFD-7BF8-8A5D-EBC369F341EF}"/>
              </a:ext>
            </a:extLst>
          </p:cNvPr>
          <p:cNvSpPr txBox="1"/>
          <p:nvPr/>
        </p:nvSpPr>
        <p:spPr>
          <a:xfrm>
            <a:off x="6504225" y="5200052"/>
            <a:ext cx="1348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Domain</a:t>
            </a:r>
            <a:endParaRPr lang="en-ID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724EF3A-0CD2-A256-6327-84EC6753DE8A}"/>
              </a:ext>
            </a:extLst>
          </p:cNvPr>
          <p:cNvSpPr txBox="1"/>
          <p:nvPr/>
        </p:nvSpPr>
        <p:spPr>
          <a:xfrm>
            <a:off x="4388498" y="4545515"/>
            <a:ext cx="1348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Resolving</a:t>
            </a:r>
            <a:endParaRPr lang="en-ID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70C7962-A05A-9D73-7F45-0156E211396D}"/>
              </a:ext>
            </a:extLst>
          </p:cNvPr>
          <p:cNvSpPr txBox="1"/>
          <p:nvPr/>
        </p:nvSpPr>
        <p:spPr>
          <a:xfrm>
            <a:off x="1426372" y="5176897"/>
            <a:ext cx="1348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Routing to Host</a:t>
            </a:r>
            <a:endParaRPr lang="en-ID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9C7EB-EC38-F083-9E9C-AC78672F4728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1671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BDF0D-F89A-F428-48F5-AEDD1A5E9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5D64C5-C4FE-A7A1-508E-10F2DA50D863}"/>
              </a:ext>
            </a:extLst>
          </p:cNvPr>
          <p:cNvSpPr txBox="1"/>
          <p:nvPr/>
        </p:nvSpPr>
        <p:spPr>
          <a:xfrm>
            <a:off x="1475656" y="323945"/>
            <a:ext cx="31582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KLASIFIKASI DNS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C88D31-A92E-9EBD-897B-B0CC9B1DCAB1}"/>
              </a:ext>
            </a:extLst>
          </p:cNvPr>
          <p:cNvSpPr/>
          <p:nvPr/>
        </p:nvSpPr>
        <p:spPr>
          <a:xfrm>
            <a:off x="251520" y="980728"/>
            <a:ext cx="8640960" cy="5307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FORWARD LOOKUP ZONE</a:t>
            </a:r>
          </a:p>
          <a:p>
            <a:pPr algn="just">
              <a:lnSpc>
                <a:spcPct val="200000"/>
              </a:lnSpc>
            </a:pP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Digunakan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untuk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mengonversi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domain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menjadi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alamat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IP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sesuai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Contohnya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saat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mengetik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www.contohdomain.com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 browser, DNS server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mencari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alamat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IP terkait,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seperti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192.168.1.254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yang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digunakan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untuk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menghubungkan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situs web atau server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tersebut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REVERSE LOOKUP ZONE</a:t>
            </a: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200000"/>
              </a:lnSpc>
            </a:pP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sisi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lain,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digunakan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mengonversi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alamat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IP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menjadi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domain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atau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hostname.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jika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IP 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192.168.1.254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diminta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server DNS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akan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mengembalikan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domain yang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terhubung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ID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misalnya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www.contohdomain.com</a:t>
            </a:r>
            <a:r>
              <a:rPr lang="en-ID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639E07-CB23-FBDF-C1AB-7161ABCCAB64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46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4CA4D-DC10-288F-DF10-3073B0369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EB403B-8E77-2FD9-083F-4ACFC7E7CA8F}"/>
              </a:ext>
            </a:extLst>
          </p:cNvPr>
          <p:cNvSpPr txBox="1"/>
          <p:nvPr/>
        </p:nvSpPr>
        <p:spPr>
          <a:xfrm>
            <a:off x="1475656" y="323945"/>
            <a:ext cx="4290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TOPOLOGI DNS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9A0C77EB-BEB2-2FC7-207C-5DF0B9FB2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12" y="5124794"/>
            <a:ext cx="767365" cy="111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BC440F1-A1A6-6E88-9493-2BEC445023F0}"/>
              </a:ext>
            </a:extLst>
          </p:cNvPr>
          <p:cNvGrpSpPr/>
          <p:nvPr/>
        </p:nvGrpSpPr>
        <p:grpSpPr>
          <a:xfrm>
            <a:off x="357693" y="1559724"/>
            <a:ext cx="879964" cy="1006311"/>
            <a:chOff x="536058" y="1206562"/>
            <a:chExt cx="1066800" cy="121997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00E65B1-2498-1F89-53AD-28B30F5A45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42" t="12414" r="21739" b="15322"/>
            <a:stretch/>
          </p:blipFill>
          <p:spPr>
            <a:xfrm>
              <a:off x="605066" y="1752600"/>
              <a:ext cx="928785" cy="673936"/>
            </a:xfrm>
            <a:prstGeom prst="rect">
              <a:avLst/>
            </a:prstGeom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83EBEDE6-9220-CF1F-4520-036167859A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058" y="1206562"/>
              <a:ext cx="1066800" cy="950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2" name="Elbow Connector 73">
            <a:extLst>
              <a:ext uri="{FF2B5EF4-FFF2-40B4-BE49-F238E27FC236}">
                <a16:creationId xmlns:a16="http://schemas.microsoft.com/office/drawing/2014/main" id="{5441BEC0-E882-BD39-B963-3C5750D6E276}"/>
              </a:ext>
            </a:extLst>
          </p:cNvPr>
          <p:cNvCxnSpPr>
            <a:cxnSpLocks/>
            <a:stCxn id="17" idx="2"/>
            <a:endCxn id="10" idx="2"/>
          </p:cNvCxnSpPr>
          <p:nvPr/>
        </p:nvCxnSpPr>
        <p:spPr>
          <a:xfrm rot="10800000">
            <a:off x="797676" y="2566035"/>
            <a:ext cx="2613744" cy="1082274"/>
          </a:xfrm>
          <a:prstGeom prst="bentConnector2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ED67683-5709-3C22-E7A4-BF7759E5E97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22192" r="20833" b="20557"/>
          <a:stretch/>
        </p:blipFill>
        <p:spPr>
          <a:xfrm>
            <a:off x="2945421" y="3058241"/>
            <a:ext cx="1524000" cy="75126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4ED9291-A000-32DC-BD1B-F20901395A0E}"/>
              </a:ext>
            </a:extLst>
          </p:cNvPr>
          <p:cNvSpPr/>
          <p:nvPr/>
        </p:nvSpPr>
        <p:spPr>
          <a:xfrm>
            <a:off x="3411420" y="2753387"/>
            <a:ext cx="592001" cy="4464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R1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0E5B34-54D3-5A79-8FB7-39757A009361}"/>
              </a:ext>
            </a:extLst>
          </p:cNvPr>
          <p:cNvSpPr/>
          <p:nvPr/>
        </p:nvSpPr>
        <p:spPr>
          <a:xfrm>
            <a:off x="1412980" y="1679697"/>
            <a:ext cx="2169857" cy="341313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796925" algn="l"/>
              </a:tabLst>
            </a:pPr>
            <a:r>
              <a:rPr lang="en-US" sz="1600" b="1" dirty="0">
                <a:solidFill>
                  <a:schemeClr val="tx1"/>
                </a:solidFill>
              </a:rPr>
              <a:t>Modem</a:t>
            </a:r>
            <a:r>
              <a:rPr lang="en-US" sz="1600" dirty="0">
                <a:solidFill>
                  <a:schemeClr val="tx1"/>
                </a:solidFill>
              </a:rPr>
              <a:t> 	: 10.12.0.1/16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A11E05-ACE4-23CC-A24C-A52DE5DEFA0A}"/>
              </a:ext>
            </a:extLst>
          </p:cNvPr>
          <p:cNvSpPr/>
          <p:nvPr/>
        </p:nvSpPr>
        <p:spPr>
          <a:xfrm>
            <a:off x="1412979" y="2093345"/>
            <a:ext cx="2169857" cy="341313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</a:rPr>
              <a:t>MikroTik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: DHCP Client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A4A925C-5D7A-9997-AC93-A14111702046}"/>
              </a:ext>
            </a:extLst>
          </p:cNvPr>
          <p:cNvSpPr/>
          <p:nvPr/>
        </p:nvSpPr>
        <p:spPr>
          <a:xfrm>
            <a:off x="3411420" y="3525478"/>
            <a:ext cx="245662" cy="24566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4C688E-4E6C-27C3-B071-A19FFDCDEAA7}"/>
              </a:ext>
            </a:extLst>
          </p:cNvPr>
          <p:cNvSpPr txBox="1"/>
          <p:nvPr/>
        </p:nvSpPr>
        <p:spPr>
          <a:xfrm>
            <a:off x="2302183" y="3250330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9C3EA73-259A-2AE4-FD3B-A0F60931D69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001" t="21111" r="9999" b="21111"/>
          <a:stretch/>
        </p:blipFill>
        <p:spPr>
          <a:xfrm>
            <a:off x="5795932" y="1526333"/>
            <a:ext cx="1037833" cy="749546"/>
          </a:xfrm>
          <a:prstGeom prst="rect">
            <a:avLst/>
          </a:prstGeom>
        </p:spPr>
      </p:pic>
      <p:cxnSp>
        <p:nvCxnSpPr>
          <p:cNvPr id="24" name="Elbow Connector 63">
            <a:extLst>
              <a:ext uri="{FF2B5EF4-FFF2-40B4-BE49-F238E27FC236}">
                <a16:creationId xmlns:a16="http://schemas.microsoft.com/office/drawing/2014/main" id="{5494777F-8291-C6EB-5C8F-B4123D99E250}"/>
              </a:ext>
            </a:extLst>
          </p:cNvPr>
          <p:cNvCxnSpPr>
            <a:cxnSpLocks/>
            <a:stCxn id="27" idx="6"/>
            <a:endCxn id="21" idx="2"/>
          </p:cNvCxnSpPr>
          <p:nvPr/>
        </p:nvCxnSpPr>
        <p:spPr>
          <a:xfrm flipV="1">
            <a:off x="3902744" y="2275879"/>
            <a:ext cx="2412105" cy="1381344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A9D51685-AEE9-0180-9859-5C81EF5ACBE0}"/>
              </a:ext>
            </a:extLst>
          </p:cNvPr>
          <p:cNvSpPr/>
          <p:nvPr/>
        </p:nvSpPr>
        <p:spPr>
          <a:xfrm>
            <a:off x="3657082" y="3534392"/>
            <a:ext cx="245662" cy="24566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01F9E4-F869-813A-2CB7-6DB77D329F67}"/>
              </a:ext>
            </a:extLst>
          </p:cNvPr>
          <p:cNvSpPr txBox="1"/>
          <p:nvPr/>
        </p:nvSpPr>
        <p:spPr>
          <a:xfrm>
            <a:off x="5508104" y="1137522"/>
            <a:ext cx="17451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192.168.10.1/24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57CDAA-7E63-EE7C-A9A5-37B70EDA29C2}"/>
              </a:ext>
            </a:extLst>
          </p:cNvPr>
          <p:cNvSpPr txBox="1"/>
          <p:nvPr/>
        </p:nvSpPr>
        <p:spPr>
          <a:xfrm>
            <a:off x="4469421" y="3701738"/>
            <a:ext cx="585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Eth2</a:t>
            </a:r>
          </a:p>
        </p:txBody>
      </p:sp>
      <p:cxnSp>
        <p:nvCxnSpPr>
          <p:cNvPr id="39" name="Elbow Connector 51">
            <a:extLst>
              <a:ext uri="{FF2B5EF4-FFF2-40B4-BE49-F238E27FC236}">
                <a16:creationId xmlns:a16="http://schemas.microsoft.com/office/drawing/2014/main" id="{7CB9C308-76F3-8E06-E96F-C152BB1768F9}"/>
              </a:ext>
            </a:extLst>
          </p:cNvPr>
          <p:cNvCxnSpPr>
            <a:cxnSpLocks/>
            <a:stCxn id="21" idx="3"/>
            <a:endCxn id="8" idx="3"/>
          </p:cNvCxnSpPr>
          <p:nvPr/>
        </p:nvCxnSpPr>
        <p:spPr>
          <a:xfrm flipH="1">
            <a:off x="5765677" y="1901106"/>
            <a:ext cx="1068088" cy="3781240"/>
          </a:xfrm>
          <a:prstGeom prst="bentConnector3">
            <a:avLst>
              <a:gd name="adj1" fmla="val -166147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E3EA979-3B29-D523-65C0-ED69119C2A88}"/>
              </a:ext>
            </a:extLst>
          </p:cNvPr>
          <p:cNvSpPr txBox="1"/>
          <p:nvPr/>
        </p:nvSpPr>
        <p:spPr>
          <a:xfrm>
            <a:off x="5997602" y="4365104"/>
            <a:ext cx="2376263" cy="11197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DNS Server                              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           : Win Server 2012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Network : Bridge Adapter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2BFBFF7-AF82-7C4C-CD87-44595F9C51BD}"/>
              </a:ext>
            </a:extLst>
          </p:cNvPr>
          <p:cNvSpPr txBox="1"/>
          <p:nvPr/>
        </p:nvSpPr>
        <p:spPr>
          <a:xfrm>
            <a:off x="6844138" y="1526333"/>
            <a:ext cx="11236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Virtualbox</a:t>
            </a:r>
            <a:endParaRPr lang="en-US" sz="1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DF3BE5-C9C2-0362-4369-9EDC53EFD738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5402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829D8-D5B0-D495-651F-C640E79DF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D558B5-27EA-3709-AE31-6067FD789189}"/>
              </a:ext>
            </a:extLst>
          </p:cNvPr>
          <p:cNvSpPr txBox="1"/>
          <p:nvPr/>
        </p:nvSpPr>
        <p:spPr>
          <a:xfrm>
            <a:off x="1475656" y="323945"/>
            <a:ext cx="4200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CREATING DNS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7BD67-7BDF-E7A7-DC8A-7E55E63BB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93" y="1771686"/>
            <a:ext cx="5027721" cy="36735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10AF3A-A8A2-3923-FA1D-48E5EE617C8B}"/>
              </a:ext>
            </a:extLst>
          </p:cNvPr>
          <p:cNvSpPr txBox="1"/>
          <p:nvPr/>
        </p:nvSpPr>
        <p:spPr>
          <a:xfrm>
            <a:off x="362264" y="1013140"/>
            <a:ext cx="3345640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Membuka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Server Manager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FE1029-EA6B-B9FA-9989-65E64218893E}"/>
              </a:ext>
            </a:extLst>
          </p:cNvPr>
          <p:cNvSpPr txBox="1"/>
          <p:nvPr/>
        </p:nvSpPr>
        <p:spPr>
          <a:xfrm>
            <a:off x="6104648" y="1771686"/>
            <a:ext cx="2931848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Add roles and features.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60BECD92-6C92-AB9F-BEEF-FF3AF38A35E7}"/>
              </a:ext>
            </a:extLst>
          </p:cNvPr>
          <p:cNvCxnSpPr>
            <a:cxnSpLocks/>
          </p:cNvCxnSpPr>
          <p:nvPr/>
        </p:nvCxnSpPr>
        <p:spPr>
          <a:xfrm flipV="1">
            <a:off x="3707904" y="2060848"/>
            <a:ext cx="2396744" cy="833490"/>
          </a:xfrm>
          <a:prstGeom prst="bentConnector3">
            <a:avLst>
              <a:gd name="adj1" fmla="val 5159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FE21C02-FC91-6E59-AC45-7067BAB5C4EE}"/>
              </a:ext>
            </a:extLst>
          </p:cNvPr>
          <p:cNvCxnSpPr/>
          <p:nvPr/>
        </p:nvCxnSpPr>
        <p:spPr>
          <a:xfrm>
            <a:off x="1547664" y="1412776"/>
            <a:ext cx="0" cy="4401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ABA04F84-E02A-2C43-D470-2857C8D2C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335" y="3283948"/>
            <a:ext cx="4361550" cy="3085796"/>
          </a:xfrm>
          <a:prstGeom prst="rect">
            <a:avLst/>
          </a:prstGeom>
        </p:spPr>
      </p:pic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59F9238-EED4-4754-2BE4-675B4748D450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1871700" y="3197206"/>
            <a:ext cx="4232948" cy="726029"/>
          </a:xfrm>
          <a:prstGeom prst="bentConnector3">
            <a:avLst>
              <a:gd name="adj1" fmla="val 84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9B9873F-3711-5769-575F-730677BC5B4B}"/>
              </a:ext>
            </a:extLst>
          </p:cNvPr>
          <p:cNvSpPr txBox="1"/>
          <p:nvPr/>
        </p:nvSpPr>
        <p:spPr>
          <a:xfrm>
            <a:off x="6104648" y="2965412"/>
            <a:ext cx="1707712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“Next”.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D877E68E-28E1-52CA-ECC1-C3CBA755F5B4}"/>
              </a:ext>
            </a:extLst>
          </p:cNvPr>
          <p:cNvCxnSpPr>
            <a:cxnSpLocks/>
          </p:cNvCxnSpPr>
          <p:nvPr/>
        </p:nvCxnSpPr>
        <p:spPr>
          <a:xfrm>
            <a:off x="2118386" y="4106796"/>
            <a:ext cx="3954728" cy="1225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095F136-AABF-E282-2FA0-920A8F36F0FB}"/>
              </a:ext>
            </a:extLst>
          </p:cNvPr>
          <p:cNvSpPr txBox="1"/>
          <p:nvPr/>
        </p:nvSpPr>
        <p:spPr>
          <a:xfrm>
            <a:off x="6073114" y="3636079"/>
            <a:ext cx="2931848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Role-Based or Feature-Base installation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2E105839-0F4A-B816-612E-534E618FCCE4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1906016" y="4423412"/>
            <a:ext cx="4106144" cy="717036"/>
          </a:xfrm>
          <a:prstGeom prst="bentConnector3">
            <a:avLst>
              <a:gd name="adj1" fmla="val 182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91C2786-708A-2188-0C57-35C8751E5439}"/>
              </a:ext>
            </a:extLst>
          </p:cNvPr>
          <p:cNvSpPr txBox="1"/>
          <p:nvPr/>
        </p:nvSpPr>
        <p:spPr>
          <a:xfrm>
            <a:off x="6012160" y="4908654"/>
            <a:ext cx="2931848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name server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48CFBA-9894-272C-9C60-7326505F3557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0646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92C5C-DB81-B75E-3FAA-E0B470DF8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F3D44-603D-45F6-F05C-73B2439E7EFB}"/>
              </a:ext>
            </a:extLst>
          </p:cNvPr>
          <p:cNvSpPr txBox="1"/>
          <p:nvPr/>
        </p:nvSpPr>
        <p:spPr>
          <a:xfrm>
            <a:off x="1475656" y="323945"/>
            <a:ext cx="4200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CREATING DNS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391B63-A672-E78A-FD3B-E11B673926A3}"/>
              </a:ext>
            </a:extLst>
          </p:cNvPr>
          <p:cNvSpPr txBox="1"/>
          <p:nvPr/>
        </p:nvSpPr>
        <p:spPr>
          <a:xfrm>
            <a:off x="362264" y="1013140"/>
            <a:ext cx="3345640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Centang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DNS Server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3554B-F4C0-1A64-171F-314BA322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642703"/>
            <a:ext cx="6256728" cy="44422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0F6202-E292-A0BC-BA30-217221437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3789040"/>
            <a:ext cx="2664296" cy="262720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5E29E1B-C783-321D-C435-841FD7D4ABE1}"/>
              </a:ext>
            </a:extLst>
          </p:cNvPr>
          <p:cNvSpPr/>
          <p:nvPr/>
        </p:nvSpPr>
        <p:spPr>
          <a:xfrm>
            <a:off x="2555776" y="4149080"/>
            <a:ext cx="720080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BCCA80-6C94-E6BF-F7CF-C720E57F59F2}"/>
              </a:ext>
            </a:extLst>
          </p:cNvPr>
          <p:cNvSpPr/>
          <p:nvPr/>
        </p:nvSpPr>
        <p:spPr>
          <a:xfrm>
            <a:off x="5423617" y="6007646"/>
            <a:ext cx="588543" cy="229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DE967B-379F-FEE1-CEAC-B8C24B3D3D0E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0111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04F3B-B766-88C2-F2FB-62A5EDD6B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7D6AF5-46EB-F555-6FF4-1C52D75D65EC}"/>
              </a:ext>
            </a:extLst>
          </p:cNvPr>
          <p:cNvSpPr txBox="1"/>
          <p:nvPr/>
        </p:nvSpPr>
        <p:spPr>
          <a:xfrm>
            <a:off x="1475656" y="323945"/>
            <a:ext cx="4200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CREATING DNS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CA8E42-64D1-DA90-FCCB-100E2BAFD706}"/>
              </a:ext>
            </a:extLst>
          </p:cNvPr>
          <p:cNvSpPr txBox="1"/>
          <p:nvPr/>
        </p:nvSpPr>
        <p:spPr>
          <a:xfrm>
            <a:off x="362263" y="1013140"/>
            <a:ext cx="5314157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Lanjutkan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tahapan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kemudian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install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5F6A6F-4F28-2E39-466E-DC347D46B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642703"/>
            <a:ext cx="5841046" cy="413164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3705D7B-4326-62F0-B169-1D9FB107DF31}"/>
              </a:ext>
            </a:extLst>
          </p:cNvPr>
          <p:cNvSpPr/>
          <p:nvPr/>
        </p:nvSpPr>
        <p:spPr>
          <a:xfrm>
            <a:off x="5148064" y="5445224"/>
            <a:ext cx="720079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4DD7B4-675D-7A21-317A-A31D9056B667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65426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ED5ED-F409-88C8-FC62-C3A44DE3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94A8CC-2793-A01B-426A-BDB7CB748B0B}"/>
              </a:ext>
            </a:extLst>
          </p:cNvPr>
          <p:cNvSpPr txBox="1"/>
          <p:nvPr/>
        </p:nvSpPr>
        <p:spPr>
          <a:xfrm>
            <a:off x="1475656" y="323945"/>
            <a:ext cx="4200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CREATING DNS SERVER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C34CFF-2554-E679-EDD1-80482482067B}"/>
              </a:ext>
            </a:extLst>
          </p:cNvPr>
          <p:cNvSpPr txBox="1"/>
          <p:nvPr/>
        </p:nvSpPr>
        <p:spPr>
          <a:xfrm>
            <a:off x="362263" y="1013140"/>
            <a:ext cx="5314157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Buka Server Manager,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DNS Manager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DA13A4-235F-BA96-B371-401883E63E6D}"/>
              </a:ext>
            </a:extLst>
          </p:cNvPr>
          <p:cNvGrpSpPr/>
          <p:nvPr/>
        </p:nvGrpSpPr>
        <p:grpSpPr>
          <a:xfrm>
            <a:off x="755576" y="1513136"/>
            <a:ext cx="4104456" cy="3067992"/>
            <a:chOff x="755576" y="1513136"/>
            <a:chExt cx="5940152" cy="433172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9D13AAE-0D8C-DB4B-533D-A1A20BA30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5576" y="1513136"/>
              <a:ext cx="5940152" cy="433172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E789DD-69C3-B5AA-83D2-D8D87CAC9E00}"/>
                </a:ext>
              </a:extLst>
            </p:cNvPr>
            <p:cNvSpPr/>
            <p:nvPr/>
          </p:nvSpPr>
          <p:spPr>
            <a:xfrm>
              <a:off x="2699792" y="3717032"/>
              <a:ext cx="576064" cy="1801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B432E41-1AC9-91D7-0722-977D451C7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2852936"/>
            <a:ext cx="4602448" cy="320794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60E8BD9-3A9B-400B-767E-7BF333C883E8}"/>
              </a:ext>
            </a:extLst>
          </p:cNvPr>
          <p:cNvSpPr/>
          <p:nvPr/>
        </p:nvSpPr>
        <p:spPr>
          <a:xfrm>
            <a:off x="3059832" y="3573016"/>
            <a:ext cx="1080119" cy="2429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7131F6-1DBE-4FF6-1742-FB885ED93A97}"/>
              </a:ext>
            </a:extLst>
          </p:cNvPr>
          <p:cNvSpPr txBox="1"/>
          <p:nvPr/>
        </p:nvSpPr>
        <p:spPr>
          <a:xfrm>
            <a:off x="5436096" y="1829054"/>
            <a:ext cx="2931848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Klik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Kanan untuk </a:t>
            </a:r>
            <a:r>
              <a:rPr 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membuat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zone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BF43DA5-A825-CE67-96F8-4C9DEA27637D}"/>
              </a:ext>
            </a:extLst>
          </p:cNvPr>
          <p:cNvCxnSpPr>
            <a:cxnSpLocks/>
          </p:cNvCxnSpPr>
          <p:nvPr/>
        </p:nvCxnSpPr>
        <p:spPr>
          <a:xfrm flipV="1">
            <a:off x="3635896" y="2060848"/>
            <a:ext cx="1656184" cy="1512168"/>
          </a:xfrm>
          <a:prstGeom prst="bentConnector3">
            <a:avLst>
              <a:gd name="adj1" fmla="val -233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C5ECE06-4A3F-06E7-A631-A835E4067487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72663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94A3A-7AC7-7124-8633-946A24D8D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5262A0-9186-2E6E-6BEC-26D1588848C7}"/>
              </a:ext>
            </a:extLst>
          </p:cNvPr>
          <p:cNvSpPr txBox="1"/>
          <p:nvPr/>
        </p:nvSpPr>
        <p:spPr>
          <a:xfrm>
            <a:off x="1475656" y="323945"/>
            <a:ext cx="4660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FORWARD LOOKUP ZONE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C30405-55DD-AD22-C3F2-BC142E5DBA3B}"/>
              </a:ext>
            </a:extLst>
          </p:cNvPr>
          <p:cNvSpPr txBox="1"/>
          <p:nvPr/>
        </p:nvSpPr>
        <p:spPr>
          <a:xfrm>
            <a:off x="362263" y="1013140"/>
            <a:ext cx="5314157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Klik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Kanan,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kemudian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New Zone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C5C8A9-2547-C53C-14E1-C9FEFEE4B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16" y="1642702"/>
            <a:ext cx="5145553" cy="35864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F7ECB9-C4D5-42C3-3D4D-845FB8FE9EBB}"/>
              </a:ext>
            </a:extLst>
          </p:cNvPr>
          <p:cNvSpPr/>
          <p:nvPr/>
        </p:nvSpPr>
        <p:spPr>
          <a:xfrm>
            <a:off x="971601" y="2420888"/>
            <a:ext cx="1152128" cy="1709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80CFC0B-BFAE-C997-306E-5CF8E1966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99" y="3003181"/>
            <a:ext cx="3027708" cy="23600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E4CD51-DB76-C178-8DBB-411D2B2E5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995" y="3485265"/>
            <a:ext cx="3023500" cy="236009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524D677-DD7E-940C-9E84-FC31552CB4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403" y="4049153"/>
            <a:ext cx="3065129" cy="236009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D59EB4A-B866-F7EC-1A46-F651D4984948}"/>
              </a:ext>
            </a:extLst>
          </p:cNvPr>
          <p:cNvSpPr/>
          <p:nvPr/>
        </p:nvSpPr>
        <p:spPr>
          <a:xfrm>
            <a:off x="2313012" y="5085184"/>
            <a:ext cx="437983" cy="1709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6C082B-44E1-91F3-88EE-10D816F74308}"/>
              </a:ext>
            </a:extLst>
          </p:cNvPr>
          <p:cNvSpPr/>
          <p:nvPr/>
        </p:nvSpPr>
        <p:spPr>
          <a:xfrm>
            <a:off x="2987824" y="4168704"/>
            <a:ext cx="591109" cy="19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75ECA-6963-F30D-8931-3127A6AB1EBD}"/>
              </a:ext>
            </a:extLst>
          </p:cNvPr>
          <p:cNvSpPr/>
          <p:nvPr/>
        </p:nvSpPr>
        <p:spPr>
          <a:xfrm>
            <a:off x="4716016" y="5589240"/>
            <a:ext cx="464566" cy="1709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238E47-7DCC-9C2B-2E68-4247FEEFD2D2}"/>
              </a:ext>
            </a:extLst>
          </p:cNvPr>
          <p:cNvSpPr/>
          <p:nvPr/>
        </p:nvSpPr>
        <p:spPr>
          <a:xfrm>
            <a:off x="7308304" y="6165304"/>
            <a:ext cx="464566" cy="1709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BD44F3-3786-935F-5D29-9C5B11FAE48A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2869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A5A3E-8AAE-9904-F9F1-905423E39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40BEBE-D934-D883-C1BE-ADD913719B84}"/>
              </a:ext>
            </a:extLst>
          </p:cNvPr>
          <p:cNvSpPr txBox="1"/>
          <p:nvPr/>
        </p:nvSpPr>
        <p:spPr>
          <a:xfrm>
            <a:off x="1475656" y="323945"/>
            <a:ext cx="4660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FORWARD LOOKUP ZONE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3CC10-1D46-0399-A4FC-3ADD55FB9F1F}"/>
              </a:ext>
            </a:extLst>
          </p:cNvPr>
          <p:cNvSpPr txBox="1"/>
          <p:nvPr/>
        </p:nvSpPr>
        <p:spPr>
          <a:xfrm>
            <a:off x="362263" y="1013140"/>
            <a:ext cx="5314157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Klik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Kanan,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kemudian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New Host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BF7482-70F2-0441-13D5-F01FC3968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664199"/>
            <a:ext cx="5568723" cy="3853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AC6D12-B878-A74D-E246-FA0E5349C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522" y="3140968"/>
            <a:ext cx="2881796" cy="29058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0378C64-40EC-6040-5745-D1E17CA0138D}"/>
              </a:ext>
            </a:extLst>
          </p:cNvPr>
          <p:cNvSpPr/>
          <p:nvPr/>
        </p:nvSpPr>
        <p:spPr>
          <a:xfrm>
            <a:off x="2420946" y="3042768"/>
            <a:ext cx="1070934" cy="19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FD330-26F9-C948-E108-E32A1708C690}"/>
              </a:ext>
            </a:extLst>
          </p:cNvPr>
          <p:cNvSpPr/>
          <p:nvPr/>
        </p:nvSpPr>
        <p:spPr>
          <a:xfrm>
            <a:off x="4355976" y="3467624"/>
            <a:ext cx="1070934" cy="3678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5B1F0-CFB2-3B0A-C6BE-615E4A2E201F}"/>
              </a:ext>
            </a:extLst>
          </p:cNvPr>
          <p:cNvSpPr/>
          <p:nvPr/>
        </p:nvSpPr>
        <p:spPr>
          <a:xfrm>
            <a:off x="4355976" y="4285270"/>
            <a:ext cx="1070934" cy="3678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9C8A15-1C07-8D4E-A7AC-87800909F14C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92868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A405A-4815-0CD1-1D75-B01F9E8A1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E9F7CD-8B60-5D48-D3E3-28DBB9A4F5F5}"/>
              </a:ext>
            </a:extLst>
          </p:cNvPr>
          <p:cNvSpPr txBox="1"/>
          <p:nvPr/>
        </p:nvSpPr>
        <p:spPr>
          <a:xfrm>
            <a:off x="1475656" y="323945"/>
            <a:ext cx="4660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FORWARD LOOKUP ZONE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6627D5-4EC6-9E37-0EAB-CF38BD5A227C}"/>
              </a:ext>
            </a:extLst>
          </p:cNvPr>
          <p:cNvSpPr txBox="1"/>
          <p:nvPr/>
        </p:nvSpPr>
        <p:spPr>
          <a:xfrm>
            <a:off x="362263" y="1013140"/>
            <a:ext cx="7234073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Buka browser pada client,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kemudian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cari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domain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7E9BAB-1FA4-F48A-5701-A6BC653DF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642704"/>
            <a:ext cx="5976664" cy="351973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A343B23-4D38-8FCF-E773-CC3F3306B414}"/>
              </a:ext>
            </a:extLst>
          </p:cNvPr>
          <p:cNvSpPr/>
          <p:nvPr/>
        </p:nvSpPr>
        <p:spPr>
          <a:xfrm>
            <a:off x="1403648" y="1844824"/>
            <a:ext cx="3960440" cy="295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60E9D3-25F0-046F-DADA-859103C53ECC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96243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A3916-4544-790B-BEB8-FB8A9FEAD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3979EA-C661-65DA-863F-C47A4B8B6014}"/>
              </a:ext>
            </a:extLst>
          </p:cNvPr>
          <p:cNvSpPr txBox="1"/>
          <p:nvPr/>
        </p:nvSpPr>
        <p:spPr>
          <a:xfrm>
            <a:off x="1475656" y="323945"/>
            <a:ext cx="43626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REVERSE LOOKUP ZONE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8C398-2712-354F-751C-2AF0DF979AEC}"/>
              </a:ext>
            </a:extLst>
          </p:cNvPr>
          <p:cNvSpPr txBox="1"/>
          <p:nvPr/>
        </p:nvSpPr>
        <p:spPr>
          <a:xfrm>
            <a:off x="362263" y="1013140"/>
            <a:ext cx="5314157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Klik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Kanan,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kemudian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New Zone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604F21-E294-A641-AF40-0AEC6A8E9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16" y="1642702"/>
            <a:ext cx="5145553" cy="35864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72CB25-7EC7-E3CF-889E-0FCDC943B89F}"/>
              </a:ext>
            </a:extLst>
          </p:cNvPr>
          <p:cNvSpPr/>
          <p:nvPr/>
        </p:nvSpPr>
        <p:spPr>
          <a:xfrm>
            <a:off x="971600" y="2557689"/>
            <a:ext cx="1152128" cy="1709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A52964E-E963-0602-39E1-B519F41DA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99" y="3003181"/>
            <a:ext cx="3027708" cy="23600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F353C89-7E82-D3E5-01C7-796398178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995" y="3485265"/>
            <a:ext cx="3023500" cy="236009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113D9A1-B2F9-14DF-16A0-659AED376633}"/>
              </a:ext>
            </a:extLst>
          </p:cNvPr>
          <p:cNvSpPr/>
          <p:nvPr/>
        </p:nvSpPr>
        <p:spPr>
          <a:xfrm>
            <a:off x="2313012" y="5085184"/>
            <a:ext cx="437983" cy="1709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F505C9-ABE7-C735-7577-5E5DD49428E5}"/>
              </a:ext>
            </a:extLst>
          </p:cNvPr>
          <p:cNvSpPr/>
          <p:nvPr/>
        </p:nvSpPr>
        <p:spPr>
          <a:xfrm>
            <a:off x="2987824" y="4168704"/>
            <a:ext cx="591109" cy="19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FE9D5E-12E9-80D4-55A2-B895E4E9684D}"/>
              </a:ext>
            </a:extLst>
          </p:cNvPr>
          <p:cNvSpPr/>
          <p:nvPr/>
        </p:nvSpPr>
        <p:spPr>
          <a:xfrm>
            <a:off x="4716016" y="5589240"/>
            <a:ext cx="464566" cy="1709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24348F-41CC-8A43-9664-1A3B5100C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720" y="4058316"/>
            <a:ext cx="3085164" cy="239553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8ED2603-A74F-A55E-6C80-03DB7987C1E0}"/>
              </a:ext>
            </a:extLst>
          </p:cNvPr>
          <p:cNvSpPr/>
          <p:nvPr/>
        </p:nvSpPr>
        <p:spPr>
          <a:xfrm>
            <a:off x="7380312" y="6237312"/>
            <a:ext cx="464566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0E8E47-6DD3-3851-8C7E-5B943CDBF5A0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03459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AC8B6-CE84-CD35-DF2B-78AF40484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F0C085-0B77-0772-2D7B-CBE37849B2BF}"/>
              </a:ext>
            </a:extLst>
          </p:cNvPr>
          <p:cNvSpPr txBox="1"/>
          <p:nvPr/>
        </p:nvSpPr>
        <p:spPr>
          <a:xfrm>
            <a:off x="1475656" y="323945"/>
            <a:ext cx="43626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REVERSE LOOKUP ZONE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F78BF-4200-C90B-49F3-F36D9A26550C}"/>
              </a:ext>
            </a:extLst>
          </p:cNvPr>
          <p:cNvSpPr txBox="1"/>
          <p:nvPr/>
        </p:nvSpPr>
        <p:spPr>
          <a:xfrm>
            <a:off x="362263" y="1013140"/>
            <a:ext cx="5314157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Masukkan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Netowrk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ID,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kemudian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create file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03F19E-57FE-6F64-D235-1B4E1F1BA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9" y="1497689"/>
            <a:ext cx="3312368" cy="25748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0D2E290-F15E-7C72-BDBE-36CEEA745AC2}"/>
              </a:ext>
            </a:extLst>
          </p:cNvPr>
          <p:cNvSpPr/>
          <p:nvPr/>
        </p:nvSpPr>
        <p:spPr>
          <a:xfrm>
            <a:off x="971600" y="2204865"/>
            <a:ext cx="1152128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71933D-981F-1246-596A-43C16FB64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728" y="2384885"/>
            <a:ext cx="3334854" cy="257484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7B88E70-5657-D597-6F35-6E33AB913355}"/>
              </a:ext>
            </a:extLst>
          </p:cNvPr>
          <p:cNvSpPr/>
          <p:nvPr/>
        </p:nvSpPr>
        <p:spPr>
          <a:xfrm>
            <a:off x="2504830" y="3248980"/>
            <a:ext cx="2211186" cy="3960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41FB64-A24F-FA88-2217-5E3BD9D7C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092" y="3199730"/>
            <a:ext cx="3450910" cy="2668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9A1DEA8-15F4-B6A4-2EA6-6B4D6A18B57D}"/>
              </a:ext>
            </a:extLst>
          </p:cNvPr>
          <p:cNvSpPr/>
          <p:nvPr/>
        </p:nvSpPr>
        <p:spPr>
          <a:xfrm>
            <a:off x="7092281" y="5644821"/>
            <a:ext cx="504056" cy="160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4E9DCE-427C-DB31-2C7C-FFD2747E8A76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18148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E861B-82DB-84F6-7A68-AED2FC4E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BAB84A-3202-92B1-9AA0-E2BE0836DD17}"/>
              </a:ext>
            </a:extLst>
          </p:cNvPr>
          <p:cNvSpPr txBox="1"/>
          <p:nvPr/>
        </p:nvSpPr>
        <p:spPr>
          <a:xfrm>
            <a:off x="1475656" y="323945"/>
            <a:ext cx="43626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REVERSE LOOKUP ZONE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C8413-2241-0829-42EC-C0FF00CA9C23}"/>
              </a:ext>
            </a:extLst>
          </p:cNvPr>
          <p:cNvSpPr txBox="1"/>
          <p:nvPr/>
        </p:nvSpPr>
        <p:spPr>
          <a:xfrm>
            <a:off x="362263" y="1013140"/>
            <a:ext cx="6369977" cy="4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Buka command prompt,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kemudian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lookup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ipnya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8E749-2CF6-91D0-CDA3-C1201D556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595078"/>
            <a:ext cx="3600400" cy="16861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E8A880D-B77E-EC62-F3C4-62E67F6A136A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01037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053C9-AA1F-B511-5C79-E6A5BE610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533D2A-3B28-EE2C-4B4D-6DE0B3A540DC}"/>
              </a:ext>
            </a:extLst>
          </p:cNvPr>
          <p:cNvSpPr txBox="1"/>
          <p:nvPr/>
        </p:nvSpPr>
        <p:spPr>
          <a:xfrm>
            <a:off x="1475656" y="323945"/>
            <a:ext cx="20511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LATIHAN 1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B51D42-DE8B-D200-8195-16A77064BF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22192" r="20833" b="20557"/>
          <a:stretch/>
        </p:blipFill>
        <p:spPr>
          <a:xfrm>
            <a:off x="2620817" y="2154390"/>
            <a:ext cx="1524000" cy="75126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E816A67-332A-FCBF-FF2A-8E50397EE23B}"/>
              </a:ext>
            </a:extLst>
          </p:cNvPr>
          <p:cNvSpPr/>
          <p:nvPr/>
        </p:nvSpPr>
        <p:spPr>
          <a:xfrm>
            <a:off x="3867257" y="2645818"/>
            <a:ext cx="245662" cy="245662"/>
          </a:xfrm>
          <a:prstGeom prst="ellipse">
            <a:avLst/>
          </a:prstGeom>
          <a:solidFill>
            <a:schemeClr val="tx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99D20F-A0EE-80B9-9BB4-6547B57290AB}"/>
              </a:ext>
            </a:extLst>
          </p:cNvPr>
          <p:cNvGrpSpPr/>
          <p:nvPr/>
        </p:nvGrpSpPr>
        <p:grpSpPr>
          <a:xfrm>
            <a:off x="132338" y="795177"/>
            <a:ext cx="879964" cy="1006311"/>
            <a:chOff x="536058" y="1206562"/>
            <a:chExt cx="1066800" cy="121997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3E09F4E-3631-0A46-E849-7E5CBA0D4B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42" t="12414" r="21739" b="15322"/>
            <a:stretch/>
          </p:blipFill>
          <p:spPr>
            <a:xfrm>
              <a:off x="605066" y="1752600"/>
              <a:ext cx="928785" cy="673936"/>
            </a:xfrm>
            <a:prstGeom prst="rect">
              <a:avLst/>
            </a:prstGeom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8FC9FE3B-94EB-1F7B-2FCB-A07A3B03A9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058" y="1206562"/>
              <a:ext cx="1066800" cy="950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7EC4E891-EBBC-0AB4-D2C1-D8014896E14E}"/>
              </a:ext>
            </a:extLst>
          </p:cNvPr>
          <p:cNvSpPr/>
          <p:nvPr/>
        </p:nvSpPr>
        <p:spPr>
          <a:xfrm>
            <a:off x="3072065" y="2637470"/>
            <a:ext cx="245662" cy="24566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73">
            <a:extLst>
              <a:ext uri="{FF2B5EF4-FFF2-40B4-BE49-F238E27FC236}">
                <a16:creationId xmlns:a16="http://schemas.microsoft.com/office/drawing/2014/main" id="{874D0E90-6F51-932C-AEC4-FA3A3482B014}"/>
              </a:ext>
            </a:extLst>
          </p:cNvPr>
          <p:cNvCxnSpPr>
            <a:stCxn id="18" idx="2"/>
            <a:endCxn id="16" idx="2"/>
          </p:cNvCxnSpPr>
          <p:nvPr/>
        </p:nvCxnSpPr>
        <p:spPr>
          <a:xfrm rot="10800000">
            <a:off x="572321" y="1801489"/>
            <a:ext cx="2499744" cy="958813"/>
          </a:xfrm>
          <a:prstGeom prst="bentConnector2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4E8BDE3-7748-E1BF-4D31-CAFD66A42EFC}"/>
              </a:ext>
            </a:extLst>
          </p:cNvPr>
          <p:cNvSpPr/>
          <p:nvPr/>
        </p:nvSpPr>
        <p:spPr>
          <a:xfrm>
            <a:off x="1148619" y="793831"/>
            <a:ext cx="2169857" cy="341313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796925" algn="l"/>
              </a:tabLst>
            </a:pPr>
            <a:r>
              <a:rPr lang="en-US" sz="1600" b="1" dirty="0">
                <a:solidFill>
                  <a:schemeClr val="tx1"/>
                </a:solidFill>
              </a:rPr>
              <a:t>Modem</a:t>
            </a:r>
            <a:r>
              <a:rPr lang="en-US" sz="1600" dirty="0">
                <a:solidFill>
                  <a:schemeClr val="tx1"/>
                </a:solidFill>
              </a:rPr>
              <a:t> 	: 10.12.0.1/16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B2F109-50B0-BF21-5FA8-58D2ABF9DFE7}"/>
              </a:ext>
            </a:extLst>
          </p:cNvPr>
          <p:cNvSpPr/>
          <p:nvPr/>
        </p:nvSpPr>
        <p:spPr>
          <a:xfrm>
            <a:off x="1148618" y="1207479"/>
            <a:ext cx="2169857" cy="341313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</a:rPr>
              <a:t>MikroTik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US" sz="1600" b="1" dirty="0">
                <a:solidFill>
                  <a:schemeClr val="tx1"/>
                </a:solidFill>
              </a:rPr>
              <a:t>DHCP Client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6D70DB-D18D-EF12-023F-F4A277CB2C42}"/>
              </a:ext>
            </a:extLst>
          </p:cNvPr>
          <p:cNvSpPr/>
          <p:nvPr/>
        </p:nvSpPr>
        <p:spPr>
          <a:xfrm>
            <a:off x="3099004" y="2012176"/>
            <a:ext cx="592001" cy="4464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R1</a:t>
            </a:r>
            <a:endParaRPr lang="en-US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8DEB27-E591-1CA2-1F71-5A4F832EB0A6}"/>
              </a:ext>
            </a:extLst>
          </p:cNvPr>
          <p:cNvSpPr txBox="1"/>
          <p:nvPr/>
        </p:nvSpPr>
        <p:spPr>
          <a:xfrm>
            <a:off x="2076828" y="2485783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F4BCE9-E46E-B3BA-3539-4EBDB65265CD}"/>
              </a:ext>
            </a:extLst>
          </p:cNvPr>
          <p:cNvSpPr txBox="1"/>
          <p:nvPr/>
        </p:nvSpPr>
        <p:spPr>
          <a:xfrm>
            <a:off x="5801387" y="2108463"/>
            <a:ext cx="1335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Eth4 : </a:t>
            </a:r>
          </a:p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10.10.10.1/30</a:t>
            </a:r>
          </a:p>
        </p:txBody>
      </p:sp>
      <p:pic>
        <p:nvPicPr>
          <p:cNvPr id="52" name="Picture 6">
            <a:extLst>
              <a:ext uri="{FF2B5EF4-FFF2-40B4-BE49-F238E27FC236}">
                <a16:creationId xmlns:a16="http://schemas.microsoft.com/office/drawing/2014/main" id="{F841DA32-8B8F-0A03-2911-3A1EDA971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959" y="1845700"/>
            <a:ext cx="1101210" cy="1600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Elbow Connector 51">
            <a:extLst>
              <a:ext uri="{FF2B5EF4-FFF2-40B4-BE49-F238E27FC236}">
                <a16:creationId xmlns:a16="http://schemas.microsoft.com/office/drawing/2014/main" id="{B9C391A1-C072-0F07-F9B7-ACB0D6A28E82}"/>
              </a:ext>
            </a:extLst>
          </p:cNvPr>
          <p:cNvCxnSpPr>
            <a:cxnSpLocks/>
            <a:stCxn id="7" idx="3"/>
            <a:endCxn id="52" idx="1"/>
          </p:cNvCxnSpPr>
          <p:nvPr/>
        </p:nvCxnSpPr>
        <p:spPr>
          <a:xfrm>
            <a:off x="4144817" y="2530024"/>
            <a:ext cx="3139142" cy="11579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6F0F6F5-2F7B-4435-19B4-847C10D20E8D}"/>
              </a:ext>
            </a:extLst>
          </p:cNvPr>
          <p:cNvSpPr txBox="1"/>
          <p:nvPr/>
        </p:nvSpPr>
        <p:spPr>
          <a:xfrm>
            <a:off x="6554948" y="569783"/>
            <a:ext cx="2376263" cy="800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DNS Server                               </a:t>
            </a: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           : Win Server 2012</a:t>
            </a: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Network : Bridge Adapter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A6F06E0-3AE6-7E75-19CB-1600D160585F}"/>
              </a:ext>
            </a:extLst>
          </p:cNvPr>
          <p:cNvSpPr/>
          <p:nvPr/>
        </p:nvSpPr>
        <p:spPr>
          <a:xfrm>
            <a:off x="7515120" y="2586097"/>
            <a:ext cx="671226" cy="4464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VB</a:t>
            </a:r>
            <a:endParaRPr lang="en-US" b="1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04B0BAE9-49AF-573B-EA37-7CF5AA89035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001" t="21111" r="9999" b="21111"/>
          <a:stretch/>
        </p:blipFill>
        <p:spPr>
          <a:xfrm>
            <a:off x="6365928" y="4605957"/>
            <a:ext cx="1037833" cy="749546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39EA831A-BB78-45B7-1A71-F7BCE0CDE44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001" t="21111" r="9999" b="21111"/>
          <a:stretch/>
        </p:blipFill>
        <p:spPr>
          <a:xfrm>
            <a:off x="1833229" y="4605957"/>
            <a:ext cx="1037833" cy="749546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CA907F88-95E4-75D0-F341-DCD640AAC71A}"/>
              </a:ext>
            </a:extLst>
          </p:cNvPr>
          <p:cNvSpPr txBox="1"/>
          <p:nvPr/>
        </p:nvSpPr>
        <p:spPr>
          <a:xfrm>
            <a:off x="4922564" y="5473916"/>
            <a:ext cx="3658291" cy="276999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KELAS_LAIN.INFORMATICS-ASTRATECH.COM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F34B7C1-BFF7-D8E9-3675-E0691B66CA4E}"/>
              </a:ext>
            </a:extLst>
          </p:cNvPr>
          <p:cNvSpPr txBox="1"/>
          <p:nvPr/>
        </p:nvSpPr>
        <p:spPr>
          <a:xfrm>
            <a:off x="486526" y="5473917"/>
            <a:ext cx="3658291" cy="27699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KELAS_ANDA.INFORMATICS-ASTRATECH.COM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4F4B66-4086-818B-36E0-54471CF8C9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069199" y="2802243"/>
            <a:ext cx="738840" cy="6652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84566B-699B-20C5-5EF0-6A4C394ABF03}"/>
              </a:ext>
            </a:extLst>
          </p:cNvPr>
          <p:cNvSpPr txBox="1"/>
          <p:nvPr/>
        </p:nvSpPr>
        <p:spPr>
          <a:xfrm>
            <a:off x="3604039" y="643121"/>
            <a:ext cx="2637051" cy="121571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688975" algn="l"/>
                <a:tab pos="860425" algn="l"/>
              </a:tabLst>
            </a:pPr>
            <a:r>
              <a:rPr lang="en-US" sz="1700" b="1" u="sng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WLAN 1 Access Point</a:t>
            </a:r>
          </a:p>
          <a:p>
            <a:pPr>
              <a:tabLst>
                <a:tab pos="684213" algn="l"/>
                <a:tab pos="739775" algn="l"/>
              </a:tabLst>
            </a:pP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SSID	:	NAMA_ANDA</a:t>
            </a:r>
          </a:p>
          <a:p>
            <a:pPr>
              <a:tabLst>
                <a:tab pos="684213" algn="l"/>
                <a:tab pos="739775" algn="l"/>
              </a:tabLst>
            </a:pP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Pass	:	12345678</a:t>
            </a:r>
          </a:p>
          <a:p>
            <a:pPr>
              <a:tabLst>
                <a:tab pos="684213" algn="l"/>
                <a:tab pos="739775" algn="l"/>
              </a:tabLst>
            </a:pP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IP	:	10.10.100.1/24</a:t>
            </a:r>
          </a:p>
          <a:p>
            <a:pPr>
              <a:tabLst>
                <a:tab pos="684213" algn="l"/>
                <a:tab pos="739775" algn="l"/>
              </a:tabLst>
            </a:pPr>
            <a:r>
              <a:rPr lang="en-US" sz="1400" dirty="0">
                <a:solidFill>
                  <a:sysClr val="windowText" lastClr="000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DHCP	:	10.10.100.2 - 5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F200A0-44C2-4C7C-A5C7-D4CBDC8B1E9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945166">
            <a:off x="2008336" y="4186968"/>
            <a:ext cx="738840" cy="6652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DABE74-3930-BADA-5F83-491EF769BE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22998">
            <a:off x="6397149" y="4214124"/>
            <a:ext cx="738840" cy="6652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F96F98-61DB-E6F5-B7B3-3E5AD137007F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52306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87250-7DA0-9147-0928-6B4F2862F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2FCFF6-3FCC-5350-786B-B3C64B423D92}"/>
              </a:ext>
            </a:extLst>
          </p:cNvPr>
          <p:cNvSpPr txBox="1"/>
          <p:nvPr/>
        </p:nvSpPr>
        <p:spPr>
          <a:xfrm>
            <a:off x="1475656" y="323945"/>
            <a:ext cx="20511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LATIHAN 2</a:t>
            </a:r>
            <a:endParaRPr lang="id-ID" sz="2800" b="1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358B8B-C601-1633-04CD-E49A18C5A1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22192" r="20833" b="20557"/>
          <a:stretch/>
        </p:blipFill>
        <p:spPr>
          <a:xfrm>
            <a:off x="2620817" y="2154390"/>
            <a:ext cx="1524000" cy="75126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8E551E2-6FA3-74D8-A37B-9417858C8CCE}"/>
              </a:ext>
            </a:extLst>
          </p:cNvPr>
          <p:cNvSpPr/>
          <p:nvPr/>
        </p:nvSpPr>
        <p:spPr>
          <a:xfrm>
            <a:off x="3867257" y="2645818"/>
            <a:ext cx="245662" cy="245662"/>
          </a:xfrm>
          <a:prstGeom prst="ellipse">
            <a:avLst/>
          </a:prstGeom>
          <a:solidFill>
            <a:schemeClr val="tx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04DC593-C3A5-D4E6-5BA9-338AECDD569D}"/>
              </a:ext>
            </a:extLst>
          </p:cNvPr>
          <p:cNvSpPr/>
          <p:nvPr/>
        </p:nvSpPr>
        <p:spPr>
          <a:xfrm>
            <a:off x="3339740" y="2647473"/>
            <a:ext cx="245662" cy="24566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A3A7ED7-1DDA-9738-7BCB-EF35B0BBBA0C}"/>
              </a:ext>
            </a:extLst>
          </p:cNvPr>
          <p:cNvGrpSpPr/>
          <p:nvPr/>
        </p:nvGrpSpPr>
        <p:grpSpPr>
          <a:xfrm>
            <a:off x="132338" y="795177"/>
            <a:ext cx="879964" cy="1006311"/>
            <a:chOff x="536058" y="1206562"/>
            <a:chExt cx="1066800" cy="121997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F769926-7D10-9983-7D8C-CA40F99FF3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42" t="12414" r="21739" b="15322"/>
            <a:stretch/>
          </p:blipFill>
          <p:spPr>
            <a:xfrm>
              <a:off x="605066" y="1752600"/>
              <a:ext cx="928785" cy="673936"/>
            </a:xfrm>
            <a:prstGeom prst="rect">
              <a:avLst/>
            </a:prstGeom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179A096C-318E-DEFB-DBFF-D8E0FFF899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058" y="1206562"/>
              <a:ext cx="1066800" cy="950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C5B6C36F-5332-7179-22E8-FA002ADEE34E}"/>
              </a:ext>
            </a:extLst>
          </p:cNvPr>
          <p:cNvSpPr/>
          <p:nvPr/>
        </p:nvSpPr>
        <p:spPr>
          <a:xfrm>
            <a:off x="3072065" y="2637470"/>
            <a:ext cx="245662" cy="24566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73">
            <a:extLst>
              <a:ext uri="{FF2B5EF4-FFF2-40B4-BE49-F238E27FC236}">
                <a16:creationId xmlns:a16="http://schemas.microsoft.com/office/drawing/2014/main" id="{2AA37744-C878-944A-0589-EEAC2EF27D8E}"/>
              </a:ext>
            </a:extLst>
          </p:cNvPr>
          <p:cNvCxnSpPr>
            <a:stCxn id="18" idx="2"/>
            <a:endCxn id="16" idx="2"/>
          </p:cNvCxnSpPr>
          <p:nvPr/>
        </p:nvCxnSpPr>
        <p:spPr>
          <a:xfrm rot="10800000">
            <a:off x="572321" y="1801489"/>
            <a:ext cx="2499744" cy="958813"/>
          </a:xfrm>
          <a:prstGeom prst="bentConnector2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7535452-B049-30D0-B6EC-B74275321B30}"/>
              </a:ext>
            </a:extLst>
          </p:cNvPr>
          <p:cNvSpPr/>
          <p:nvPr/>
        </p:nvSpPr>
        <p:spPr>
          <a:xfrm>
            <a:off x="1148619" y="793831"/>
            <a:ext cx="2169857" cy="341313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796925" algn="l"/>
              </a:tabLst>
            </a:pPr>
            <a:r>
              <a:rPr lang="en-US" sz="1600" b="1" dirty="0">
                <a:solidFill>
                  <a:schemeClr val="tx1"/>
                </a:solidFill>
              </a:rPr>
              <a:t>Modem</a:t>
            </a:r>
            <a:r>
              <a:rPr lang="en-US" sz="1600" dirty="0">
                <a:solidFill>
                  <a:schemeClr val="tx1"/>
                </a:solidFill>
              </a:rPr>
              <a:t> 	: 10.12.0.1/16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A18190-C03E-7EA8-E91F-3E222A668A64}"/>
              </a:ext>
            </a:extLst>
          </p:cNvPr>
          <p:cNvSpPr/>
          <p:nvPr/>
        </p:nvSpPr>
        <p:spPr>
          <a:xfrm>
            <a:off x="1148618" y="1207479"/>
            <a:ext cx="2169857" cy="341313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</a:rPr>
              <a:t>MikroTik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US" sz="1600" b="1" dirty="0">
                <a:solidFill>
                  <a:schemeClr val="tx1"/>
                </a:solidFill>
              </a:rPr>
              <a:t>DHCP Client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813788-92E6-A5B8-9DC6-620B27A75583}"/>
              </a:ext>
            </a:extLst>
          </p:cNvPr>
          <p:cNvSpPr/>
          <p:nvPr/>
        </p:nvSpPr>
        <p:spPr>
          <a:xfrm>
            <a:off x="3099004" y="2012176"/>
            <a:ext cx="592001" cy="4464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R1</a:t>
            </a:r>
            <a:endParaRPr lang="en-US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D8BFF3-5C34-93DA-61A6-F6A05AA42E72}"/>
              </a:ext>
            </a:extLst>
          </p:cNvPr>
          <p:cNvSpPr txBox="1"/>
          <p:nvPr/>
        </p:nvSpPr>
        <p:spPr>
          <a:xfrm>
            <a:off x="2076828" y="2485783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51E849-DF2D-8FF7-3EBC-3A883CFC3E0A}"/>
              </a:ext>
            </a:extLst>
          </p:cNvPr>
          <p:cNvSpPr txBox="1"/>
          <p:nvPr/>
        </p:nvSpPr>
        <p:spPr>
          <a:xfrm>
            <a:off x="4282771" y="1902602"/>
            <a:ext cx="1540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Eth4 : </a:t>
            </a:r>
          </a:p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192.168.10.1/30</a:t>
            </a:r>
          </a:p>
        </p:txBody>
      </p:sp>
      <p:pic>
        <p:nvPicPr>
          <p:cNvPr id="52" name="Picture 6">
            <a:extLst>
              <a:ext uri="{FF2B5EF4-FFF2-40B4-BE49-F238E27FC236}">
                <a16:creationId xmlns:a16="http://schemas.microsoft.com/office/drawing/2014/main" id="{E567732D-7FF5-8FD0-0259-5A7F36719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052" y="1789626"/>
            <a:ext cx="1101210" cy="1600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Elbow Connector 51">
            <a:extLst>
              <a:ext uri="{FF2B5EF4-FFF2-40B4-BE49-F238E27FC236}">
                <a16:creationId xmlns:a16="http://schemas.microsoft.com/office/drawing/2014/main" id="{E594A8CD-43D4-6333-1347-C9FA94978AAD}"/>
              </a:ext>
            </a:extLst>
          </p:cNvPr>
          <p:cNvCxnSpPr>
            <a:cxnSpLocks/>
            <a:endCxn id="52" idx="1"/>
          </p:cNvCxnSpPr>
          <p:nvPr/>
        </p:nvCxnSpPr>
        <p:spPr>
          <a:xfrm flipV="1">
            <a:off x="4144817" y="2589744"/>
            <a:ext cx="2241235" cy="20381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5890BBE-9109-231C-9628-BDADDC744694}"/>
              </a:ext>
            </a:extLst>
          </p:cNvPr>
          <p:cNvSpPr txBox="1"/>
          <p:nvPr/>
        </p:nvSpPr>
        <p:spPr>
          <a:xfrm>
            <a:off x="6300192" y="571982"/>
            <a:ext cx="2376263" cy="11197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DNS Server                              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           : Win Server 2012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Network : Bridge Adapter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1363341-BFFD-E0A1-EEB4-D2FF5E5C320D}"/>
              </a:ext>
            </a:extLst>
          </p:cNvPr>
          <p:cNvSpPr/>
          <p:nvPr/>
        </p:nvSpPr>
        <p:spPr>
          <a:xfrm>
            <a:off x="6617213" y="2530023"/>
            <a:ext cx="671226" cy="4464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VB</a:t>
            </a:r>
            <a:endParaRPr lang="en-US" b="1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72B2836A-D31A-3034-C83F-605F002791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22192" r="20833" b="20557"/>
          <a:stretch/>
        </p:blipFill>
        <p:spPr>
          <a:xfrm>
            <a:off x="6300192" y="3964473"/>
            <a:ext cx="1524000" cy="751267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63AB8E12-56EA-A95C-71A0-7058D41A4E38}"/>
              </a:ext>
            </a:extLst>
          </p:cNvPr>
          <p:cNvSpPr/>
          <p:nvPr/>
        </p:nvSpPr>
        <p:spPr>
          <a:xfrm>
            <a:off x="6792851" y="3780225"/>
            <a:ext cx="592001" cy="4464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R2</a:t>
            </a:r>
            <a:endParaRPr lang="en-US" b="1" dirty="0"/>
          </a:p>
        </p:txBody>
      </p:sp>
      <p:cxnSp>
        <p:nvCxnSpPr>
          <p:cNvPr id="63" name="Elbow Connector 91">
            <a:extLst>
              <a:ext uri="{FF2B5EF4-FFF2-40B4-BE49-F238E27FC236}">
                <a16:creationId xmlns:a16="http://schemas.microsoft.com/office/drawing/2014/main" id="{5B3AE0F8-E18A-E5AB-5EA1-309650536173}"/>
              </a:ext>
            </a:extLst>
          </p:cNvPr>
          <p:cNvCxnSpPr>
            <a:cxnSpLocks/>
            <a:stCxn id="68" idx="3"/>
            <a:endCxn id="66" idx="4"/>
          </p:cNvCxnSpPr>
          <p:nvPr/>
        </p:nvCxnSpPr>
        <p:spPr>
          <a:xfrm flipV="1">
            <a:off x="6748015" y="4707380"/>
            <a:ext cx="370904" cy="961831"/>
          </a:xfrm>
          <a:prstGeom prst="bentConnector2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DDC9F061-1783-B4C8-A8E6-E7FAA1624BD1}"/>
              </a:ext>
            </a:extLst>
          </p:cNvPr>
          <p:cNvSpPr/>
          <p:nvPr/>
        </p:nvSpPr>
        <p:spPr>
          <a:xfrm>
            <a:off x="6996088" y="4461718"/>
            <a:ext cx="245662" cy="24566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B1562D60-A038-E173-3A11-B63F57893E0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001" t="21111" r="9999" b="21111"/>
          <a:stretch/>
        </p:blipFill>
        <p:spPr>
          <a:xfrm>
            <a:off x="5710182" y="5294438"/>
            <a:ext cx="1037833" cy="749546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892E53FA-E502-0B1F-3B06-5EE167BF1F7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001" t="21111" r="9999" b="21111"/>
          <a:stretch/>
        </p:blipFill>
        <p:spPr>
          <a:xfrm>
            <a:off x="1098668" y="5294438"/>
            <a:ext cx="1037833" cy="749546"/>
          </a:xfrm>
          <a:prstGeom prst="rect">
            <a:avLst/>
          </a:prstGeom>
        </p:spPr>
      </p:pic>
      <p:cxnSp>
        <p:nvCxnSpPr>
          <p:cNvPr id="71" name="Elbow Connector 63">
            <a:extLst>
              <a:ext uri="{FF2B5EF4-FFF2-40B4-BE49-F238E27FC236}">
                <a16:creationId xmlns:a16="http://schemas.microsoft.com/office/drawing/2014/main" id="{FAC44043-E76E-45A9-562D-D7B4171C584E}"/>
              </a:ext>
            </a:extLst>
          </p:cNvPr>
          <p:cNvCxnSpPr>
            <a:cxnSpLocks/>
            <a:stCxn id="14" idx="4"/>
            <a:endCxn id="70" idx="0"/>
          </p:cNvCxnSpPr>
          <p:nvPr/>
        </p:nvCxnSpPr>
        <p:spPr>
          <a:xfrm rot="5400000">
            <a:off x="1339427" y="3171293"/>
            <a:ext cx="2401303" cy="1844986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1269C331-A2D6-05E6-8635-A16EA1C6145C}"/>
              </a:ext>
            </a:extLst>
          </p:cNvPr>
          <p:cNvSpPr txBox="1"/>
          <p:nvPr/>
        </p:nvSpPr>
        <p:spPr>
          <a:xfrm>
            <a:off x="3793606" y="3038525"/>
            <a:ext cx="1540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Eth3 : </a:t>
            </a:r>
          </a:p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192.168.70.1/30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E394D8F-C71B-9C07-1AA8-50F297CF66F2}"/>
              </a:ext>
            </a:extLst>
          </p:cNvPr>
          <p:cNvSpPr txBox="1"/>
          <p:nvPr/>
        </p:nvSpPr>
        <p:spPr>
          <a:xfrm>
            <a:off x="4963231" y="3741847"/>
            <a:ext cx="1540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Eth1 : </a:t>
            </a:r>
          </a:p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192.168.70.2/30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F071988-02FE-5E37-B3FC-7F60F58CA4AF}"/>
              </a:ext>
            </a:extLst>
          </p:cNvPr>
          <p:cNvSpPr txBox="1"/>
          <p:nvPr/>
        </p:nvSpPr>
        <p:spPr>
          <a:xfrm>
            <a:off x="1798934" y="3104291"/>
            <a:ext cx="1540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Eth2 : </a:t>
            </a:r>
          </a:p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192.168.20.1/24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24CA81D-C7C6-FE72-D764-EDA0ED271659}"/>
              </a:ext>
            </a:extLst>
          </p:cNvPr>
          <p:cNvSpPr txBox="1"/>
          <p:nvPr/>
        </p:nvSpPr>
        <p:spPr>
          <a:xfrm>
            <a:off x="7161446" y="5231834"/>
            <a:ext cx="1540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Eth2 : </a:t>
            </a:r>
          </a:p>
          <a:p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192.168.30.1/24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8FDE5D3-C1E9-23F7-E7F2-2A51B8D2E890}"/>
              </a:ext>
            </a:extLst>
          </p:cNvPr>
          <p:cNvSpPr/>
          <p:nvPr/>
        </p:nvSpPr>
        <p:spPr>
          <a:xfrm>
            <a:off x="6786746" y="4470081"/>
            <a:ext cx="245662" cy="2456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Elbow Connector 90">
            <a:extLst>
              <a:ext uri="{FF2B5EF4-FFF2-40B4-BE49-F238E27FC236}">
                <a16:creationId xmlns:a16="http://schemas.microsoft.com/office/drawing/2014/main" id="{C0DFAD34-0277-7429-DF73-9819877CD15B}"/>
              </a:ext>
            </a:extLst>
          </p:cNvPr>
          <p:cNvCxnSpPr>
            <a:cxnSpLocks/>
            <a:stCxn id="96" idx="4"/>
          </p:cNvCxnSpPr>
          <p:nvPr/>
        </p:nvCxnSpPr>
        <p:spPr>
          <a:xfrm rot="16200000" flipH="1">
            <a:off x="4406109" y="2228831"/>
            <a:ext cx="1709180" cy="3052090"/>
          </a:xfrm>
          <a:prstGeom prst="bentConnector2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49DF338-97A0-B552-5028-F09D17AF53E0}"/>
              </a:ext>
            </a:extLst>
          </p:cNvPr>
          <p:cNvSpPr txBox="1"/>
          <p:nvPr/>
        </p:nvSpPr>
        <p:spPr>
          <a:xfrm>
            <a:off x="2332813" y="5669211"/>
            <a:ext cx="3194386" cy="276999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192.168.30.254 – TRPL.ASTRATECH.COM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E94E0BC-9D8A-C6CF-5D3C-443A5BA3EDAC}"/>
              </a:ext>
            </a:extLst>
          </p:cNvPr>
          <p:cNvSpPr txBox="1"/>
          <p:nvPr/>
        </p:nvSpPr>
        <p:spPr>
          <a:xfrm>
            <a:off x="2322858" y="5312789"/>
            <a:ext cx="3194386" cy="27699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192.168.20.254 – UIN.ASTRATECH.COM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D95A76F5-8C2C-1F9B-EB7C-482228C2AC49}"/>
              </a:ext>
            </a:extLst>
          </p:cNvPr>
          <p:cNvSpPr/>
          <p:nvPr/>
        </p:nvSpPr>
        <p:spPr>
          <a:xfrm>
            <a:off x="3611823" y="2654624"/>
            <a:ext cx="245662" cy="2456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7B1FD0E-F66C-1844-7C0E-1F90068FDB62}"/>
              </a:ext>
            </a:extLst>
          </p:cNvPr>
          <p:cNvSpPr/>
          <p:nvPr/>
        </p:nvSpPr>
        <p:spPr>
          <a:xfrm>
            <a:off x="3017013" y="4239904"/>
            <a:ext cx="1864227" cy="6009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Static Routing</a:t>
            </a:r>
            <a:endParaRPr lang="en-US" sz="1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E8E310-6914-F990-A7A5-7EE63F6B01F5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814379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2701" y="1980105"/>
            <a:ext cx="50481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5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TERIMA KASIH</a:t>
            </a:r>
            <a:endParaRPr lang="id-ID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7291395" y="4788417"/>
            <a:ext cx="252749" cy="21602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Oval 3"/>
          <p:cNvSpPr/>
          <p:nvPr/>
        </p:nvSpPr>
        <p:spPr>
          <a:xfrm>
            <a:off x="7651436" y="4788417"/>
            <a:ext cx="252749" cy="2160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Oval 4"/>
          <p:cNvSpPr/>
          <p:nvPr/>
        </p:nvSpPr>
        <p:spPr>
          <a:xfrm>
            <a:off x="8011476" y="4788417"/>
            <a:ext cx="252749" cy="21602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TextBox 5"/>
          <p:cNvSpPr txBox="1"/>
          <p:nvPr/>
        </p:nvSpPr>
        <p:spPr>
          <a:xfrm>
            <a:off x="5148064" y="5157192"/>
            <a:ext cx="325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>
                <a:latin typeface="Aquarion" panose="020E0502030303020204" pitchFamily="34" charset="0"/>
              </a:rPr>
              <a:t>Organized By : </a:t>
            </a:r>
            <a:r>
              <a:rPr lang="en-US" b="1" dirty="0" err="1">
                <a:latin typeface="Aquarion" panose="020E0502030303020204" pitchFamily="34" charset="0"/>
              </a:rPr>
              <a:t>Politeknik</a:t>
            </a:r>
            <a:r>
              <a:rPr lang="en-US" b="1" dirty="0">
                <a:latin typeface="Aquarion" panose="020E0502030303020204" pitchFamily="34" charset="0"/>
              </a:rPr>
              <a:t> Astra</a:t>
            </a:r>
            <a:endParaRPr lang="id-ID" b="1" dirty="0">
              <a:latin typeface="Aquarion" panose="020E05020303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F2775-FE3F-37D8-9007-06541CCD9523}"/>
              </a:ext>
            </a:extLst>
          </p:cNvPr>
          <p:cNvSpPr/>
          <p:nvPr/>
        </p:nvSpPr>
        <p:spPr>
          <a:xfrm>
            <a:off x="0" y="6453336"/>
            <a:ext cx="9143999" cy="4046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0138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3866</TotalTime>
  <Words>1208</Words>
  <Application>Microsoft Office PowerPoint</Application>
  <PresentationFormat>On-screen Show (4:3)</PresentationFormat>
  <Paragraphs>235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Aquarion</vt:lpstr>
      <vt:lpstr>Arial</vt:lpstr>
      <vt:lpstr>Arial Narrow</vt:lpstr>
      <vt:lpstr>Calibri</vt:lpstr>
      <vt:lpstr>Open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UCI7003642</dc:creator>
  <cp:lastModifiedBy>Muhammad Hanif Abdulfattah</cp:lastModifiedBy>
  <cp:revision>710</cp:revision>
  <dcterms:created xsi:type="dcterms:W3CDTF">2016-04-19T12:34:15Z</dcterms:created>
  <dcterms:modified xsi:type="dcterms:W3CDTF">2024-12-05T08:42:11Z</dcterms:modified>
</cp:coreProperties>
</file>